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1" r:id="rId6"/>
    <p:sldId id="262" r:id="rId7"/>
    <p:sldId id="263" r:id="rId8"/>
    <p:sldId id="264" r:id="rId9"/>
    <p:sldId id="266" r:id="rId10"/>
    <p:sldId id="267" r:id="rId11"/>
    <p:sldId id="268" r:id="rId12"/>
  </p:sldIdLst>
  <p:sldSz cx="12192000" cy="6858000"/>
  <p:notesSz cx="6858000" cy="9144000"/>
  <p:defaultTextStyle>
    <a:defPPr>
      <a:defRPr lang="en-O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1"/>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about 20 seconds. Introduce the project as an investigation into reliable privacy protection for Arabic-English financial documents before cloud LLM use. Avoid claiming that the gateway pattern itself is new.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45 seconds. Replace each [Name] and [Primary strength]. Mention the team's shared engineering background, then briefly explain role ownership and the decision process. Source: user-provided team photos and university details.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45 seconds. Team-wide experience supplied by the students. These internships and projects belong to different team members. Add ownership and exact internship roles orally if the panel asks; do not imply every member worked at every company. ECPC participation is also team-provided.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40 seconds. These motivations and learning outcomes were provided by the student team. Give one concrete financial workflow example if the panel asks. Avoid treating market growth as a measured claim; describe it as the team's motivation.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45 seconds. Read the research question once, then define the boundaries. Emphasize that reversible pseudonymization is prior art. Source: Finaira GP Interview Brief Answers, section 2; Finaira alternative-tools research, recommended approach and risks.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50 seconds. Use one example: a long number can be an Egyptian national ID, an account reference, or a transaction figure depending on context. State that high span F1 alone does not prove privacy. Source: supplied HTML preparation app, failure modes; Finaira GP Interview Brief Answers, sections 2 to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70 seconds. Walk through the pipeline from local extraction to authorized restoration. Clarify responsibilities: rules validate structured identifiers; NER proposes entities; the local SLM helps on contextual uncertainty; deterministic policy and validation remain the safety authority. Source: Finaira GP Interview Brief Answers, section 2; alternative-tools research, recommended approach.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50 seconds. This is an offline benchmark, separate from the runtime document flow. Start with realistic synthetic examples and human-verified labels. If Finaira can share safe document structures or edge cases, use them to improve realism. Compare rules, NER, and the hybrid system on a fixed held-out set; measure leakage, task utility, reconstruction, and latency. Sources: Finaira GP Interview Brief Answers, sections 3 and 4; Finaira Privacy Gateway Alternative Tools and Recommended Stack, offline dataset and evaluation.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45 seconds. Explain why detection quality, privacy leakage, downstream utility, and system behavior must all be measured. Keep specific metric variants provisional until the threat model and benchmark design are reviewed. Source: Finaira GP Interview Brief Answers, section 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45 seconds. Be explicit about limits. The main research risk is a benchmark that looks strong but does not resemble real documents. Source: Finaira GP Interview Brief Answers, section 4; alternative-tools research, open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45 seconds. Ask Finaira to review methodology, competing approaches, assumptions, core architecture decisions, results, and business relevance throughout the project. Explain that the team owns implementation. Propose check-ins every one to two weeks. Be transparent that lectures, coursework and other university projects constrain availability. Source: user-provided meeting notes and Finaira GP Interview Brief Answers, section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jpeg"/></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18.jpeg"/><Relationship Id="rId3" Type="http://schemas.openxmlformats.org/officeDocument/2006/relationships/image" Target="../media/image8.jpeg"/><Relationship Id="rId7" Type="http://schemas.openxmlformats.org/officeDocument/2006/relationships/image" Target="../media/image12.jpeg"/><Relationship Id="rId12"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jpeg"/><Relationship Id="rId11" Type="http://schemas.openxmlformats.org/officeDocument/2006/relationships/image" Target="../media/image16.jpeg"/><Relationship Id="rId5" Type="http://schemas.openxmlformats.org/officeDocument/2006/relationships/image" Target="../media/image10.jpeg"/><Relationship Id="rId15" Type="http://schemas.openxmlformats.org/officeDocument/2006/relationships/image" Target="../media/image20.jpeg"/><Relationship Id="rId10" Type="http://schemas.openxmlformats.org/officeDocument/2006/relationships/image" Target="../media/image15.jpeg"/><Relationship Id="rId4" Type="http://schemas.openxmlformats.org/officeDocument/2006/relationships/image" Target="../media/image9.jpeg"/><Relationship Id="rId9" Type="http://schemas.openxmlformats.org/officeDocument/2006/relationships/image" Target="../media/image14.jpeg"/><Relationship Id="rId14" Type="http://schemas.openxmlformats.org/officeDocument/2006/relationships/image" Target="../media/image19.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D924108-B4D1-4DC0-A54B-A8930F6534E2}"/>
              </a:ext>
            </a:extLst>
          </p:cNvPr>
          <p:cNvSpPr>
            <a:spLocks noGrp="1"/>
          </p:cNvSpPr>
          <p:nvPr/>
        </p:nvSpPr>
        <p:spPr>
          <a:xfrm>
            <a:off x="0" y="0"/>
            <a:ext cx="171450" cy="6858000"/>
          </a:xfrm>
          <a:prstGeom prst="rect">
            <a:avLst/>
          </a:prstGeom>
          <a:solidFill>
            <a:srgbClr val="4F46E5"/>
          </a:solidFill>
          <a:ln w="0">
            <a:noFill/>
          </a:ln>
        </p:spPr>
        <p:txBody>
          <a:bodyPr/>
          <a:lstStyle/>
          <a:p>
            <a:endParaRPr lang="en-US"/>
          </a:p>
        </p:txBody>
      </p:sp>
      <p:sp>
        <p:nvSpPr>
          <p:cNvPr id="2" name="Rectangle 1">
            <a:extLst>
              <a:ext uri="{FF2B5EF4-FFF2-40B4-BE49-F238E27FC236}">
                <a16:creationId xmlns:a16="http://schemas.microsoft.com/office/drawing/2014/main" id="{461E77AD-FEC4-4E40-8ED8-6CE545082C2A}"/>
              </a:ext>
            </a:extLst>
          </p:cNvPr>
          <p:cNvSpPr>
            <a:spLocks noGrp="1"/>
          </p:cNvSpPr>
          <p:nvPr/>
        </p:nvSpPr>
        <p:spPr>
          <a:xfrm>
            <a:off x="742950" y="590550"/>
            <a:ext cx="2286000" cy="304800"/>
          </a:xfrm>
          <a:prstGeom prst="rect">
            <a:avLst/>
          </a:prstGeom>
          <a:noFill/>
          <a:ln w="0">
            <a:noFill/>
          </a:ln>
        </p:spPr>
        <p:txBody>
          <a:bodyPr wrap="square" lIns="0" tIns="0" rIns="0" bIns="0" anchor="t">
            <a:noAutofit/>
          </a:bodyPr>
          <a:lstStyle/>
          <a:p>
            <a:pPr algn="l">
              <a:defRPr sz="1425" b="1" i="0">
                <a:solidFill>
                  <a:srgbClr val="06B6D4"/>
                </a:solidFill>
                <a:latin typeface="Helvetica Neue"/>
                <a:ea typeface="Helvetica Neue"/>
                <a:cs typeface="Helvetica Neue"/>
              </a:defRPr>
            </a:pPr>
            <a:r>
              <a:rPr sz="1425" b="1" i="0">
                <a:solidFill>
                  <a:srgbClr val="06B6D4"/>
                </a:solidFill>
                <a:latin typeface="Helvetica Neue"/>
                <a:ea typeface="Helvetica Neue"/>
                <a:cs typeface="Helvetica Neue"/>
              </a:rPr>
              <a:t>FINAIRA</a:t>
            </a:r>
          </a:p>
        </p:txBody>
      </p:sp>
      <p:sp>
        <p:nvSpPr>
          <p:cNvPr id="3" name="Rectangle 2">
            <a:extLst>
              <a:ext uri="{FF2B5EF4-FFF2-40B4-BE49-F238E27FC236}">
                <a16:creationId xmlns:a16="http://schemas.microsoft.com/office/drawing/2014/main" id="{D43770AC-EB49-43D5-93A5-2A2EBC0DA98A}"/>
              </a:ext>
            </a:extLst>
          </p:cNvPr>
          <p:cNvSpPr>
            <a:spLocks noGrp="1"/>
          </p:cNvSpPr>
          <p:nvPr/>
        </p:nvSpPr>
        <p:spPr>
          <a:xfrm>
            <a:off x="742950" y="1571625"/>
            <a:ext cx="9239250" cy="1619250"/>
          </a:xfrm>
          <a:prstGeom prst="rect">
            <a:avLst/>
          </a:prstGeom>
          <a:noFill/>
          <a:ln w="0">
            <a:noFill/>
          </a:ln>
        </p:spPr>
        <p:txBody>
          <a:bodyPr wrap="square" lIns="0" tIns="0" rIns="0" bIns="0" anchor="t">
            <a:noAutofit/>
          </a:bodyPr>
          <a:lstStyle/>
          <a:p>
            <a:pPr algn="l">
              <a:defRPr sz="4350" b="1" i="0">
                <a:solidFill>
                  <a:srgbClr val="FFFFFF"/>
                </a:solidFill>
                <a:latin typeface="Helvetica Neue"/>
                <a:ea typeface="Helvetica Neue"/>
                <a:cs typeface="Helvetica Neue"/>
              </a:defRPr>
            </a:pPr>
            <a:r>
              <a:rPr sz="4350" b="1" i="0" dirty="0">
                <a:solidFill>
                  <a:srgbClr val="FFFFFF"/>
                </a:solidFill>
                <a:latin typeface="Helvetica Neue"/>
                <a:ea typeface="Helvetica Neue"/>
                <a:cs typeface="Helvetica Neue"/>
              </a:rPr>
              <a:t>Privacy Gateway for</a:t>
            </a:r>
          </a:p>
          <a:p>
            <a:pPr algn="l">
              <a:defRPr sz="4350" b="1" i="0">
                <a:solidFill>
                  <a:srgbClr val="FFFFFF"/>
                </a:solidFill>
                <a:latin typeface="Helvetica Neue"/>
                <a:ea typeface="Helvetica Neue"/>
                <a:cs typeface="Helvetica Neue"/>
              </a:defRPr>
            </a:pPr>
            <a:r>
              <a:rPr sz="4350" b="1" i="0">
                <a:solidFill>
                  <a:srgbClr val="FFFFFF"/>
                </a:solidFill>
                <a:latin typeface="Helvetica Neue"/>
                <a:ea typeface="Helvetica Neue"/>
                <a:cs typeface="Helvetica Neue"/>
              </a:rPr>
              <a:t>Arabic-English Financial Documents</a:t>
            </a:r>
          </a:p>
        </p:txBody>
      </p:sp>
      <p:sp>
        <p:nvSpPr>
          <p:cNvPr id="4" name="Rectangle 3">
            <a:extLst>
              <a:ext uri="{FF2B5EF4-FFF2-40B4-BE49-F238E27FC236}">
                <a16:creationId xmlns:a16="http://schemas.microsoft.com/office/drawing/2014/main" id="{61616E7C-CED2-464F-80D7-9C4F60CBCD44}"/>
              </a:ext>
            </a:extLst>
          </p:cNvPr>
          <p:cNvSpPr>
            <a:spLocks noGrp="1"/>
          </p:cNvSpPr>
          <p:nvPr/>
        </p:nvSpPr>
        <p:spPr>
          <a:xfrm>
            <a:off x="781050" y="3505200"/>
            <a:ext cx="6477000" cy="428625"/>
          </a:xfrm>
          <a:prstGeom prst="rect">
            <a:avLst/>
          </a:prstGeom>
          <a:noFill/>
          <a:ln w="0">
            <a:noFill/>
          </a:ln>
        </p:spPr>
        <p:txBody>
          <a:bodyPr wrap="square" lIns="0" tIns="0" rIns="0" bIns="0" anchor="t">
            <a:noAutofit/>
          </a:bodyPr>
          <a:lstStyle/>
          <a:p>
            <a:pPr algn="l">
              <a:defRPr sz="2100" b="0" i="0">
                <a:solidFill>
                  <a:srgbClr val="D6DAE5"/>
                </a:solidFill>
                <a:latin typeface="Helvetica Neue"/>
                <a:ea typeface="Helvetica Neue"/>
                <a:cs typeface="Helvetica Neue"/>
              </a:defRPr>
            </a:pPr>
            <a:r>
              <a:rPr sz="2100" b="0" i="0">
                <a:solidFill>
                  <a:srgbClr val="D6DAE5"/>
                </a:solidFill>
                <a:latin typeface="Helvetica Neue"/>
                <a:ea typeface="Helvetica Neue"/>
                <a:cs typeface="Helvetica Neue"/>
              </a:rPr>
              <a:t>Graduation Project Sponsorship Interview</a:t>
            </a:r>
          </a:p>
        </p:txBody>
      </p:sp>
      <p:sp>
        <p:nvSpPr>
          <p:cNvPr id="5" name="Straight Connector 4">
            <a:extLst>
              <a:ext uri="{FF2B5EF4-FFF2-40B4-BE49-F238E27FC236}">
                <a16:creationId xmlns:a16="http://schemas.microsoft.com/office/drawing/2014/main" id="{F0C100ED-EA95-4075-8A21-F9881221246C}"/>
              </a:ext>
            </a:extLst>
          </p:cNvPr>
          <p:cNvSpPr>
            <a:spLocks noGrp="1"/>
          </p:cNvSpPr>
          <p:nvPr/>
        </p:nvSpPr>
        <p:spPr>
          <a:xfrm>
            <a:off x="781050" y="4352925"/>
            <a:ext cx="4191000" cy="9525"/>
          </a:xfrm>
          <a:prstGeom prst="line">
            <a:avLst/>
          </a:prstGeom>
          <a:noFill/>
          <a:ln w="19050">
            <a:solidFill>
              <a:srgbClr val="485166"/>
            </a:solidFill>
          </a:ln>
        </p:spPr>
        <p:txBody>
          <a:bodyPr/>
          <a:lstStyle/>
          <a:p>
            <a:endParaRPr lang="en-US"/>
          </a:p>
        </p:txBody>
      </p:sp>
      <p:sp>
        <p:nvSpPr>
          <p:cNvPr id="6" name="Rectangle 5">
            <a:extLst>
              <a:ext uri="{FF2B5EF4-FFF2-40B4-BE49-F238E27FC236}">
                <a16:creationId xmlns:a16="http://schemas.microsoft.com/office/drawing/2014/main" id="{A4A41232-8110-4C38-A95C-9DFCBAC3F28E}"/>
              </a:ext>
            </a:extLst>
          </p:cNvPr>
          <p:cNvSpPr>
            <a:spLocks noGrp="1"/>
          </p:cNvSpPr>
          <p:nvPr/>
        </p:nvSpPr>
        <p:spPr>
          <a:xfrm>
            <a:off x="781050" y="4629150"/>
            <a:ext cx="5905500" cy="323850"/>
          </a:xfrm>
          <a:prstGeom prst="rect">
            <a:avLst/>
          </a:prstGeom>
          <a:noFill/>
          <a:ln w="0">
            <a:noFill/>
          </a:ln>
        </p:spPr>
        <p:txBody>
          <a:bodyPr wrap="square" lIns="0" tIns="0" rIns="0" bIns="0" anchor="t">
            <a:noAutofit/>
          </a:bodyPr>
          <a:lstStyle/>
          <a:p>
            <a:pPr algn="l">
              <a:defRPr sz="1575" b="1" i="0">
                <a:solidFill>
                  <a:srgbClr val="FFFFFF"/>
                </a:solidFill>
                <a:latin typeface="Helvetica Neue"/>
                <a:ea typeface="Helvetica Neue"/>
                <a:cs typeface="Helvetica Neue"/>
              </a:defRPr>
            </a:pPr>
            <a:r>
              <a:rPr sz="1575" b="1" i="0">
                <a:solidFill>
                  <a:srgbClr val="FFFFFF"/>
                </a:solidFill>
                <a:latin typeface="Helvetica Neue"/>
                <a:ea typeface="Helvetica Neue"/>
                <a:cs typeface="Helvetica Neue"/>
              </a:rPr>
              <a:t>Faculty of Engineering, Ain Shams University</a:t>
            </a:r>
          </a:p>
        </p:txBody>
      </p:sp>
      <p:sp>
        <p:nvSpPr>
          <p:cNvPr id="7" name="Rectangle 6">
            <a:extLst>
              <a:ext uri="{FF2B5EF4-FFF2-40B4-BE49-F238E27FC236}">
                <a16:creationId xmlns:a16="http://schemas.microsoft.com/office/drawing/2014/main" id="{4484C12B-BE0E-4BDE-B7BE-35818CE7A22D}"/>
              </a:ext>
            </a:extLst>
          </p:cNvPr>
          <p:cNvSpPr>
            <a:spLocks noGrp="1"/>
          </p:cNvSpPr>
          <p:nvPr/>
        </p:nvSpPr>
        <p:spPr>
          <a:xfrm>
            <a:off x="781050" y="5029200"/>
            <a:ext cx="6953250" cy="285750"/>
          </a:xfrm>
          <a:prstGeom prst="rect">
            <a:avLst/>
          </a:prstGeom>
          <a:noFill/>
          <a:ln w="0">
            <a:noFill/>
          </a:ln>
        </p:spPr>
        <p:txBody>
          <a:bodyPr wrap="square" lIns="0" tIns="0" rIns="0" bIns="0" anchor="t">
            <a:noAutofit/>
          </a:bodyPr>
          <a:lstStyle/>
          <a:p>
            <a:pPr algn="l">
              <a:defRPr sz="1350" b="0" i="0">
                <a:solidFill>
                  <a:srgbClr val="AEB6C8"/>
                </a:solidFill>
                <a:latin typeface="Helvetica Neue"/>
                <a:ea typeface="Helvetica Neue"/>
                <a:cs typeface="Helvetica Neue"/>
              </a:defRPr>
            </a:pPr>
            <a:r>
              <a:rPr sz="1350" b="0" i="0">
                <a:solidFill>
                  <a:srgbClr val="AEB6C8"/>
                </a:solidFill>
                <a:latin typeface="Helvetica Neue"/>
                <a:ea typeface="Helvetica Neue"/>
                <a:cs typeface="Helvetica Neue"/>
              </a:rPr>
              <a:t>Computer and AI Engineering  |  Expected graduation 2027</a:t>
            </a:r>
          </a:p>
        </p:txBody>
      </p:sp>
      <p:sp>
        <p:nvSpPr>
          <p:cNvPr id="8" name="Rectangle 7">
            <a:extLst>
              <a:ext uri="{FF2B5EF4-FFF2-40B4-BE49-F238E27FC236}">
                <a16:creationId xmlns:a16="http://schemas.microsoft.com/office/drawing/2014/main" id="{DD086D1D-30C4-4827-B879-AD649A05C45D}"/>
              </a:ext>
            </a:extLst>
          </p:cNvPr>
          <p:cNvSpPr>
            <a:spLocks noGrp="1"/>
          </p:cNvSpPr>
          <p:nvPr/>
        </p:nvSpPr>
        <p:spPr>
          <a:xfrm>
            <a:off x="781050" y="6191250"/>
            <a:ext cx="2095500" cy="209550"/>
          </a:xfrm>
          <a:prstGeom prst="rect">
            <a:avLst/>
          </a:prstGeom>
          <a:noFill/>
          <a:ln w="0">
            <a:noFill/>
          </a:ln>
        </p:spPr>
        <p:txBody>
          <a:bodyPr wrap="square" lIns="0" tIns="0" rIns="0" bIns="0" anchor="t">
            <a:noAutofit/>
          </a:bodyPr>
          <a:lstStyle/>
          <a:p>
            <a:pPr algn="l">
              <a:defRPr sz="1125" b="0" i="0">
                <a:solidFill>
                  <a:srgbClr val="7F8AA3"/>
                </a:solidFill>
                <a:latin typeface="Helvetica Neue"/>
                <a:ea typeface="Helvetica Neue"/>
                <a:cs typeface="Helvetica Neue"/>
              </a:defRPr>
            </a:pPr>
            <a:r>
              <a:rPr sz="1125" b="0" i="0">
                <a:solidFill>
                  <a:srgbClr val="7F8AA3"/>
                </a:solidFill>
                <a:latin typeface="Helvetica Neue"/>
                <a:ea typeface="Helvetica Neue"/>
                <a:cs typeface="Helvetica Neue"/>
              </a:rPr>
              <a:t>September 2026</a:t>
            </a:r>
          </a:p>
        </p:txBody>
      </p:sp>
    </p:spTree>
    <p:extLst>
      <p:ext uri="{BB962C8B-B14F-4D97-AF65-F5344CB8AC3E}">
        <p14:creationId xmlns:p14="http://schemas.microsoft.com/office/powerpoint/2010/main" val="1919221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0F39D63-45FC-40F5-9FD2-DADC7C16AA42}"/>
              </a:ext>
            </a:extLst>
          </p:cNvPr>
          <p:cNvSpPr>
            <a:spLocks noGrp="1"/>
          </p:cNvSpPr>
          <p:nvPr/>
        </p:nvSpPr>
        <p:spPr>
          <a:xfrm>
            <a:off x="0" y="0"/>
            <a:ext cx="12192000" cy="95250"/>
          </a:xfrm>
          <a:prstGeom prst="rect">
            <a:avLst/>
          </a:prstGeom>
          <a:solidFill>
            <a:srgbClr val="4F46E5"/>
          </a:solidFill>
          <a:ln w="0">
            <a:noFill/>
          </a:ln>
        </p:spPr>
        <p:txBody>
          <a:bodyPr/>
          <a:lstStyle/>
          <a:p>
            <a:endParaRPr lang="en-US"/>
          </a:p>
        </p:txBody>
      </p:sp>
      <p:sp>
        <p:nvSpPr>
          <p:cNvPr id="2" name="Rectangle 1">
            <a:extLst>
              <a:ext uri="{FF2B5EF4-FFF2-40B4-BE49-F238E27FC236}">
                <a16:creationId xmlns:a16="http://schemas.microsoft.com/office/drawing/2014/main" id="{99551F7E-3DF9-4578-BC20-60159FF24F5D}"/>
              </a:ext>
            </a:extLst>
          </p:cNvPr>
          <p:cNvSpPr>
            <a:spLocks noGrp="1"/>
          </p:cNvSpPr>
          <p:nvPr/>
        </p:nvSpPr>
        <p:spPr>
          <a:xfrm>
            <a:off x="685800" y="361950"/>
            <a:ext cx="3333750" cy="238125"/>
          </a:xfrm>
          <a:prstGeom prst="rect">
            <a:avLst/>
          </a:prstGeom>
          <a:noFill/>
          <a:ln w="0">
            <a:noFill/>
          </a:ln>
        </p:spPr>
        <p:txBody>
          <a:bodyPr wrap="square" lIns="0" tIns="0" rIns="0" bIns="0" anchor="t">
            <a:noAutofit/>
          </a:bodyPr>
          <a:lstStyle/>
          <a:p>
            <a:pPr algn="l">
              <a:defRPr sz="1125" b="1" i="0">
                <a:solidFill>
                  <a:srgbClr val="4F46E5"/>
                </a:solidFill>
                <a:latin typeface="Helvetica Neue"/>
                <a:ea typeface="Helvetica Neue"/>
                <a:cs typeface="Helvetica Neue"/>
              </a:defRPr>
            </a:pPr>
            <a:r>
              <a:rPr sz="1125" b="1" i="0">
                <a:solidFill>
                  <a:srgbClr val="4F46E5"/>
                </a:solidFill>
                <a:latin typeface="Helvetica Neue"/>
                <a:ea typeface="Helvetica Neue"/>
                <a:cs typeface="Helvetica Neue"/>
              </a:rPr>
              <a:t>PART 1</a:t>
            </a:r>
          </a:p>
        </p:txBody>
      </p:sp>
      <p:sp>
        <p:nvSpPr>
          <p:cNvPr id="3" name="Rectangle 2">
            <a:extLst>
              <a:ext uri="{FF2B5EF4-FFF2-40B4-BE49-F238E27FC236}">
                <a16:creationId xmlns:a16="http://schemas.microsoft.com/office/drawing/2014/main" id="{7B9C4C99-723E-49B8-8241-7AD0D0FD57A2}"/>
              </a:ext>
            </a:extLst>
          </p:cNvPr>
          <p:cNvSpPr>
            <a:spLocks noGrp="1"/>
          </p:cNvSpPr>
          <p:nvPr/>
        </p:nvSpPr>
        <p:spPr>
          <a:xfrm>
            <a:off x="685800" y="638175"/>
            <a:ext cx="10820400" cy="619125"/>
          </a:xfrm>
          <a:prstGeom prst="rect">
            <a:avLst/>
          </a:prstGeom>
          <a:noFill/>
          <a:ln w="0">
            <a:noFill/>
          </a:ln>
        </p:spPr>
        <p:txBody>
          <a:bodyPr wrap="square" lIns="0" tIns="0" rIns="0" bIns="0" anchor="t">
            <a:noAutofit/>
          </a:bodyPr>
          <a:lstStyle/>
          <a:p>
            <a:pPr algn="l">
              <a:defRPr sz="3150" b="1" i="0">
                <a:solidFill>
                  <a:srgbClr val="172033"/>
                </a:solidFill>
                <a:latin typeface="Helvetica Neue"/>
                <a:ea typeface="Helvetica Neue"/>
                <a:cs typeface="Helvetica Neue"/>
              </a:defRPr>
            </a:pPr>
            <a:r>
              <a:rPr sz="3150" b="1" i="0">
                <a:solidFill>
                  <a:srgbClr val="172033"/>
                </a:solidFill>
                <a:latin typeface="Helvetica Neue"/>
                <a:ea typeface="Helvetica Neue"/>
                <a:cs typeface="Helvetica Neue"/>
              </a:rPr>
              <a:t>Our team</a:t>
            </a:r>
          </a:p>
        </p:txBody>
      </p:sp>
      <p:sp>
        <p:nvSpPr>
          <p:cNvPr id="4" name="Rectangle 3">
            <a:extLst>
              <a:ext uri="{FF2B5EF4-FFF2-40B4-BE49-F238E27FC236}">
                <a16:creationId xmlns:a16="http://schemas.microsoft.com/office/drawing/2014/main" id="{1CD2DB35-1C91-4751-AF94-EA28728C8A8A}"/>
              </a:ext>
            </a:extLst>
          </p:cNvPr>
          <p:cNvSpPr>
            <a:spLocks noGrp="1"/>
          </p:cNvSpPr>
          <p:nvPr/>
        </p:nvSpPr>
        <p:spPr>
          <a:xfrm>
            <a:off x="685800" y="1228725"/>
            <a:ext cx="5334000" cy="266700"/>
          </a:xfrm>
          <a:prstGeom prst="rect">
            <a:avLst/>
          </a:prstGeom>
          <a:noFill/>
          <a:ln w="0">
            <a:noFill/>
          </a:ln>
        </p:spPr>
        <p:txBody>
          <a:bodyPr wrap="square" lIns="0" tIns="0" rIns="0" bIns="0" anchor="t">
            <a:noAutofit/>
          </a:bodyPr>
          <a:lstStyle/>
          <a:p>
            <a:pPr algn="l">
              <a:defRPr sz="1500" b="1" i="0">
                <a:solidFill>
                  <a:srgbClr val="172033"/>
                </a:solidFill>
                <a:latin typeface="Helvetica Neue"/>
                <a:ea typeface="Helvetica Neue"/>
                <a:cs typeface="Helvetica Neue"/>
              </a:defRPr>
            </a:pPr>
            <a:r>
              <a:rPr sz="1500" b="1" i="0">
                <a:solidFill>
                  <a:srgbClr val="172033"/>
                </a:solidFill>
                <a:latin typeface="Helvetica Neue"/>
                <a:ea typeface="Helvetica Neue"/>
                <a:cs typeface="Helvetica Neue"/>
              </a:rPr>
              <a:t>Faculty of Engineering, Ain Shams University</a:t>
            </a:r>
          </a:p>
        </p:txBody>
      </p:sp>
      <p:sp>
        <p:nvSpPr>
          <p:cNvPr id="5" name="Rectangle 4">
            <a:extLst>
              <a:ext uri="{FF2B5EF4-FFF2-40B4-BE49-F238E27FC236}">
                <a16:creationId xmlns:a16="http://schemas.microsoft.com/office/drawing/2014/main" id="{450A7D02-8E2B-40E6-9CB2-711CCE86061F}"/>
              </a:ext>
            </a:extLst>
          </p:cNvPr>
          <p:cNvSpPr>
            <a:spLocks noGrp="1"/>
          </p:cNvSpPr>
          <p:nvPr/>
        </p:nvSpPr>
        <p:spPr>
          <a:xfrm>
            <a:off x="6115050" y="1228725"/>
            <a:ext cx="5391150" cy="266700"/>
          </a:xfrm>
          <a:prstGeom prst="rect">
            <a:avLst/>
          </a:prstGeom>
          <a:noFill/>
          <a:ln w="0">
            <a:noFill/>
          </a:ln>
        </p:spPr>
        <p:txBody>
          <a:bodyPr wrap="square" lIns="0" tIns="0" rIns="0" bIns="0" anchor="t">
            <a:noAutofit/>
          </a:bodyPr>
          <a:lstStyle/>
          <a:p>
            <a:pPr algn="r">
              <a:defRPr sz="1350" b="0" i="0">
                <a:solidFill>
                  <a:srgbClr val="5B6475"/>
                </a:solidFill>
                <a:latin typeface="Helvetica Neue"/>
                <a:ea typeface="Helvetica Neue"/>
                <a:cs typeface="Helvetica Neue"/>
              </a:defRPr>
            </a:pPr>
            <a:r>
              <a:rPr sz="1350" b="0" i="0">
                <a:solidFill>
                  <a:srgbClr val="5B6475"/>
                </a:solidFill>
                <a:latin typeface="Helvetica Neue"/>
                <a:ea typeface="Helvetica Neue"/>
                <a:cs typeface="Helvetica Neue"/>
              </a:rPr>
              <a:t>Computer and AI Engineering  |  Expected graduation 2027</a:t>
            </a:r>
          </a:p>
        </p:txBody>
      </p:sp>
      <p:pic>
        <p:nvPicPr>
          <p:cNvPr id="35" name="Picture 34"/>
          <p:cNvPicPr>
            <a:picLocks noChangeAspect="1"/>
          </p:cNvPicPr>
          <p:nvPr/>
        </p:nvPicPr>
        <p:blipFill>
          <a:blip r:embed="rId3"/>
          <a:srcRect l="3503" r="3503"/>
          <a:stretch>
            <a:fillRect/>
          </a:stretch>
        </p:blipFill>
        <p:spPr>
          <a:xfrm>
            <a:off x="1362075" y="1752600"/>
            <a:ext cx="1295400" cy="1295400"/>
          </a:xfrm>
          <a:prstGeom prst="ellipse">
            <a:avLst/>
          </a:prstGeom>
        </p:spPr>
      </p:pic>
      <p:sp>
        <p:nvSpPr>
          <p:cNvPr id="7" name="Rectangle 6">
            <a:extLst>
              <a:ext uri="{FF2B5EF4-FFF2-40B4-BE49-F238E27FC236}">
                <a16:creationId xmlns:a16="http://schemas.microsoft.com/office/drawing/2014/main" id="{E39C3968-2BB7-44F5-B60F-2F217F3D0D2F}"/>
              </a:ext>
            </a:extLst>
          </p:cNvPr>
          <p:cNvSpPr>
            <a:spLocks noGrp="1"/>
          </p:cNvSpPr>
          <p:nvPr/>
        </p:nvSpPr>
        <p:spPr>
          <a:xfrm>
            <a:off x="904875" y="3133725"/>
            <a:ext cx="2209800" cy="266700"/>
          </a:xfrm>
          <a:prstGeom prst="rect">
            <a:avLst/>
          </a:prstGeom>
          <a:noFill/>
          <a:ln w="0">
            <a:noFill/>
          </a:ln>
        </p:spPr>
        <p:txBody>
          <a:bodyPr wrap="square" lIns="0" tIns="0" rIns="0" bIns="0" anchor="t">
            <a:noAutofit/>
          </a:bodyPr>
          <a:lstStyle/>
          <a:p>
            <a:pPr algn="ctr">
              <a:defRPr sz="1425" b="1" i="0">
                <a:solidFill>
                  <a:srgbClr val="172033"/>
                </a:solidFill>
                <a:latin typeface="Helvetica Neue"/>
                <a:ea typeface="Helvetica Neue"/>
                <a:cs typeface="Helvetica Neue"/>
              </a:defRPr>
            </a:pPr>
            <a:r>
              <a:rPr lang="en-US" sz="1425" b="1" dirty="0">
                <a:solidFill>
                  <a:srgbClr val="172033"/>
                </a:solidFill>
                <a:latin typeface="Helvetica Neue"/>
                <a:ea typeface="Helvetica Neue"/>
                <a:cs typeface="Helvetica Neue"/>
              </a:rPr>
              <a:t>Belal Anas</a:t>
            </a:r>
            <a:endParaRPr sz="1425" b="1" i="0" dirty="0">
              <a:solidFill>
                <a:srgbClr val="172033"/>
              </a:solidFill>
              <a:latin typeface="Helvetica Neue"/>
              <a:ea typeface="Helvetica Neue"/>
              <a:cs typeface="Helvetica Neue"/>
            </a:endParaRPr>
          </a:p>
        </p:txBody>
      </p:sp>
      <p:sp>
        <p:nvSpPr>
          <p:cNvPr id="8" name="Rectangle 7">
            <a:extLst>
              <a:ext uri="{FF2B5EF4-FFF2-40B4-BE49-F238E27FC236}">
                <a16:creationId xmlns:a16="http://schemas.microsoft.com/office/drawing/2014/main" id="{182573D6-B2F1-4D78-9A63-91131EC9A992}"/>
              </a:ext>
            </a:extLst>
          </p:cNvPr>
          <p:cNvSpPr>
            <a:spLocks noGrp="1"/>
          </p:cNvSpPr>
          <p:nvPr/>
        </p:nvSpPr>
        <p:spPr>
          <a:xfrm>
            <a:off x="904875" y="3429000"/>
            <a:ext cx="2209800" cy="228600"/>
          </a:xfrm>
          <a:prstGeom prst="rect">
            <a:avLst/>
          </a:prstGeom>
          <a:noFill/>
          <a:ln w="0">
            <a:noFill/>
          </a:ln>
        </p:spPr>
        <p:txBody>
          <a:bodyPr wrap="square" lIns="0" tIns="0" rIns="0" bIns="0" anchor="t">
            <a:noAutofit/>
          </a:bodyPr>
          <a:lstStyle/>
          <a:p>
            <a:pPr algn="ctr">
              <a:defRPr sz="1125" b="0" i="0">
                <a:solidFill>
                  <a:srgbClr val="5B6475"/>
                </a:solidFill>
                <a:latin typeface="Helvetica Neue"/>
                <a:ea typeface="Helvetica Neue"/>
                <a:cs typeface="Helvetica Neue"/>
              </a:defRPr>
            </a:pPr>
            <a:endParaRPr sz="1125" b="0" i="0" dirty="0">
              <a:solidFill>
                <a:srgbClr val="5B6475"/>
              </a:solidFill>
              <a:latin typeface="Helvetica Neue"/>
              <a:ea typeface="Helvetica Neue"/>
              <a:cs typeface="Helvetica Neue"/>
            </a:endParaRPr>
          </a:p>
        </p:txBody>
      </p:sp>
      <p:pic>
        <p:nvPicPr>
          <p:cNvPr id="38" name="Picture 37"/>
          <p:cNvPicPr>
            <a:picLocks noChangeAspect="1"/>
          </p:cNvPicPr>
          <p:nvPr/>
        </p:nvPicPr>
        <p:blipFill>
          <a:blip r:embed="rId4"/>
          <a:srcRect/>
          <a:stretch>
            <a:fillRect/>
          </a:stretch>
        </p:blipFill>
        <p:spPr>
          <a:xfrm>
            <a:off x="4029075" y="1752600"/>
            <a:ext cx="1295400" cy="1295400"/>
          </a:xfrm>
          <a:prstGeom prst="ellipse">
            <a:avLst/>
          </a:prstGeom>
        </p:spPr>
      </p:pic>
      <p:sp>
        <p:nvSpPr>
          <p:cNvPr id="10" name="Rectangle 9">
            <a:extLst>
              <a:ext uri="{FF2B5EF4-FFF2-40B4-BE49-F238E27FC236}">
                <a16:creationId xmlns:a16="http://schemas.microsoft.com/office/drawing/2014/main" id="{7E010388-E2E9-4DFA-8D5B-8606CFE6B829}"/>
              </a:ext>
            </a:extLst>
          </p:cNvPr>
          <p:cNvSpPr>
            <a:spLocks noGrp="1"/>
          </p:cNvSpPr>
          <p:nvPr/>
        </p:nvSpPr>
        <p:spPr>
          <a:xfrm>
            <a:off x="3571875" y="3133725"/>
            <a:ext cx="2209800" cy="266700"/>
          </a:xfrm>
          <a:prstGeom prst="rect">
            <a:avLst/>
          </a:prstGeom>
          <a:noFill/>
          <a:ln w="0">
            <a:noFill/>
          </a:ln>
        </p:spPr>
        <p:txBody>
          <a:bodyPr wrap="square" lIns="0" tIns="0" rIns="0" bIns="0" anchor="t">
            <a:noAutofit/>
          </a:bodyPr>
          <a:lstStyle/>
          <a:p>
            <a:pPr algn="ctr">
              <a:defRPr sz="1425" b="1" i="0">
                <a:solidFill>
                  <a:srgbClr val="172033"/>
                </a:solidFill>
                <a:latin typeface="Helvetica Neue"/>
                <a:ea typeface="Helvetica Neue"/>
                <a:cs typeface="Helvetica Neue"/>
              </a:defRPr>
            </a:pPr>
            <a:r>
              <a:rPr lang="en-US" sz="1425" b="1" i="0" dirty="0">
                <a:solidFill>
                  <a:srgbClr val="172033"/>
                </a:solidFill>
                <a:latin typeface="Helvetica Neue"/>
                <a:ea typeface="Helvetica Neue"/>
                <a:cs typeface="Helvetica Neue"/>
              </a:rPr>
              <a:t>Omar Tamer </a:t>
            </a:r>
            <a:endParaRPr sz="1425" b="1" i="0" dirty="0">
              <a:solidFill>
                <a:srgbClr val="172033"/>
              </a:solidFill>
              <a:latin typeface="Helvetica Neue"/>
              <a:ea typeface="Helvetica Neue"/>
              <a:cs typeface="Helvetica Neue"/>
            </a:endParaRPr>
          </a:p>
        </p:txBody>
      </p:sp>
      <p:pic>
        <p:nvPicPr>
          <p:cNvPr id="41" name="Picture 40"/>
          <p:cNvPicPr>
            <a:picLocks noChangeAspect="1"/>
          </p:cNvPicPr>
          <p:nvPr/>
        </p:nvPicPr>
        <p:blipFill>
          <a:blip r:embed="rId5"/>
          <a:srcRect/>
          <a:stretch>
            <a:fillRect/>
          </a:stretch>
        </p:blipFill>
        <p:spPr>
          <a:xfrm>
            <a:off x="6696075" y="1752600"/>
            <a:ext cx="1295400" cy="1295400"/>
          </a:xfrm>
          <a:prstGeom prst="ellipse">
            <a:avLst/>
          </a:prstGeom>
        </p:spPr>
      </p:pic>
      <p:sp>
        <p:nvSpPr>
          <p:cNvPr id="13" name="Rectangle 12">
            <a:extLst>
              <a:ext uri="{FF2B5EF4-FFF2-40B4-BE49-F238E27FC236}">
                <a16:creationId xmlns:a16="http://schemas.microsoft.com/office/drawing/2014/main" id="{931E82DB-AB9E-454E-B8D0-2FF8523B8652}"/>
              </a:ext>
            </a:extLst>
          </p:cNvPr>
          <p:cNvSpPr>
            <a:spLocks noGrp="1"/>
          </p:cNvSpPr>
          <p:nvPr/>
        </p:nvSpPr>
        <p:spPr>
          <a:xfrm>
            <a:off x="6238875" y="3133725"/>
            <a:ext cx="2209800" cy="266700"/>
          </a:xfrm>
          <a:prstGeom prst="rect">
            <a:avLst/>
          </a:prstGeom>
          <a:noFill/>
          <a:ln w="0">
            <a:noFill/>
          </a:ln>
        </p:spPr>
        <p:txBody>
          <a:bodyPr wrap="square" lIns="0" tIns="0" rIns="0" bIns="0" anchor="t">
            <a:noAutofit/>
          </a:bodyPr>
          <a:lstStyle/>
          <a:p>
            <a:pPr algn="ctr">
              <a:defRPr sz="1425" b="1" i="0">
                <a:solidFill>
                  <a:srgbClr val="172033"/>
                </a:solidFill>
                <a:latin typeface="Helvetica Neue"/>
                <a:ea typeface="Helvetica Neue"/>
                <a:cs typeface="Helvetica Neue"/>
              </a:defRPr>
            </a:pPr>
            <a:r>
              <a:rPr lang="en-US" sz="1425" b="1" i="0" dirty="0">
                <a:solidFill>
                  <a:srgbClr val="172033"/>
                </a:solidFill>
                <a:latin typeface="Helvetica Neue"/>
                <a:ea typeface="Helvetica Neue"/>
                <a:cs typeface="Helvetica Neue"/>
              </a:rPr>
              <a:t>Amir Tamer</a:t>
            </a:r>
            <a:endParaRPr sz="1425" b="1" i="0" dirty="0">
              <a:solidFill>
                <a:srgbClr val="172033"/>
              </a:solidFill>
              <a:latin typeface="Helvetica Neue"/>
              <a:ea typeface="Helvetica Neue"/>
              <a:cs typeface="Helvetica Neue"/>
            </a:endParaRPr>
          </a:p>
        </p:txBody>
      </p:sp>
      <p:pic>
        <p:nvPicPr>
          <p:cNvPr id="44" name="Picture 43"/>
          <p:cNvPicPr>
            <a:picLocks noChangeAspect="1"/>
          </p:cNvPicPr>
          <p:nvPr/>
        </p:nvPicPr>
        <p:blipFill>
          <a:blip r:embed="rId6"/>
          <a:srcRect/>
          <a:stretch>
            <a:fillRect/>
          </a:stretch>
        </p:blipFill>
        <p:spPr>
          <a:xfrm>
            <a:off x="9363075" y="1752600"/>
            <a:ext cx="1295400" cy="1295400"/>
          </a:xfrm>
          <a:prstGeom prst="ellipse">
            <a:avLst/>
          </a:prstGeom>
        </p:spPr>
      </p:pic>
      <p:sp>
        <p:nvSpPr>
          <p:cNvPr id="16" name="Rectangle 15">
            <a:extLst>
              <a:ext uri="{FF2B5EF4-FFF2-40B4-BE49-F238E27FC236}">
                <a16:creationId xmlns:a16="http://schemas.microsoft.com/office/drawing/2014/main" id="{4CFFC7DF-1979-4A74-8809-DE8F78389E40}"/>
              </a:ext>
            </a:extLst>
          </p:cNvPr>
          <p:cNvSpPr>
            <a:spLocks noGrp="1"/>
          </p:cNvSpPr>
          <p:nvPr/>
        </p:nvSpPr>
        <p:spPr>
          <a:xfrm>
            <a:off x="8905875" y="3133725"/>
            <a:ext cx="2209800" cy="266700"/>
          </a:xfrm>
          <a:prstGeom prst="rect">
            <a:avLst/>
          </a:prstGeom>
          <a:noFill/>
          <a:ln w="0">
            <a:noFill/>
          </a:ln>
        </p:spPr>
        <p:txBody>
          <a:bodyPr wrap="square" lIns="0" tIns="0" rIns="0" bIns="0" anchor="t">
            <a:noAutofit/>
          </a:bodyPr>
          <a:lstStyle/>
          <a:p>
            <a:pPr algn="ctr">
              <a:defRPr sz="1425" b="1" i="0">
                <a:solidFill>
                  <a:srgbClr val="172033"/>
                </a:solidFill>
                <a:latin typeface="Helvetica Neue"/>
                <a:ea typeface="Helvetica Neue"/>
                <a:cs typeface="Helvetica Neue"/>
              </a:defRPr>
            </a:pPr>
            <a:r>
              <a:rPr lang="en-US" sz="1425" b="1" i="0" dirty="0">
                <a:solidFill>
                  <a:srgbClr val="172033"/>
                </a:solidFill>
                <a:latin typeface="Helvetica Neue"/>
                <a:ea typeface="Helvetica Neue"/>
                <a:cs typeface="Helvetica Neue"/>
              </a:rPr>
              <a:t>Mohame</a:t>
            </a:r>
            <a:r>
              <a:rPr lang="en-US" sz="1425" b="1" dirty="0">
                <a:solidFill>
                  <a:srgbClr val="172033"/>
                </a:solidFill>
                <a:latin typeface="Helvetica Neue"/>
                <a:ea typeface="Helvetica Neue"/>
                <a:cs typeface="Helvetica Neue"/>
              </a:rPr>
              <a:t>d Wael </a:t>
            </a:r>
            <a:endParaRPr sz="1425" b="1" i="0" dirty="0">
              <a:solidFill>
                <a:srgbClr val="172033"/>
              </a:solidFill>
              <a:latin typeface="Helvetica Neue"/>
              <a:ea typeface="Helvetica Neue"/>
              <a:cs typeface="Helvetica Neue"/>
            </a:endParaRPr>
          </a:p>
        </p:txBody>
      </p:sp>
      <p:pic>
        <p:nvPicPr>
          <p:cNvPr id="47" name="Picture 46"/>
          <p:cNvPicPr>
            <a:picLocks noChangeAspect="1"/>
          </p:cNvPicPr>
          <p:nvPr/>
        </p:nvPicPr>
        <p:blipFill>
          <a:blip r:embed="rId7"/>
          <a:srcRect l="1499" r="1499"/>
          <a:stretch>
            <a:fillRect/>
          </a:stretch>
        </p:blipFill>
        <p:spPr>
          <a:xfrm>
            <a:off x="2695575" y="4067175"/>
            <a:ext cx="1295400" cy="1295400"/>
          </a:xfrm>
          <a:prstGeom prst="ellipse">
            <a:avLst/>
          </a:prstGeom>
        </p:spPr>
      </p:pic>
      <p:sp>
        <p:nvSpPr>
          <p:cNvPr id="19" name="Rectangle 18">
            <a:extLst>
              <a:ext uri="{FF2B5EF4-FFF2-40B4-BE49-F238E27FC236}">
                <a16:creationId xmlns:a16="http://schemas.microsoft.com/office/drawing/2014/main" id="{40E7F28E-E83D-44BC-A654-4015C8E0C691}"/>
              </a:ext>
            </a:extLst>
          </p:cNvPr>
          <p:cNvSpPr>
            <a:spLocks noGrp="1"/>
          </p:cNvSpPr>
          <p:nvPr/>
        </p:nvSpPr>
        <p:spPr>
          <a:xfrm>
            <a:off x="2238375" y="5448300"/>
            <a:ext cx="2209800" cy="266700"/>
          </a:xfrm>
          <a:prstGeom prst="rect">
            <a:avLst/>
          </a:prstGeom>
          <a:noFill/>
          <a:ln w="0">
            <a:noFill/>
          </a:ln>
        </p:spPr>
        <p:txBody>
          <a:bodyPr wrap="square" lIns="0" tIns="0" rIns="0" bIns="0" anchor="t">
            <a:noAutofit/>
          </a:bodyPr>
          <a:lstStyle/>
          <a:p>
            <a:pPr algn="ctr">
              <a:defRPr sz="1425" b="1" i="0">
                <a:solidFill>
                  <a:srgbClr val="172033"/>
                </a:solidFill>
                <a:latin typeface="Helvetica Neue"/>
                <a:ea typeface="Helvetica Neue"/>
                <a:cs typeface="Helvetica Neue"/>
              </a:defRPr>
            </a:pPr>
            <a:r>
              <a:rPr lang="en-US" sz="1425" b="1" dirty="0">
                <a:solidFill>
                  <a:srgbClr val="172033"/>
                </a:solidFill>
                <a:latin typeface="Helvetica Neue"/>
                <a:ea typeface="Helvetica Neue"/>
                <a:cs typeface="Helvetica Neue"/>
              </a:rPr>
              <a:t>Adham Walid</a:t>
            </a:r>
            <a:endParaRPr sz="1425" b="1" i="0" dirty="0">
              <a:solidFill>
                <a:srgbClr val="172033"/>
              </a:solidFill>
              <a:latin typeface="Helvetica Neue"/>
              <a:ea typeface="Helvetica Neue"/>
              <a:cs typeface="Helvetica Neue"/>
            </a:endParaRPr>
          </a:p>
        </p:txBody>
      </p:sp>
      <p:pic>
        <p:nvPicPr>
          <p:cNvPr id="50" name="Picture 49"/>
          <p:cNvPicPr>
            <a:picLocks noChangeAspect="1"/>
          </p:cNvPicPr>
          <p:nvPr/>
        </p:nvPicPr>
        <p:blipFill>
          <a:blip r:embed="rId8"/>
          <a:srcRect l="1499" r="1499"/>
          <a:stretch>
            <a:fillRect/>
          </a:stretch>
        </p:blipFill>
        <p:spPr>
          <a:xfrm>
            <a:off x="5362575" y="4067175"/>
            <a:ext cx="1295400" cy="1295400"/>
          </a:xfrm>
          <a:prstGeom prst="ellipse">
            <a:avLst/>
          </a:prstGeom>
        </p:spPr>
      </p:pic>
      <p:sp>
        <p:nvSpPr>
          <p:cNvPr id="22" name="Rectangle 21">
            <a:extLst>
              <a:ext uri="{FF2B5EF4-FFF2-40B4-BE49-F238E27FC236}">
                <a16:creationId xmlns:a16="http://schemas.microsoft.com/office/drawing/2014/main" id="{2E2B4BE2-47F8-4AA0-B62D-2F993B2202CE}"/>
              </a:ext>
            </a:extLst>
          </p:cNvPr>
          <p:cNvSpPr>
            <a:spLocks noGrp="1"/>
          </p:cNvSpPr>
          <p:nvPr/>
        </p:nvSpPr>
        <p:spPr>
          <a:xfrm>
            <a:off x="4905375" y="5448300"/>
            <a:ext cx="2209800" cy="266700"/>
          </a:xfrm>
          <a:prstGeom prst="rect">
            <a:avLst/>
          </a:prstGeom>
          <a:noFill/>
          <a:ln w="0">
            <a:noFill/>
          </a:ln>
        </p:spPr>
        <p:txBody>
          <a:bodyPr wrap="square" lIns="0" tIns="0" rIns="0" bIns="0" anchor="t">
            <a:noAutofit/>
          </a:bodyPr>
          <a:lstStyle/>
          <a:p>
            <a:pPr algn="ctr">
              <a:defRPr sz="1425" b="1" i="0">
                <a:solidFill>
                  <a:srgbClr val="172033"/>
                </a:solidFill>
                <a:latin typeface="Helvetica Neue"/>
                <a:ea typeface="Helvetica Neue"/>
                <a:cs typeface="Helvetica Neue"/>
              </a:defRPr>
            </a:pPr>
            <a:r>
              <a:rPr lang="en-US" sz="1425" b="1" i="0" dirty="0">
                <a:solidFill>
                  <a:srgbClr val="172033"/>
                </a:solidFill>
                <a:latin typeface="Helvetica Neue"/>
                <a:ea typeface="Helvetica Neue"/>
                <a:cs typeface="Helvetica Neue"/>
              </a:rPr>
              <a:t>Basem Walid</a:t>
            </a:r>
            <a:endParaRPr sz="1425" b="1" i="0" dirty="0">
              <a:solidFill>
                <a:srgbClr val="172033"/>
              </a:solidFill>
              <a:latin typeface="Helvetica Neue"/>
              <a:ea typeface="Helvetica Neue"/>
              <a:cs typeface="Helvetica Neue"/>
            </a:endParaRPr>
          </a:p>
        </p:txBody>
      </p:sp>
      <p:pic>
        <p:nvPicPr>
          <p:cNvPr id="53" name="Picture 52"/>
          <p:cNvPicPr>
            <a:picLocks noChangeAspect="1"/>
          </p:cNvPicPr>
          <p:nvPr/>
        </p:nvPicPr>
        <p:blipFill>
          <a:blip r:embed="rId9"/>
          <a:srcRect l="1499" r="1499"/>
          <a:stretch>
            <a:fillRect/>
          </a:stretch>
        </p:blipFill>
        <p:spPr>
          <a:xfrm>
            <a:off x="8029575" y="4067175"/>
            <a:ext cx="1295400" cy="1295400"/>
          </a:xfrm>
          <a:prstGeom prst="ellipse">
            <a:avLst/>
          </a:prstGeom>
        </p:spPr>
      </p:pic>
      <p:sp>
        <p:nvSpPr>
          <p:cNvPr id="25" name="Rectangle 24">
            <a:extLst>
              <a:ext uri="{FF2B5EF4-FFF2-40B4-BE49-F238E27FC236}">
                <a16:creationId xmlns:a16="http://schemas.microsoft.com/office/drawing/2014/main" id="{B941653D-E806-47DC-BC6D-91E7DAF2FE2B}"/>
              </a:ext>
            </a:extLst>
          </p:cNvPr>
          <p:cNvSpPr>
            <a:spLocks noGrp="1"/>
          </p:cNvSpPr>
          <p:nvPr/>
        </p:nvSpPr>
        <p:spPr>
          <a:xfrm>
            <a:off x="7572375" y="5448300"/>
            <a:ext cx="2209800" cy="266700"/>
          </a:xfrm>
          <a:prstGeom prst="rect">
            <a:avLst/>
          </a:prstGeom>
          <a:noFill/>
          <a:ln w="0">
            <a:noFill/>
          </a:ln>
        </p:spPr>
        <p:txBody>
          <a:bodyPr wrap="square" lIns="0" tIns="0" rIns="0" bIns="0" anchor="t">
            <a:noAutofit/>
          </a:bodyPr>
          <a:lstStyle/>
          <a:p>
            <a:pPr algn="ctr">
              <a:defRPr sz="1425" b="1" i="0">
                <a:solidFill>
                  <a:srgbClr val="172033"/>
                </a:solidFill>
                <a:latin typeface="Helvetica Neue"/>
                <a:ea typeface="Helvetica Neue"/>
                <a:cs typeface="Helvetica Neue"/>
              </a:defRPr>
            </a:pPr>
            <a:r>
              <a:rPr lang="en-US" sz="1425" b="1" i="0" dirty="0">
                <a:solidFill>
                  <a:srgbClr val="172033"/>
                </a:solidFill>
                <a:latin typeface="Helvetica Neue"/>
                <a:ea typeface="Helvetica Neue"/>
                <a:cs typeface="Helvetica Neue"/>
              </a:rPr>
              <a:t>Moaz Ahmed</a:t>
            </a:r>
            <a:endParaRPr sz="1425" b="1" i="0" dirty="0">
              <a:solidFill>
                <a:srgbClr val="172033"/>
              </a:solidFill>
              <a:latin typeface="Helvetica Neue"/>
              <a:ea typeface="Helvetica Neue"/>
              <a:cs typeface="Helvetica Neue"/>
            </a:endParaRPr>
          </a:p>
        </p:txBody>
      </p:sp>
      <p:sp>
        <p:nvSpPr>
          <p:cNvPr id="27" name="Straight Connector 26">
            <a:extLst>
              <a:ext uri="{FF2B5EF4-FFF2-40B4-BE49-F238E27FC236}">
                <a16:creationId xmlns:a16="http://schemas.microsoft.com/office/drawing/2014/main" id="{0A1115F0-B33B-492E-89A9-7ED4C89C25AA}"/>
              </a:ext>
            </a:extLst>
          </p:cNvPr>
          <p:cNvSpPr>
            <a:spLocks noGrp="1"/>
          </p:cNvSpPr>
          <p:nvPr/>
        </p:nvSpPr>
        <p:spPr>
          <a:xfrm>
            <a:off x="685800" y="6467475"/>
            <a:ext cx="10820400" cy="9525"/>
          </a:xfrm>
          <a:prstGeom prst="line">
            <a:avLst/>
          </a:prstGeom>
          <a:noFill/>
          <a:ln w="9525">
            <a:solidFill>
              <a:srgbClr val="D9DEEA"/>
            </a:solidFill>
          </a:ln>
        </p:spPr>
        <p:txBody>
          <a:bodyPr/>
          <a:lstStyle/>
          <a:p>
            <a:endParaRPr lang="en-US"/>
          </a:p>
        </p:txBody>
      </p:sp>
      <p:sp>
        <p:nvSpPr>
          <p:cNvPr id="28" name="Rectangle 27">
            <a:extLst>
              <a:ext uri="{FF2B5EF4-FFF2-40B4-BE49-F238E27FC236}">
                <a16:creationId xmlns:a16="http://schemas.microsoft.com/office/drawing/2014/main" id="{E62A4D7C-0411-4461-A5E9-893CC955D765}"/>
              </a:ext>
            </a:extLst>
          </p:cNvPr>
          <p:cNvSpPr>
            <a:spLocks noGrp="1"/>
          </p:cNvSpPr>
          <p:nvPr/>
        </p:nvSpPr>
        <p:spPr>
          <a:xfrm>
            <a:off x="685800" y="6553200"/>
            <a:ext cx="4762500" cy="171450"/>
          </a:xfrm>
          <a:prstGeom prst="rect">
            <a:avLst/>
          </a:prstGeom>
          <a:noFill/>
          <a:ln w="0">
            <a:noFill/>
          </a:ln>
        </p:spPr>
        <p:txBody>
          <a:bodyPr wrap="square" lIns="0" tIns="0" rIns="0" bIns="0" anchor="t">
            <a:noAutofit/>
          </a:bodyPr>
          <a:lstStyle/>
          <a:p>
            <a:pPr algn="l">
              <a:defRPr sz="900" b="0" i="0">
                <a:solidFill>
                  <a:srgbClr val="5B6475"/>
                </a:solidFill>
                <a:latin typeface="Helvetica Neue"/>
                <a:ea typeface="Helvetica Neue"/>
                <a:cs typeface="Helvetica Neue"/>
              </a:defRPr>
            </a:pPr>
            <a:r>
              <a:rPr sz="900" b="0" i="0">
                <a:solidFill>
                  <a:srgbClr val="5B6475"/>
                </a:solidFill>
                <a:latin typeface="Helvetica Neue"/>
                <a:ea typeface="Helvetica Neue"/>
                <a:cs typeface="Helvetica Neue"/>
              </a:rPr>
              <a:t>Finaira sponsorship interview</a:t>
            </a:r>
          </a:p>
        </p:txBody>
      </p:sp>
      <p:sp>
        <p:nvSpPr>
          <p:cNvPr id="29" name="Rectangle 28">
            <a:extLst>
              <a:ext uri="{FF2B5EF4-FFF2-40B4-BE49-F238E27FC236}">
                <a16:creationId xmlns:a16="http://schemas.microsoft.com/office/drawing/2014/main" id="{3FC7D097-FFEA-4D02-90F2-4CE69F36FE3B}"/>
              </a:ext>
            </a:extLst>
          </p:cNvPr>
          <p:cNvSpPr>
            <a:spLocks noGrp="1"/>
          </p:cNvSpPr>
          <p:nvPr/>
        </p:nvSpPr>
        <p:spPr>
          <a:xfrm>
            <a:off x="11096625" y="6553200"/>
            <a:ext cx="409575" cy="171450"/>
          </a:xfrm>
          <a:prstGeom prst="rect">
            <a:avLst/>
          </a:prstGeom>
          <a:noFill/>
          <a:ln w="0">
            <a:noFill/>
          </a:ln>
        </p:spPr>
        <p:txBody>
          <a:bodyPr wrap="square" lIns="0" tIns="0" rIns="0" bIns="0" anchor="t">
            <a:noAutofit/>
          </a:bodyPr>
          <a:lstStyle/>
          <a:p>
            <a:pPr algn="r">
              <a:defRPr sz="900" b="1" i="0">
                <a:solidFill>
                  <a:srgbClr val="5B6475"/>
                </a:solidFill>
                <a:latin typeface="Helvetica Neue"/>
                <a:ea typeface="Helvetica Neue"/>
                <a:cs typeface="Helvetica Neue"/>
              </a:defRPr>
            </a:pPr>
            <a:r>
              <a:rPr sz="900" b="1" i="0">
                <a:solidFill>
                  <a:srgbClr val="5B6475"/>
                </a:solidFill>
                <a:latin typeface="Helvetica Neue"/>
                <a:ea typeface="Helvetica Neue"/>
                <a:cs typeface="Helvetica Neue"/>
              </a:rPr>
              <a:t>02</a:t>
            </a:r>
          </a:p>
        </p:txBody>
      </p:sp>
    </p:spTree>
    <p:extLst>
      <p:ext uri="{BB962C8B-B14F-4D97-AF65-F5344CB8AC3E}">
        <p14:creationId xmlns:p14="http://schemas.microsoft.com/office/powerpoint/2010/main" val="1747055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E05F2950-5263-4A87-98B0-93EC8105478A}"/>
              </a:ext>
            </a:extLst>
          </p:cNvPr>
          <p:cNvSpPr>
            <a:spLocks noGrp="1"/>
          </p:cNvSpPr>
          <p:nvPr/>
        </p:nvSpPr>
        <p:spPr>
          <a:xfrm>
            <a:off x="0" y="0"/>
            <a:ext cx="12192000" cy="95250"/>
          </a:xfrm>
          <a:prstGeom prst="rect">
            <a:avLst/>
          </a:prstGeom>
          <a:solidFill>
            <a:srgbClr val="4F46E5"/>
          </a:solidFill>
          <a:ln w="0">
            <a:noFill/>
          </a:ln>
        </p:spPr>
        <p:txBody>
          <a:bodyPr/>
          <a:lstStyle/>
          <a:p>
            <a:endParaRPr lang="en-US"/>
          </a:p>
        </p:txBody>
      </p:sp>
      <p:sp>
        <p:nvSpPr>
          <p:cNvPr id="2" name="Rectangle 1">
            <a:extLst>
              <a:ext uri="{FF2B5EF4-FFF2-40B4-BE49-F238E27FC236}">
                <a16:creationId xmlns:a16="http://schemas.microsoft.com/office/drawing/2014/main" id="{87DB02A9-DA39-46EA-AE6B-4282B929C492}"/>
              </a:ext>
            </a:extLst>
          </p:cNvPr>
          <p:cNvSpPr>
            <a:spLocks noGrp="1"/>
          </p:cNvSpPr>
          <p:nvPr/>
        </p:nvSpPr>
        <p:spPr>
          <a:xfrm>
            <a:off x="685800" y="361950"/>
            <a:ext cx="3333750" cy="238125"/>
          </a:xfrm>
          <a:prstGeom prst="rect">
            <a:avLst/>
          </a:prstGeom>
          <a:noFill/>
          <a:ln w="0">
            <a:noFill/>
          </a:ln>
        </p:spPr>
        <p:txBody>
          <a:bodyPr wrap="square" lIns="0" tIns="0" rIns="0" bIns="0" anchor="t">
            <a:noAutofit/>
          </a:bodyPr>
          <a:lstStyle/>
          <a:p>
            <a:pPr algn="l">
              <a:defRPr sz="1125" b="1" i="0">
                <a:solidFill>
                  <a:srgbClr val="4F46E5"/>
                </a:solidFill>
                <a:latin typeface="Helvetica Neue"/>
                <a:ea typeface="Helvetica Neue"/>
                <a:cs typeface="Helvetica Neue"/>
              </a:defRPr>
            </a:pPr>
            <a:r>
              <a:rPr sz="1125" b="1" i="0">
                <a:solidFill>
                  <a:srgbClr val="4F46E5"/>
                </a:solidFill>
                <a:latin typeface="Helvetica Neue"/>
                <a:ea typeface="Helvetica Neue"/>
                <a:cs typeface="Helvetica Neue"/>
              </a:rPr>
              <a:t>PART 1</a:t>
            </a:r>
          </a:p>
        </p:txBody>
      </p:sp>
      <p:sp>
        <p:nvSpPr>
          <p:cNvPr id="3" name="Rectangle 2">
            <a:extLst>
              <a:ext uri="{FF2B5EF4-FFF2-40B4-BE49-F238E27FC236}">
                <a16:creationId xmlns:a16="http://schemas.microsoft.com/office/drawing/2014/main" id="{9E64B230-16D4-41E4-BF80-220B33F93761}"/>
              </a:ext>
            </a:extLst>
          </p:cNvPr>
          <p:cNvSpPr>
            <a:spLocks noGrp="1"/>
          </p:cNvSpPr>
          <p:nvPr/>
        </p:nvSpPr>
        <p:spPr>
          <a:xfrm>
            <a:off x="685800" y="638175"/>
            <a:ext cx="10820400" cy="619125"/>
          </a:xfrm>
          <a:prstGeom prst="rect">
            <a:avLst/>
          </a:prstGeom>
          <a:noFill/>
          <a:ln w="0">
            <a:noFill/>
          </a:ln>
        </p:spPr>
        <p:txBody>
          <a:bodyPr wrap="square" lIns="0" tIns="0" rIns="0" bIns="0" anchor="t">
            <a:noAutofit/>
          </a:bodyPr>
          <a:lstStyle/>
          <a:p>
            <a:pPr algn="l">
              <a:defRPr sz="3150" b="1" i="0">
                <a:solidFill>
                  <a:srgbClr val="172033"/>
                </a:solidFill>
                <a:latin typeface="Helvetica Neue"/>
                <a:ea typeface="Helvetica Neue"/>
                <a:cs typeface="Helvetica Neue"/>
              </a:defRPr>
            </a:pPr>
            <a:r>
              <a:rPr sz="3150" b="1" i="0">
                <a:solidFill>
                  <a:srgbClr val="172033"/>
                </a:solidFill>
                <a:latin typeface="Helvetica Neue"/>
                <a:ea typeface="Helvetica Neue"/>
                <a:cs typeface="Helvetica Neue"/>
              </a:rPr>
              <a:t>Experience and selected work</a:t>
            </a:r>
          </a:p>
        </p:txBody>
      </p:sp>
      <p:sp>
        <p:nvSpPr>
          <p:cNvPr id="4" name="Rectangle 3">
            <a:extLst>
              <a:ext uri="{FF2B5EF4-FFF2-40B4-BE49-F238E27FC236}">
                <a16:creationId xmlns:a16="http://schemas.microsoft.com/office/drawing/2014/main" id="{1B058807-AB7A-4831-BA88-EF9CE089167F}"/>
              </a:ext>
            </a:extLst>
          </p:cNvPr>
          <p:cNvSpPr>
            <a:spLocks noGrp="1"/>
          </p:cNvSpPr>
          <p:nvPr/>
        </p:nvSpPr>
        <p:spPr>
          <a:xfrm>
            <a:off x="685800" y="1438275"/>
            <a:ext cx="4857750" cy="257175"/>
          </a:xfrm>
          <a:prstGeom prst="rect">
            <a:avLst/>
          </a:prstGeom>
          <a:noFill/>
          <a:ln w="0">
            <a:noFill/>
          </a:ln>
        </p:spPr>
        <p:txBody>
          <a:bodyPr wrap="square" lIns="0" tIns="0" rIns="0" bIns="0" anchor="t">
            <a:noAutofit/>
          </a:bodyPr>
          <a:lstStyle/>
          <a:p>
            <a:pPr algn="l">
              <a:defRPr sz="1275" b="1" i="0">
                <a:solidFill>
                  <a:srgbClr val="4F46E5"/>
                </a:solidFill>
                <a:latin typeface="Helvetica Neue"/>
                <a:ea typeface="Helvetica Neue"/>
                <a:cs typeface="Helvetica Neue"/>
              </a:defRPr>
            </a:pPr>
            <a:r>
              <a:rPr sz="1275" b="1" i="0">
                <a:solidFill>
                  <a:srgbClr val="4F46E5"/>
                </a:solidFill>
                <a:latin typeface="Helvetica Neue"/>
                <a:ea typeface="Helvetica Neue"/>
                <a:cs typeface="Helvetica Neue"/>
              </a:rPr>
              <a:t>INTERNSHIPS</a:t>
            </a:r>
          </a:p>
        </p:txBody>
      </p:sp>
      <p:sp>
        <p:nvSpPr>
          <p:cNvPr id="5" name="Rectangle 4">
            <a:extLst>
              <a:ext uri="{FF2B5EF4-FFF2-40B4-BE49-F238E27FC236}">
                <a16:creationId xmlns:a16="http://schemas.microsoft.com/office/drawing/2014/main" id="{D04B17A2-F16D-4675-8A1C-A9120E1F20C0}"/>
              </a:ext>
            </a:extLst>
          </p:cNvPr>
          <p:cNvSpPr>
            <a:spLocks noGrp="1"/>
          </p:cNvSpPr>
          <p:nvPr/>
        </p:nvSpPr>
        <p:spPr>
          <a:xfrm>
            <a:off x="994850" y="1847850"/>
            <a:ext cx="2205550"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Al Ahly Momken</a:t>
            </a:r>
          </a:p>
        </p:txBody>
      </p:sp>
      <p:sp>
        <p:nvSpPr>
          <p:cNvPr id="6" name="Rectangle 5">
            <a:extLst>
              <a:ext uri="{FF2B5EF4-FFF2-40B4-BE49-F238E27FC236}">
                <a16:creationId xmlns:a16="http://schemas.microsoft.com/office/drawing/2014/main" id="{297A8E0E-FB01-4C5B-98B7-51E555954808}"/>
              </a:ext>
            </a:extLst>
          </p:cNvPr>
          <p:cNvSpPr>
            <a:spLocks noGrp="1"/>
          </p:cNvSpPr>
          <p:nvPr/>
        </p:nvSpPr>
        <p:spPr>
          <a:xfrm>
            <a:off x="1074850" y="2152650"/>
            <a:ext cx="2125550"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El Sweedy Electronics</a:t>
            </a:r>
          </a:p>
        </p:txBody>
      </p:sp>
      <p:sp>
        <p:nvSpPr>
          <p:cNvPr id="7" name="Rectangle 6">
            <a:extLst>
              <a:ext uri="{FF2B5EF4-FFF2-40B4-BE49-F238E27FC236}">
                <a16:creationId xmlns:a16="http://schemas.microsoft.com/office/drawing/2014/main" id="{BD5F2D09-2ADE-4999-8282-F29A43AADD61}"/>
              </a:ext>
            </a:extLst>
          </p:cNvPr>
          <p:cNvSpPr>
            <a:spLocks noGrp="1"/>
          </p:cNvSpPr>
          <p:nvPr/>
        </p:nvSpPr>
        <p:spPr>
          <a:xfrm>
            <a:off x="1074850" y="2457450"/>
            <a:ext cx="2125550"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Cellula</a:t>
            </a:r>
          </a:p>
        </p:txBody>
      </p:sp>
      <p:sp>
        <p:nvSpPr>
          <p:cNvPr id="8" name="Rectangle 7">
            <a:extLst>
              <a:ext uri="{FF2B5EF4-FFF2-40B4-BE49-F238E27FC236}">
                <a16:creationId xmlns:a16="http://schemas.microsoft.com/office/drawing/2014/main" id="{34EEA3EB-F7DD-449B-8AD4-4DEEB91991CB}"/>
              </a:ext>
            </a:extLst>
          </p:cNvPr>
          <p:cNvSpPr>
            <a:spLocks noGrp="1"/>
          </p:cNvSpPr>
          <p:nvPr/>
        </p:nvSpPr>
        <p:spPr>
          <a:xfrm>
            <a:off x="994850" y="2762250"/>
            <a:ext cx="2205550"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VOIS</a:t>
            </a:r>
          </a:p>
        </p:txBody>
      </p:sp>
      <p:sp>
        <p:nvSpPr>
          <p:cNvPr id="9" name="Rectangle 8">
            <a:extLst>
              <a:ext uri="{FF2B5EF4-FFF2-40B4-BE49-F238E27FC236}">
                <a16:creationId xmlns:a16="http://schemas.microsoft.com/office/drawing/2014/main" id="{DACBFD98-CB9D-4141-8E43-891261A2B093}"/>
              </a:ext>
            </a:extLst>
          </p:cNvPr>
          <p:cNvSpPr>
            <a:spLocks noGrp="1"/>
          </p:cNvSpPr>
          <p:nvPr/>
        </p:nvSpPr>
        <p:spPr>
          <a:xfrm>
            <a:off x="1074850" y="3067050"/>
            <a:ext cx="2125550"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e&amp;</a:t>
            </a:r>
          </a:p>
        </p:txBody>
      </p:sp>
      <p:sp>
        <p:nvSpPr>
          <p:cNvPr id="10" name="Rectangle 9">
            <a:extLst>
              <a:ext uri="{FF2B5EF4-FFF2-40B4-BE49-F238E27FC236}">
                <a16:creationId xmlns:a16="http://schemas.microsoft.com/office/drawing/2014/main" id="{1D124AB3-E4A9-4204-BF03-F01007CC202A}"/>
              </a:ext>
            </a:extLst>
          </p:cNvPr>
          <p:cNvSpPr>
            <a:spLocks noGrp="1"/>
          </p:cNvSpPr>
          <p:nvPr/>
        </p:nvSpPr>
        <p:spPr>
          <a:xfrm>
            <a:off x="1294850" y="3371850"/>
            <a:ext cx="1905550"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Cyshield</a:t>
            </a:r>
          </a:p>
        </p:txBody>
      </p:sp>
      <p:sp>
        <p:nvSpPr>
          <p:cNvPr id="11" name="Rectangle 10">
            <a:extLst>
              <a:ext uri="{FF2B5EF4-FFF2-40B4-BE49-F238E27FC236}">
                <a16:creationId xmlns:a16="http://schemas.microsoft.com/office/drawing/2014/main" id="{9A0F80FF-506E-4428-B15A-3E82BF3AEF70}"/>
              </a:ext>
            </a:extLst>
          </p:cNvPr>
          <p:cNvSpPr>
            <a:spLocks noGrp="1"/>
          </p:cNvSpPr>
          <p:nvPr/>
        </p:nvSpPr>
        <p:spPr>
          <a:xfrm>
            <a:off x="1115152" y="3696314"/>
            <a:ext cx="2095080"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IZAM</a:t>
            </a:r>
          </a:p>
        </p:txBody>
      </p:sp>
      <p:sp>
        <p:nvSpPr>
          <p:cNvPr id="12" name="Rectangle 11">
            <a:extLst>
              <a:ext uri="{FF2B5EF4-FFF2-40B4-BE49-F238E27FC236}">
                <a16:creationId xmlns:a16="http://schemas.microsoft.com/office/drawing/2014/main" id="{46F47F94-B875-4202-95F0-5B25731FBD83}"/>
              </a:ext>
            </a:extLst>
          </p:cNvPr>
          <p:cNvSpPr>
            <a:spLocks noGrp="1"/>
          </p:cNvSpPr>
          <p:nvPr/>
        </p:nvSpPr>
        <p:spPr>
          <a:xfrm>
            <a:off x="3703750" y="1847850"/>
            <a:ext cx="2125550"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dirty="0">
                <a:solidFill>
                  <a:srgbClr val="172033"/>
                </a:solidFill>
                <a:latin typeface="Helvetica Neue"/>
                <a:ea typeface="Helvetica Neue"/>
                <a:cs typeface="Helvetica Neue"/>
              </a:rPr>
              <a:t>Cisco</a:t>
            </a:r>
          </a:p>
        </p:txBody>
      </p:sp>
      <p:sp>
        <p:nvSpPr>
          <p:cNvPr id="13" name="Rectangle 12">
            <a:extLst>
              <a:ext uri="{FF2B5EF4-FFF2-40B4-BE49-F238E27FC236}">
                <a16:creationId xmlns:a16="http://schemas.microsoft.com/office/drawing/2014/main" id="{D123D2EE-9D12-4753-A620-2F112290182E}"/>
              </a:ext>
            </a:extLst>
          </p:cNvPr>
          <p:cNvSpPr>
            <a:spLocks noGrp="1"/>
          </p:cNvSpPr>
          <p:nvPr/>
        </p:nvSpPr>
        <p:spPr>
          <a:xfrm>
            <a:off x="3714138" y="2152650"/>
            <a:ext cx="2115162"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Ejada</a:t>
            </a:r>
          </a:p>
        </p:txBody>
      </p:sp>
      <p:sp>
        <p:nvSpPr>
          <p:cNvPr id="14" name="Rectangle 13">
            <a:extLst>
              <a:ext uri="{FF2B5EF4-FFF2-40B4-BE49-F238E27FC236}">
                <a16:creationId xmlns:a16="http://schemas.microsoft.com/office/drawing/2014/main" id="{DEFAD046-2671-4488-818E-CD0EB18C8651}"/>
              </a:ext>
            </a:extLst>
          </p:cNvPr>
          <p:cNvSpPr>
            <a:spLocks noGrp="1"/>
          </p:cNvSpPr>
          <p:nvPr/>
        </p:nvSpPr>
        <p:spPr>
          <a:xfrm>
            <a:off x="3781404" y="2457450"/>
            <a:ext cx="2047896"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Klickit</a:t>
            </a:r>
          </a:p>
        </p:txBody>
      </p:sp>
      <p:sp>
        <p:nvSpPr>
          <p:cNvPr id="15" name="Rectangle 14">
            <a:extLst>
              <a:ext uri="{FF2B5EF4-FFF2-40B4-BE49-F238E27FC236}">
                <a16:creationId xmlns:a16="http://schemas.microsoft.com/office/drawing/2014/main" id="{557F325C-20E8-4A15-A72F-64909A1AE71E}"/>
              </a:ext>
            </a:extLst>
          </p:cNvPr>
          <p:cNvSpPr>
            <a:spLocks noGrp="1"/>
          </p:cNvSpPr>
          <p:nvPr/>
        </p:nvSpPr>
        <p:spPr>
          <a:xfrm>
            <a:off x="3703750" y="2762250"/>
            <a:ext cx="2125550"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Xyris Digital Solutions</a:t>
            </a:r>
          </a:p>
        </p:txBody>
      </p:sp>
      <p:sp>
        <p:nvSpPr>
          <p:cNvPr id="16" name="Rectangle 15">
            <a:extLst>
              <a:ext uri="{FF2B5EF4-FFF2-40B4-BE49-F238E27FC236}">
                <a16:creationId xmlns:a16="http://schemas.microsoft.com/office/drawing/2014/main" id="{B3220CD2-BA87-45F4-BBB8-DAE446C6A2C0}"/>
              </a:ext>
            </a:extLst>
          </p:cNvPr>
          <p:cNvSpPr>
            <a:spLocks noGrp="1"/>
          </p:cNvSpPr>
          <p:nvPr/>
        </p:nvSpPr>
        <p:spPr>
          <a:xfrm>
            <a:off x="3923750" y="3067050"/>
            <a:ext cx="1905550"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Siemens</a:t>
            </a:r>
          </a:p>
        </p:txBody>
      </p:sp>
      <p:sp>
        <p:nvSpPr>
          <p:cNvPr id="17" name="Rectangle 16">
            <a:extLst>
              <a:ext uri="{FF2B5EF4-FFF2-40B4-BE49-F238E27FC236}">
                <a16:creationId xmlns:a16="http://schemas.microsoft.com/office/drawing/2014/main" id="{50EA3DF2-938D-4294-8983-B792A592CB47}"/>
              </a:ext>
            </a:extLst>
          </p:cNvPr>
          <p:cNvSpPr>
            <a:spLocks noGrp="1"/>
          </p:cNvSpPr>
          <p:nvPr/>
        </p:nvSpPr>
        <p:spPr>
          <a:xfrm>
            <a:off x="3933582" y="3371850"/>
            <a:ext cx="1905550" cy="257175"/>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dirty="0" err="1">
                <a:solidFill>
                  <a:srgbClr val="172033"/>
                </a:solidFill>
                <a:latin typeface="Helvetica Neue"/>
                <a:ea typeface="Helvetica Neue"/>
                <a:cs typeface="Helvetica Neue"/>
              </a:rPr>
              <a:t>Pix</a:t>
            </a:r>
            <a:r>
              <a:rPr lang="en-US" sz="1425" b="0" i="0" dirty="0" err="1">
                <a:solidFill>
                  <a:srgbClr val="172033"/>
                </a:solidFill>
                <a:latin typeface="Helvetica Neue"/>
                <a:ea typeface="Helvetica Neue"/>
                <a:cs typeface="Helvetica Neue"/>
              </a:rPr>
              <a:t>e</a:t>
            </a:r>
            <a:r>
              <a:rPr sz="1425" b="0" i="0" dirty="0" err="1">
                <a:solidFill>
                  <a:srgbClr val="172033"/>
                </a:solidFill>
                <a:latin typeface="Helvetica Neue"/>
                <a:ea typeface="Helvetica Neue"/>
                <a:cs typeface="Helvetica Neue"/>
              </a:rPr>
              <a:t>logic</a:t>
            </a:r>
            <a:r>
              <a:rPr lang="en-US" sz="1425" b="0" i="0" dirty="0">
                <a:solidFill>
                  <a:srgbClr val="172033"/>
                </a:solidFill>
                <a:latin typeface="Helvetica Neue"/>
                <a:ea typeface="Helvetica Neue"/>
                <a:cs typeface="Helvetica Neue"/>
              </a:rPr>
              <a:t> Media</a:t>
            </a:r>
            <a:endParaRPr sz="1425" b="0" i="0" dirty="0">
              <a:solidFill>
                <a:srgbClr val="172033"/>
              </a:solidFill>
              <a:latin typeface="Helvetica Neue"/>
              <a:ea typeface="Helvetica Neue"/>
              <a:cs typeface="Helvetica Neue"/>
            </a:endParaRPr>
          </a:p>
        </p:txBody>
      </p:sp>
      <p:sp>
        <p:nvSpPr>
          <p:cNvPr id="18" name="Straight Connector 17">
            <a:extLst>
              <a:ext uri="{FF2B5EF4-FFF2-40B4-BE49-F238E27FC236}">
                <a16:creationId xmlns:a16="http://schemas.microsoft.com/office/drawing/2014/main" id="{5F4DADFB-D9D9-4AFB-8A8E-890E671DE5C9}"/>
              </a:ext>
            </a:extLst>
          </p:cNvPr>
          <p:cNvSpPr>
            <a:spLocks noGrp="1"/>
          </p:cNvSpPr>
          <p:nvPr/>
        </p:nvSpPr>
        <p:spPr>
          <a:xfrm>
            <a:off x="6057900" y="1438275"/>
            <a:ext cx="9525" cy="2628900"/>
          </a:xfrm>
          <a:prstGeom prst="line">
            <a:avLst/>
          </a:prstGeom>
          <a:noFill/>
          <a:ln w="19050">
            <a:solidFill>
              <a:srgbClr val="D9DEEA"/>
            </a:solidFill>
          </a:ln>
        </p:spPr>
        <p:txBody>
          <a:bodyPr/>
          <a:lstStyle/>
          <a:p>
            <a:endParaRPr lang="en-US"/>
          </a:p>
        </p:txBody>
      </p:sp>
      <p:sp>
        <p:nvSpPr>
          <p:cNvPr id="19" name="Rectangle 18">
            <a:extLst>
              <a:ext uri="{FF2B5EF4-FFF2-40B4-BE49-F238E27FC236}">
                <a16:creationId xmlns:a16="http://schemas.microsoft.com/office/drawing/2014/main" id="{ABE87530-6EC9-469C-AB45-AA2DBD5CA362}"/>
              </a:ext>
            </a:extLst>
          </p:cNvPr>
          <p:cNvSpPr>
            <a:spLocks noGrp="1"/>
          </p:cNvSpPr>
          <p:nvPr/>
        </p:nvSpPr>
        <p:spPr>
          <a:xfrm>
            <a:off x="6429375" y="1438275"/>
            <a:ext cx="4953000" cy="257175"/>
          </a:xfrm>
          <a:prstGeom prst="rect">
            <a:avLst/>
          </a:prstGeom>
          <a:noFill/>
          <a:ln w="0">
            <a:noFill/>
          </a:ln>
        </p:spPr>
        <p:txBody>
          <a:bodyPr wrap="square" lIns="0" tIns="0" rIns="0" bIns="0" anchor="t">
            <a:noAutofit/>
          </a:bodyPr>
          <a:lstStyle/>
          <a:p>
            <a:pPr algn="l">
              <a:defRPr sz="1275" b="1" i="0">
                <a:solidFill>
                  <a:srgbClr val="4F46E5"/>
                </a:solidFill>
                <a:latin typeface="Helvetica Neue"/>
                <a:ea typeface="Helvetica Neue"/>
                <a:cs typeface="Helvetica Neue"/>
              </a:defRPr>
            </a:pPr>
            <a:r>
              <a:rPr sz="1275" b="1" i="0">
                <a:solidFill>
                  <a:srgbClr val="4F46E5"/>
                </a:solidFill>
                <a:latin typeface="Helvetica Neue"/>
                <a:ea typeface="Helvetica Neue"/>
                <a:cs typeface="Helvetica Neue"/>
              </a:rPr>
              <a:t>RELEVANT COURSEWORK</a:t>
            </a:r>
          </a:p>
        </p:txBody>
      </p:sp>
      <p:sp>
        <p:nvSpPr>
          <p:cNvPr id="20" name="Rectangle 19">
            <a:extLst>
              <a:ext uri="{FF2B5EF4-FFF2-40B4-BE49-F238E27FC236}">
                <a16:creationId xmlns:a16="http://schemas.microsoft.com/office/drawing/2014/main" id="{6246E08E-B283-4B67-9062-5775F6743207}"/>
              </a:ext>
            </a:extLst>
          </p:cNvPr>
          <p:cNvSpPr>
            <a:spLocks noGrp="1"/>
          </p:cNvSpPr>
          <p:nvPr/>
        </p:nvSpPr>
        <p:spPr>
          <a:xfrm>
            <a:off x="6438900" y="1847850"/>
            <a:ext cx="2381250" cy="314325"/>
          </a:xfrm>
          <a:prstGeom prst="rect">
            <a:avLst/>
          </a:prstGeom>
          <a:noFill/>
          <a:ln w="0">
            <a:noFill/>
          </a:ln>
        </p:spPr>
        <p:txBody>
          <a:bodyPr wrap="square" lIns="0" tIns="0" rIns="0" bIns="0" anchor="t">
            <a:noAutofit/>
          </a:bodyPr>
          <a:lstStyle/>
          <a:p>
            <a:pPr algn="l">
              <a:defRPr sz="1350" b="0" i="0">
                <a:solidFill>
                  <a:srgbClr val="172033"/>
                </a:solidFill>
                <a:latin typeface="Helvetica Neue"/>
                <a:ea typeface="Helvetica Neue"/>
                <a:cs typeface="Helvetica Neue"/>
              </a:defRPr>
            </a:pPr>
            <a:r>
              <a:rPr sz="1350" b="0" i="0">
                <a:solidFill>
                  <a:srgbClr val="172033"/>
                </a:solidFill>
                <a:latin typeface="Helvetica Neue"/>
                <a:ea typeface="Helvetica Neue"/>
                <a:cs typeface="Helvetica Neue"/>
              </a:rPr>
              <a:t>Object-oriented programming</a:t>
            </a:r>
          </a:p>
        </p:txBody>
      </p:sp>
      <p:sp>
        <p:nvSpPr>
          <p:cNvPr id="21" name="Rectangle 20">
            <a:extLst>
              <a:ext uri="{FF2B5EF4-FFF2-40B4-BE49-F238E27FC236}">
                <a16:creationId xmlns:a16="http://schemas.microsoft.com/office/drawing/2014/main" id="{5BA33710-7B24-491B-A85F-B5ABAE3D82DE}"/>
              </a:ext>
            </a:extLst>
          </p:cNvPr>
          <p:cNvSpPr>
            <a:spLocks noGrp="1"/>
          </p:cNvSpPr>
          <p:nvPr/>
        </p:nvSpPr>
        <p:spPr>
          <a:xfrm>
            <a:off x="6438900" y="2190750"/>
            <a:ext cx="2381250" cy="314325"/>
          </a:xfrm>
          <a:prstGeom prst="rect">
            <a:avLst/>
          </a:prstGeom>
          <a:noFill/>
          <a:ln w="0">
            <a:noFill/>
          </a:ln>
        </p:spPr>
        <p:txBody>
          <a:bodyPr wrap="square" lIns="0" tIns="0" rIns="0" bIns="0" anchor="t">
            <a:noAutofit/>
          </a:bodyPr>
          <a:lstStyle/>
          <a:p>
            <a:pPr algn="l">
              <a:defRPr sz="1350" b="0" i="0">
                <a:solidFill>
                  <a:srgbClr val="172033"/>
                </a:solidFill>
                <a:latin typeface="Helvetica Neue"/>
                <a:ea typeface="Helvetica Neue"/>
                <a:cs typeface="Helvetica Neue"/>
              </a:defRPr>
            </a:pPr>
            <a:r>
              <a:rPr sz="1350" b="0" i="0">
                <a:solidFill>
                  <a:srgbClr val="172033"/>
                </a:solidFill>
                <a:latin typeface="Helvetica Neue"/>
                <a:ea typeface="Helvetica Neue"/>
                <a:cs typeface="Helvetica Neue"/>
              </a:rPr>
              <a:t>Networks</a:t>
            </a:r>
          </a:p>
        </p:txBody>
      </p:sp>
      <p:sp>
        <p:nvSpPr>
          <p:cNvPr id="22" name="Rectangle 21">
            <a:extLst>
              <a:ext uri="{FF2B5EF4-FFF2-40B4-BE49-F238E27FC236}">
                <a16:creationId xmlns:a16="http://schemas.microsoft.com/office/drawing/2014/main" id="{B2FE2EFB-740E-4693-81A0-2191CA785450}"/>
              </a:ext>
            </a:extLst>
          </p:cNvPr>
          <p:cNvSpPr>
            <a:spLocks noGrp="1"/>
          </p:cNvSpPr>
          <p:nvPr/>
        </p:nvSpPr>
        <p:spPr>
          <a:xfrm>
            <a:off x="6438900" y="2533650"/>
            <a:ext cx="2381250" cy="314325"/>
          </a:xfrm>
          <a:prstGeom prst="rect">
            <a:avLst/>
          </a:prstGeom>
          <a:noFill/>
          <a:ln w="0">
            <a:noFill/>
          </a:ln>
        </p:spPr>
        <p:txBody>
          <a:bodyPr wrap="square" lIns="0" tIns="0" rIns="0" bIns="0" anchor="t">
            <a:noAutofit/>
          </a:bodyPr>
          <a:lstStyle/>
          <a:p>
            <a:pPr algn="l">
              <a:defRPr sz="1350" b="0" i="0">
                <a:solidFill>
                  <a:srgbClr val="172033"/>
                </a:solidFill>
                <a:latin typeface="Helvetica Neue"/>
                <a:ea typeface="Helvetica Neue"/>
                <a:cs typeface="Helvetica Neue"/>
              </a:defRPr>
            </a:pPr>
            <a:r>
              <a:rPr sz="1350" b="0" i="0">
                <a:solidFill>
                  <a:srgbClr val="172033"/>
                </a:solidFill>
                <a:latin typeface="Helvetica Neue"/>
                <a:ea typeface="Helvetica Neue"/>
                <a:cs typeface="Helvetica Neue"/>
              </a:rPr>
              <a:t>Data structures</a:t>
            </a:r>
          </a:p>
        </p:txBody>
      </p:sp>
      <p:sp>
        <p:nvSpPr>
          <p:cNvPr id="23" name="Rectangle 22">
            <a:extLst>
              <a:ext uri="{FF2B5EF4-FFF2-40B4-BE49-F238E27FC236}">
                <a16:creationId xmlns:a16="http://schemas.microsoft.com/office/drawing/2014/main" id="{C15BBD3F-0094-48C5-8722-02CD5A7F2656}"/>
              </a:ext>
            </a:extLst>
          </p:cNvPr>
          <p:cNvSpPr>
            <a:spLocks noGrp="1"/>
          </p:cNvSpPr>
          <p:nvPr/>
        </p:nvSpPr>
        <p:spPr>
          <a:xfrm>
            <a:off x="6438900" y="2876550"/>
            <a:ext cx="2381250" cy="314325"/>
          </a:xfrm>
          <a:prstGeom prst="rect">
            <a:avLst/>
          </a:prstGeom>
          <a:noFill/>
          <a:ln w="0">
            <a:noFill/>
          </a:ln>
        </p:spPr>
        <p:txBody>
          <a:bodyPr wrap="square" lIns="0" tIns="0" rIns="0" bIns="0" anchor="t">
            <a:noAutofit/>
          </a:bodyPr>
          <a:lstStyle/>
          <a:p>
            <a:pPr algn="l">
              <a:defRPr sz="1350" b="0" i="0">
                <a:solidFill>
                  <a:srgbClr val="172033"/>
                </a:solidFill>
                <a:latin typeface="Helvetica Neue"/>
                <a:ea typeface="Helvetica Neue"/>
                <a:cs typeface="Helvetica Neue"/>
              </a:defRPr>
            </a:pPr>
            <a:r>
              <a:rPr sz="1350" b="0" i="0">
                <a:solidFill>
                  <a:srgbClr val="172033"/>
                </a:solidFill>
                <a:latin typeface="Helvetica Neue"/>
                <a:ea typeface="Helvetica Neue"/>
                <a:cs typeface="Helvetica Neue"/>
              </a:rPr>
              <a:t>Artificial intelligence</a:t>
            </a:r>
          </a:p>
        </p:txBody>
      </p:sp>
      <p:sp>
        <p:nvSpPr>
          <p:cNvPr id="24" name="Rectangle 23">
            <a:extLst>
              <a:ext uri="{FF2B5EF4-FFF2-40B4-BE49-F238E27FC236}">
                <a16:creationId xmlns:a16="http://schemas.microsoft.com/office/drawing/2014/main" id="{734994C8-7393-46E9-ADF3-2A17D6BEC133}"/>
              </a:ext>
            </a:extLst>
          </p:cNvPr>
          <p:cNvSpPr>
            <a:spLocks noGrp="1"/>
          </p:cNvSpPr>
          <p:nvPr/>
        </p:nvSpPr>
        <p:spPr>
          <a:xfrm>
            <a:off x="6438900" y="3219450"/>
            <a:ext cx="2381250" cy="314325"/>
          </a:xfrm>
          <a:prstGeom prst="rect">
            <a:avLst/>
          </a:prstGeom>
          <a:noFill/>
          <a:ln w="0">
            <a:noFill/>
          </a:ln>
        </p:spPr>
        <p:txBody>
          <a:bodyPr wrap="square" lIns="0" tIns="0" rIns="0" bIns="0" anchor="t">
            <a:noAutofit/>
          </a:bodyPr>
          <a:lstStyle/>
          <a:p>
            <a:pPr algn="l">
              <a:defRPr sz="1350" b="0" i="0">
                <a:solidFill>
                  <a:srgbClr val="172033"/>
                </a:solidFill>
                <a:latin typeface="Helvetica Neue"/>
                <a:ea typeface="Helvetica Neue"/>
                <a:cs typeface="Helvetica Neue"/>
              </a:defRPr>
            </a:pPr>
            <a:r>
              <a:rPr sz="1350" b="0" i="0">
                <a:solidFill>
                  <a:srgbClr val="172033"/>
                </a:solidFill>
                <a:latin typeface="Helvetica Neue"/>
                <a:ea typeface="Helvetica Neue"/>
                <a:cs typeface="Helvetica Neue"/>
              </a:rPr>
              <a:t>Distributed computing</a:t>
            </a:r>
          </a:p>
        </p:txBody>
      </p:sp>
      <p:sp>
        <p:nvSpPr>
          <p:cNvPr id="25" name="Rectangle 24">
            <a:extLst>
              <a:ext uri="{FF2B5EF4-FFF2-40B4-BE49-F238E27FC236}">
                <a16:creationId xmlns:a16="http://schemas.microsoft.com/office/drawing/2014/main" id="{00C44B86-9B77-4C04-8163-35D3374602D3}"/>
              </a:ext>
            </a:extLst>
          </p:cNvPr>
          <p:cNvSpPr>
            <a:spLocks noGrp="1"/>
          </p:cNvSpPr>
          <p:nvPr/>
        </p:nvSpPr>
        <p:spPr>
          <a:xfrm>
            <a:off x="8915400" y="1847850"/>
            <a:ext cx="2381250" cy="314325"/>
          </a:xfrm>
          <a:prstGeom prst="rect">
            <a:avLst/>
          </a:prstGeom>
          <a:noFill/>
          <a:ln w="0">
            <a:noFill/>
          </a:ln>
        </p:spPr>
        <p:txBody>
          <a:bodyPr wrap="square" lIns="0" tIns="0" rIns="0" bIns="0" anchor="t">
            <a:noAutofit/>
          </a:bodyPr>
          <a:lstStyle/>
          <a:p>
            <a:pPr algn="l">
              <a:defRPr sz="1350" b="0" i="0">
                <a:solidFill>
                  <a:srgbClr val="172033"/>
                </a:solidFill>
                <a:latin typeface="Helvetica Neue"/>
                <a:ea typeface="Helvetica Neue"/>
                <a:cs typeface="Helvetica Neue"/>
              </a:defRPr>
            </a:pPr>
            <a:r>
              <a:rPr sz="1350" b="0" i="0">
                <a:solidFill>
                  <a:srgbClr val="172033"/>
                </a:solidFill>
                <a:latin typeface="Helvetica Neue"/>
                <a:ea typeface="Helvetica Neue"/>
                <a:cs typeface="Helvetica Neue"/>
              </a:rPr>
              <a:t>Databases</a:t>
            </a:r>
          </a:p>
        </p:txBody>
      </p:sp>
      <p:sp>
        <p:nvSpPr>
          <p:cNvPr id="26" name="Rectangle 25">
            <a:extLst>
              <a:ext uri="{FF2B5EF4-FFF2-40B4-BE49-F238E27FC236}">
                <a16:creationId xmlns:a16="http://schemas.microsoft.com/office/drawing/2014/main" id="{647CCBBA-FA14-41FB-B23D-97B93F8E6979}"/>
              </a:ext>
            </a:extLst>
          </p:cNvPr>
          <p:cNvSpPr>
            <a:spLocks noGrp="1"/>
          </p:cNvSpPr>
          <p:nvPr/>
        </p:nvSpPr>
        <p:spPr>
          <a:xfrm>
            <a:off x="8915400" y="2190750"/>
            <a:ext cx="2381250" cy="314325"/>
          </a:xfrm>
          <a:prstGeom prst="rect">
            <a:avLst/>
          </a:prstGeom>
          <a:noFill/>
          <a:ln w="0">
            <a:noFill/>
          </a:ln>
        </p:spPr>
        <p:txBody>
          <a:bodyPr wrap="square" lIns="0" tIns="0" rIns="0" bIns="0" anchor="t">
            <a:noAutofit/>
          </a:bodyPr>
          <a:lstStyle/>
          <a:p>
            <a:pPr algn="l">
              <a:defRPr sz="1350" b="0" i="0">
                <a:solidFill>
                  <a:srgbClr val="172033"/>
                </a:solidFill>
                <a:latin typeface="Helvetica Neue"/>
                <a:ea typeface="Helvetica Neue"/>
                <a:cs typeface="Helvetica Neue"/>
              </a:defRPr>
            </a:pPr>
            <a:r>
              <a:rPr sz="1350" b="0" i="0">
                <a:solidFill>
                  <a:srgbClr val="172033"/>
                </a:solidFill>
                <a:latin typeface="Helvetica Neue"/>
                <a:ea typeface="Helvetica Neue"/>
                <a:cs typeface="Helvetica Neue"/>
              </a:rPr>
              <a:t>Natural language processing</a:t>
            </a:r>
          </a:p>
        </p:txBody>
      </p:sp>
      <p:sp>
        <p:nvSpPr>
          <p:cNvPr id="27" name="Rectangle 26">
            <a:extLst>
              <a:ext uri="{FF2B5EF4-FFF2-40B4-BE49-F238E27FC236}">
                <a16:creationId xmlns:a16="http://schemas.microsoft.com/office/drawing/2014/main" id="{FDE66D80-0405-4C28-AC8A-96FE68F90216}"/>
              </a:ext>
            </a:extLst>
          </p:cNvPr>
          <p:cNvSpPr>
            <a:spLocks noGrp="1"/>
          </p:cNvSpPr>
          <p:nvPr/>
        </p:nvSpPr>
        <p:spPr>
          <a:xfrm>
            <a:off x="8915400" y="2533650"/>
            <a:ext cx="2381250" cy="314325"/>
          </a:xfrm>
          <a:prstGeom prst="rect">
            <a:avLst/>
          </a:prstGeom>
          <a:noFill/>
          <a:ln w="0">
            <a:noFill/>
          </a:ln>
        </p:spPr>
        <p:txBody>
          <a:bodyPr wrap="square" lIns="0" tIns="0" rIns="0" bIns="0" anchor="t">
            <a:noAutofit/>
          </a:bodyPr>
          <a:lstStyle/>
          <a:p>
            <a:pPr algn="l">
              <a:defRPr sz="1350" b="0" i="0">
                <a:solidFill>
                  <a:srgbClr val="172033"/>
                </a:solidFill>
                <a:latin typeface="Helvetica Neue"/>
                <a:ea typeface="Helvetica Neue"/>
                <a:cs typeface="Helvetica Neue"/>
              </a:defRPr>
            </a:pPr>
            <a:r>
              <a:rPr sz="1350" b="0" i="0">
                <a:solidFill>
                  <a:srgbClr val="172033"/>
                </a:solidFill>
                <a:latin typeface="Helvetica Neue"/>
                <a:ea typeface="Helvetica Neue"/>
                <a:cs typeface="Helvetica Neue"/>
              </a:rPr>
              <a:t>Machine learning</a:t>
            </a:r>
          </a:p>
        </p:txBody>
      </p:sp>
      <p:sp>
        <p:nvSpPr>
          <p:cNvPr id="28" name="Rectangle 27">
            <a:extLst>
              <a:ext uri="{FF2B5EF4-FFF2-40B4-BE49-F238E27FC236}">
                <a16:creationId xmlns:a16="http://schemas.microsoft.com/office/drawing/2014/main" id="{E1EC41FE-081D-4266-8E4A-63AD2038FF7F}"/>
              </a:ext>
            </a:extLst>
          </p:cNvPr>
          <p:cNvSpPr>
            <a:spLocks noGrp="1"/>
          </p:cNvSpPr>
          <p:nvPr/>
        </p:nvSpPr>
        <p:spPr>
          <a:xfrm>
            <a:off x="8915400" y="2876550"/>
            <a:ext cx="2381250" cy="314325"/>
          </a:xfrm>
          <a:prstGeom prst="rect">
            <a:avLst/>
          </a:prstGeom>
          <a:noFill/>
          <a:ln w="0">
            <a:noFill/>
          </a:ln>
        </p:spPr>
        <p:txBody>
          <a:bodyPr wrap="square" lIns="0" tIns="0" rIns="0" bIns="0" anchor="t">
            <a:noAutofit/>
          </a:bodyPr>
          <a:lstStyle/>
          <a:p>
            <a:pPr algn="l">
              <a:defRPr sz="1350" b="0" i="0">
                <a:solidFill>
                  <a:srgbClr val="172033"/>
                </a:solidFill>
                <a:latin typeface="Helvetica Neue"/>
                <a:ea typeface="Helvetica Neue"/>
                <a:cs typeface="Helvetica Neue"/>
              </a:defRPr>
            </a:pPr>
            <a:r>
              <a:rPr sz="1350" b="0" i="0" dirty="0">
                <a:solidFill>
                  <a:srgbClr val="172033"/>
                </a:solidFill>
                <a:latin typeface="Helvetica Neue"/>
                <a:ea typeface="Helvetica Neue"/>
                <a:cs typeface="Helvetica Neue"/>
              </a:rPr>
              <a:t>Web development</a:t>
            </a:r>
            <a:endParaRPr lang="en-US" sz="1350" b="0" i="0" dirty="0">
              <a:solidFill>
                <a:srgbClr val="172033"/>
              </a:solidFill>
              <a:latin typeface="Helvetica Neue"/>
              <a:ea typeface="Helvetica Neue"/>
              <a:cs typeface="Helvetica Neue"/>
            </a:endParaRPr>
          </a:p>
          <a:p>
            <a:pPr algn="l">
              <a:defRPr sz="1350" b="0" i="0">
                <a:solidFill>
                  <a:srgbClr val="172033"/>
                </a:solidFill>
                <a:latin typeface="Helvetica Neue"/>
                <a:ea typeface="Helvetica Neue"/>
                <a:cs typeface="Helvetica Neue"/>
              </a:defRPr>
            </a:pPr>
            <a:endParaRPr lang="en-US" sz="1350" dirty="0">
              <a:solidFill>
                <a:srgbClr val="172033"/>
              </a:solidFill>
              <a:latin typeface="Helvetica Neue"/>
              <a:ea typeface="Helvetica Neue"/>
              <a:cs typeface="Helvetica Neue"/>
            </a:endParaRPr>
          </a:p>
          <a:p>
            <a:pPr algn="l">
              <a:defRPr sz="1350" b="0" i="0">
                <a:solidFill>
                  <a:srgbClr val="172033"/>
                </a:solidFill>
                <a:latin typeface="Helvetica Neue"/>
                <a:ea typeface="Helvetica Neue"/>
                <a:cs typeface="Helvetica Neue"/>
              </a:defRPr>
            </a:pPr>
            <a:r>
              <a:rPr lang="en-US" sz="1350" b="0" i="0" dirty="0">
                <a:solidFill>
                  <a:srgbClr val="172033"/>
                </a:solidFill>
                <a:latin typeface="Helvetica Neue"/>
                <a:ea typeface="Helvetica Neue"/>
                <a:cs typeface="Helvetica Neue"/>
              </a:rPr>
              <a:t>Agile Software Development</a:t>
            </a:r>
            <a:endParaRPr sz="1350" b="0" i="0" dirty="0">
              <a:solidFill>
                <a:srgbClr val="172033"/>
              </a:solidFill>
              <a:latin typeface="Helvetica Neue"/>
              <a:ea typeface="Helvetica Neue"/>
              <a:cs typeface="Helvetica Neue"/>
            </a:endParaRPr>
          </a:p>
        </p:txBody>
      </p:sp>
      <p:sp>
        <p:nvSpPr>
          <p:cNvPr id="29" name="Rectangle 28">
            <a:extLst>
              <a:ext uri="{FF2B5EF4-FFF2-40B4-BE49-F238E27FC236}">
                <a16:creationId xmlns:a16="http://schemas.microsoft.com/office/drawing/2014/main" id="{0D85DC75-290D-4DC4-BE1D-BB9ECCDC282F}"/>
              </a:ext>
            </a:extLst>
          </p:cNvPr>
          <p:cNvSpPr>
            <a:spLocks noGrp="1"/>
          </p:cNvSpPr>
          <p:nvPr/>
        </p:nvSpPr>
        <p:spPr>
          <a:xfrm>
            <a:off x="6429375" y="3733800"/>
            <a:ext cx="2476500" cy="228600"/>
          </a:xfrm>
          <a:prstGeom prst="rect">
            <a:avLst/>
          </a:prstGeom>
          <a:noFill/>
          <a:ln w="0">
            <a:noFill/>
          </a:ln>
        </p:spPr>
        <p:txBody>
          <a:bodyPr wrap="square" lIns="0" tIns="0" rIns="0" bIns="0" anchor="t">
            <a:noAutofit/>
          </a:bodyPr>
          <a:lstStyle/>
          <a:p>
            <a:pPr algn="l">
              <a:defRPr sz="1275" b="1" i="0">
                <a:solidFill>
                  <a:srgbClr val="4F46E5"/>
                </a:solidFill>
                <a:latin typeface="Helvetica Neue"/>
                <a:ea typeface="Helvetica Neue"/>
                <a:cs typeface="Helvetica Neue"/>
              </a:defRPr>
            </a:pPr>
            <a:r>
              <a:rPr sz="1275" b="1" i="0">
                <a:solidFill>
                  <a:srgbClr val="4F46E5"/>
                </a:solidFill>
                <a:latin typeface="Helvetica Neue"/>
                <a:ea typeface="Helvetica Neue"/>
                <a:cs typeface="Helvetica Neue"/>
              </a:rPr>
              <a:t>COMPETITION</a:t>
            </a:r>
          </a:p>
        </p:txBody>
      </p:sp>
      <p:sp>
        <p:nvSpPr>
          <p:cNvPr id="30" name="Rectangle 29">
            <a:extLst>
              <a:ext uri="{FF2B5EF4-FFF2-40B4-BE49-F238E27FC236}">
                <a16:creationId xmlns:a16="http://schemas.microsoft.com/office/drawing/2014/main" id="{594FE890-9675-48C5-8306-9C2F0E5D2918}"/>
              </a:ext>
            </a:extLst>
          </p:cNvPr>
          <p:cNvSpPr>
            <a:spLocks noGrp="1"/>
          </p:cNvSpPr>
          <p:nvPr/>
        </p:nvSpPr>
        <p:spPr>
          <a:xfrm>
            <a:off x="6429375" y="3990975"/>
            <a:ext cx="4762500" cy="266700"/>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ECPC programming competition</a:t>
            </a:r>
          </a:p>
        </p:txBody>
      </p:sp>
      <p:sp>
        <p:nvSpPr>
          <p:cNvPr id="31" name="Straight Connector 30">
            <a:extLst>
              <a:ext uri="{FF2B5EF4-FFF2-40B4-BE49-F238E27FC236}">
                <a16:creationId xmlns:a16="http://schemas.microsoft.com/office/drawing/2014/main" id="{7C6E9D16-7ED1-4C84-9054-7362B36CFBFB}"/>
              </a:ext>
            </a:extLst>
          </p:cNvPr>
          <p:cNvSpPr>
            <a:spLocks noGrp="1"/>
          </p:cNvSpPr>
          <p:nvPr/>
        </p:nvSpPr>
        <p:spPr>
          <a:xfrm>
            <a:off x="685800" y="4419600"/>
            <a:ext cx="10820400" cy="9525"/>
          </a:xfrm>
          <a:prstGeom prst="line">
            <a:avLst/>
          </a:prstGeom>
          <a:noFill/>
          <a:ln w="19050">
            <a:solidFill>
              <a:srgbClr val="D9DEEA"/>
            </a:solidFill>
          </a:ln>
        </p:spPr>
        <p:txBody>
          <a:bodyPr/>
          <a:lstStyle/>
          <a:p>
            <a:endParaRPr lang="en-US"/>
          </a:p>
        </p:txBody>
      </p:sp>
      <p:sp>
        <p:nvSpPr>
          <p:cNvPr id="32" name="Rectangle 31">
            <a:extLst>
              <a:ext uri="{FF2B5EF4-FFF2-40B4-BE49-F238E27FC236}">
                <a16:creationId xmlns:a16="http://schemas.microsoft.com/office/drawing/2014/main" id="{CC0D5F3B-D29E-458F-A3C2-C4DF01C113CF}"/>
              </a:ext>
            </a:extLst>
          </p:cNvPr>
          <p:cNvSpPr>
            <a:spLocks noGrp="1"/>
          </p:cNvSpPr>
          <p:nvPr/>
        </p:nvSpPr>
        <p:spPr>
          <a:xfrm>
            <a:off x="685800" y="4600575"/>
            <a:ext cx="4762500" cy="238125"/>
          </a:xfrm>
          <a:prstGeom prst="rect">
            <a:avLst/>
          </a:prstGeom>
          <a:noFill/>
          <a:ln w="0">
            <a:noFill/>
          </a:ln>
        </p:spPr>
        <p:txBody>
          <a:bodyPr wrap="square" lIns="0" tIns="0" rIns="0" bIns="0" anchor="t">
            <a:noAutofit/>
          </a:bodyPr>
          <a:lstStyle/>
          <a:p>
            <a:pPr algn="l">
              <a:defRPr sz="1275" b="1" i="0">
                <a:solidFill>
                  <a:srgbClr val="4F46E5"/>
                </a:solidFill>
                <a:latin typeface="Helvetica Neue"/>
                <a:ea typeface="Helvetica Neue"/>
                <a:cs typeface="Helvetica Neue"/>
              </a:defRPr>
            </a:pPr>
            <a:r>
              <a:rPr sz="1275" b="1" i="0" dirty="0">
                <a:solidFill>
                  <a:srgbClr val="4F46E5"/>
                </a:solidFill>
                <a:latin typeface="Helvetica Neue"/>
                <a:ea typeface="Helvetica Neue"/>
                <a:cs typeface="Helvetica Neue"/>
              </a:rPr>
              <a:t>PROJECTS</a:t>
            </a:r>
          </a:p>
        </p:txBody>
      </p:sp>
      <p:sp>
        <p:nvSpPr>
          <p:cNvPr id="33" name="Rectangle 32">
            <a:extLst>
              <a:ext uri="{FF2B5EF4-FFF2-40B4-BE49-F238E27FC236}">
                <a16:creationId xmlns:a16="http://schemas.microsoft.com/office/drawing/2014/main" id="{55E5E40D-98C1-4603-9BD1-D04C5C595BBC}"/>
              </a:ext>
            </a:extLst>
          </p:cNvPr>
          <p:cNvSpPr>
            <a:spLocks noGrp="1"/>
          </p:cNvSpPr>
          <p:nvPr/>
        </p:nvSpPr>
        <p:spPr>
          <a:xfrm>
            <a:off x="714375" y="4963926"/>
            <a:ext cx="4953000" cy="266700"/>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dirty="0" err="1">
                <a:solidFill>
                  <a:srgbClr val="172033"/>
                </a:solidFill>
                <a:latin typeface="Helvetica Neue"/>
                <a:ea typeface="Helvetica Neue"/>
                <a:cs typeface="Helvetica Neue"/>
              </a:rPr>
              <a:t>Baseet.ai</a:t>
            </a:r>
            <a:endParaRPr sz="1425" b="0" i="0" dirty="0">
              <a:solidFill>
                <a:srgbClr val="172033"/>
              </a:solidFill>
              <a:latin typeface="Helvetica Neue"/>
              <a:ea typeface="Helvetica Neue"/>
              <a:cs typeface="Helvetica Neue"/>
            </a:endParaRPr>
          </a:p>
        </p:txBody>
      </p:sp>
      <p:sp>
        <p:nvSpPr>
          <p:cNvPr id="34" name="Rectangle 33">
            <a:extLst>
              <a:ext uri="{FF2B5EF4-FFF2-40B4-BE49-F238E27FC236}">
                <a16:creationId xmlns:a16="http://schemas.microsoft.com/office/drawing/2014/main" id="{92E30279-E189-4848-8394-1A53262B2DD1}"/>
              </a:ext>
            </a:extLst>
          </p:cNvPr>
          <p:cNvSpPr>
            <a:spLocks noGrp="1"/>
          </p:cNvSpPr>
          <p:nvPr/>
        </p:nvSpPr>
        <p:spPr>
          <a:xfrm>
            <a:off x="685800" y="5257800"/>
            <a:ext cx="4953000" cy="266700"/>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a:solidFill>
                  <a:srgbClr val="172033"/>
                </a:solidFill>
                <a:latin typeface="Helvetica Neue"/>
                <a:ea typeface="Helvetica Neue"/>
                <a:cs typeface="Helvetica Neue"/>
              </a:rPr>
              <a:t>Distributed RAG system</a:t>
            </a:r>
          </a:p>
        </p:txBody>
      </p:sp>
      <p:sp>
        <p:nvSpPr>
          <p:cNvPr id="35" name="Rectangle 34">
            <a:extLst>
              <a:ext uri="{FF2B5EF4-FFF2-40B4-BE49-F238E27FC236}">
                <a16:creationId xmlns:a16="http://schemas.microsoft.com/office/drawing/2014/main" id="{53A9CA57-5837-48BC-BA4B-6D3CD4CC89B5}"/>
              </a:ext>
            </a:extLst>
          </p:cNvPr>
          <p:cNvSpPr>
            <a:spLocks noGrp="1"/>
          </p:cNvSpPr>
          <p:nvPr/>
        </p:nvSpPr>
        <p:spPr>
          <a:xfrm>
            <a:off x="685800" y="5553075"/>
            <a:ext cx="5143500" cy="666750"/>
          </a:xfrm>
          <a:prstGeom prst="rect">
            <a:avLst/>
          </a:prstGeom>
          <a:noFill/>
          <a:ln w="0">
            <a:noFill/>
          </a:ln>
        </p:spPr>
        <p:txBody>
          <a:bodyPr wrap="square" lIns="0" tIns="0" rIns="0" bIns="0" anchor="t">
            <a:noAutofit/>
          </a:bodyPr>
          <a:lstStyle/>
          <a:p>
            <a:pPr algn="l">
              <a:defRPr sz="1275" b="0" i="0">
                <a:solidFill>
                  <a:srgbClr val="172033"/>
                </a:solidFill>
                <a:latin typeface="Helvetica Neue"/>
                <a:ea typeface="Helvetica Neue"/>
                <a:cs typeface="Helvetica Neue"/>
              </a:defRPr>
            </a:pPr>
            <a:r>
              <a:rPr sz="1275" b="0" i="0" dirty="0">
                <a:solidFill>
                  <a:srgbClr val="172033"/>
                </a:solidFill>
                <a:latin typeface="Helvetica Neue"/>
                <a:ea typeface="Helvetica Neue"/>
                <a:cs typeface="Helvetica Neue"/>
              </a:rPr>
              <a:t>Quote-Grounded Language Model Context for Football Starting Lineup Prediction: Measuring Rather Than Assuming Contamination (research paper)</a:t>
            </a:r>
          </a:p>
        </p:txBody>
      </p:sp>
      <p:sp>
        <p:nvSpPr>
          <p:cNvPr id="36" name="Rectangle 35">
            <a:extLst>
              <a:ext uri="{FF2B5EF4-FFF2-40B4-BE49-F238E27FC236}">
                <a16:creationId xmlns:a16="http://schemas.microsoft.com/office/drawing/2014/main" id="{B1EF80B1-FF7F-4C30-96AC-0FBB71F39469}"/>
              </a:ext>
            </a:extLst>
          </p:cNvPr>
          <p:cNvSpPr>
            <a:spLocks noGrp="1"/>
          </p:cNvSpPr>
          <p:nvPr/>
        </p:nvSpPr>
        <p:spPr>
          <a:xfrm>
            <a:off x="6334125" y="4943475"/>
            <a:ext cx="5143500" cy="266700"/>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dirty="0">
                <a:solidFill>
                  <a:srgbClr val="172033"/>
                </a:solidFill>
                <a:latin typeface="Helvetica Neue"/>
                <a:ea typeface="Helvetica Neue"/>
                <a:cs typeface="Helvetica Neue"/>
              </a:rPr>
              <a:t>User </a:t>
            </a:r>
            <a:r>
              <a:rPr sz="1425" b="0" i="0" dirty="0" err="1">
                <a:solidFill>
                  <a:srgbClr val="172033"/>
                </a:solidFill>
                <a:latin typeface="Helvetica Neue"/>
                <a:ea typeface="Helvetica Neue"/>
                <a:cs typeface="Helvetica Neue"/>
              </a:rPr>
              <a:t>behaviour</a:t>
            </a:r>
            <a:r>
              <a:rPr sz="1425" b="0" i="0" dirty="0">
                <a:solidFill>
                  <a:srgbClr val="172033"/>
                </a:solidFill>
                <a:latin typeface="Helvetica Neue"/>
                <a:ea typeface="Helvetica Neue"/>
                <a:cs typeface="Helvetica Neue"/>
              </a:rPr>
              <a:t> telemetry analysis framework</a:t>
            </a:r>
          </a:p>
        </p:txBody>
      </p:sp>
      <p:sp>
        <p:nvSpPr>
          <p:cNvPr id="37" name="Rectangle 36">
            <a:extLst>
              <a:ext uri="{FF2B5EF4-FFF2-40B4-BE49-F238E27FC236}">
                <a16:creationId xmlns:a16="http://schemas.microsoft.com/office/drawing/2014/main" id="{9CDEBB73-06FA-4E4D-972D-E4855FD38043}"/>
              </a:ext>
            </a:extLst>
          </p:cNvPr>
          <p:cNvSpPr>
            <a:spLocks noGrp="1"/>
          </p:cNvSpPr>
          <p:nvPr/>
        </p:nvSpPr>
        <p:spPr>
          <a:xfrm>
            <a:off x="6334125" y="5257800"/>
            <a:ext cx="5143500" cy="266700"/>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lang="en-US" sz="1425" b="0" i="0" dirty="0">
                <a:solidFill>
                  <a:srgbClr val="172033"/>
                </a:solidFill>
                <a:latin typeface="Helvetica Neue"/>
                <a:ea typeface="Helvetica Neue"/>
                <a:cs typeface="Helvetica Neue"/>
              </a:rPr>
              <a:t>Reddit clone</a:t>
            </a:r>
          </a:p>
        </p:txBody>
      </p:sp>
      <p:sp>
        <p:nvSpPr>
          <p:cNvPr id="38" name="Rectangle 37">
            <a:extLst>
              <a:ext uri="{FF2B5EF4-FFF2-40B4-BE49-F238E27FC236}">
                <a16:creationId xmlns:a16="http://schemas.microsoft.com/office/drawing/2014/main" id="{C682C718-6D82-45D3-9D60-34F7EC64EF15}"/>
              </a:ext>
            </a:extLst>
          </p:cNvPr>
          <p:cNvSpPr>
            <a:spLocks noGrp="1"/>
          </p:cNvSpPr>
          <p:nvPr/>
        </p:nvSpPr>
        <p:spPr>
          <a:xfrm>
            <a:off x="6334125" y="5572125"/>
            <a:ext cx="5143500" cy="533400"/>
          </a:xfrm>
          <a:prstGeom prst="rect">
            <a:avLst/>
          </a:prstGeom>
          <a:noFill/>
          <a:ln w="0">
            <a:noFill/>
          </a:ln>
        </p:spPr>
        <p:txBody>
          <a:bodyPr wrap="square" lIns="0" tIns="0" rIns="0" bIns="0" anchor="t">
            <a:noAutofit/>
          </a:bodyPr>
          <a:lstStyle/>
          <a:p>
            <a:pPr algn="l">
              <a:defRPr sz="1425" b="0" i="0">
                <a:solidFill>
                  <a:srgbClr val="172033"/>
                </a:solidFill>
                <a:latin typeface="Helvetica Neue"/>
                <a:ea typeface="Helvetica Neue"/>
                <a:cs typeface="Helvetica Neue"/>
              </a:defRPr>
            </a:pPr>
            <a:r>
              <a:rPr sz="1425" b="0" i="0" dirty="0">
                <a:solidFill>
                  <a:srgbClr val="172033"/>
                </a:solidFill>
                <a:latin typeface="Helvetica Neue"/>
                <a:ea typeface="Helvetica Neue"/>
                <a:cs typeface="Helvetica Neue"/>
              </a:rPr>
              <a:t>MNIST classification using different ML models built from scratch</a:t>
            </a:r>
            <a:endParaRPr lang="en-US" sz="1425" b="0" i="0" dirty="0">
              <a:solidFill>
                <a:srgbClr val="172033"/>
              </a:solidFill>
              <a:latin typeface="Helvetica Neue"/>
              <a:ea typeface="Helvetica Neue"/>
              <a:cs typeface="Helvetica Neue"/>
            </a:endParaRPr>
          </a:p>
          <a:p>
            <a:pPr algn="l">
              <a:defRPr sz="1425" b="0" i="0">
                <a:solidFill>
                  <a:srgbClr val="172033"/>
                </a:solidFill>
                <a:latin typeface="Helvetica Neue"/>
                <a:ea typeface="Helvetica Neue"/>
                <a:cs typeface="Helvetica Neue"/>
              </a:defRPr>
            </a:pPr>
            <a:endParaRPr lang="en-US" sz="1425" b="0" i="0" dirty="0">
              <a:solidFill>
                <a:srgbClr val="172033"/>
              </a:solidFill>
              <a:latin typeface="Helvetica Neue"/>
              <a:ea typeface="Helvetica Neue"/>
              <a:cs typeface="Helvetica Neue"/>
            </a:endParaRPr>
          </a:p>
          <a:p>
            <a:pPr algn="l">
              <a:defRPr sz="1425" b="0" i="0">
                <a:solidFill>
                  <a:srgbClr val="172033"/>
                </a:solidFill>
                <a:latin typeface="Helvetica Neue"/>
                <a:ea typeface="Helvetica Neue"/>
                <a:cs typeface="Helvetica Neue"/>
              </a:defRPr>
            </a:pPr>
            <a:r>
              <a:rPr lang="en-US" sz="1425" dirty="0" err="1">
                <a:solidFill>
                  <a:srgbClr val="172033"/>
                </a:solidFill>
                <a:latin typeface="Helvetica Neue"/>
                <a:ea typeface="Helvetica Neue"/>
                <a:cs typeface="Helvetica Neue"/>
              </a:rPr>
              <a:t>ReelRadar</a:t>
            </a:r>
            <a:endParaRPr lang="en-US" sz="1425" dirty="0">
              <a:solidFill>
                <a:srgbClr val="172033"/>
              </a:solidFill>
              <a:latin typeface="Helvetica Neue"/>
              <a:ea typeface="Helvetica Neue"/>
              <a:cs typeface="Helvetica Neue"/>
            </a:endParaRPr>
          </a:p>
        </p:txBody>
      </p:sp>
      <p:sp>
        <p:nvSpPr>
          <p:cNvPr id="39" name="Straight Connector 38">
            <a:extLst>
              <a:ext uri="{FF2B5EF4-FFF2-40B4-BE49-F238E27FC236}">
                <a16:creationId xmlns:a16="http://schemas.microsoft.com/office/drawing/2014/main" id="{69AE9A95-1831-4F62-9AF3-E05186712104}"/>
              </a:ext>
            </a:extLst>
          </p:cNvPr>
          <p:cNvSpPr>
            <a:spLocks noGrp="1"/>
          </p:cNvSpPr>
          <p:nvPr/>
        </p:nvSpPr>
        <p:spPr>
          <a:xfrm>
            <a:off x="685800" y="6467475"/>
            <a:ext cx="10820400" cy="9525"/>
          </a:xfrm>
          <a:prstGeom prst="line">
            <a:avLst/>
          </a:prstGeom>
          <a:noFill/>
          <a:ln w="9525">
            <a:solidFill>
              <a:srgbClr val="D9DEEA"/>
            </a:solidFill>
          </a:ln>
        </p:spPr>
        <p:txBody>
          <a:bodyPr/>
          <a:lstStyle/>
          <a:p>
            <a:endParaRPr lang="en-US"/>
          </a:p>
        </p:txBody>
      </p:sp>
      <p:sp>
        <p:nvSpPr>
          <p:cNvPr id="40" name="Rectangle 39">
            <a:extLst>
              <a:ext uri="{FF2B5EF4-FFF2-40B4-BE49-F238E27FC236}">
                <a16:creationId xmlns:a16="http://schemas.microsoft.com/office/drawing/2014/main" id="{3F86CF26-A460-4DC6-A1DB-B0C510CBEBAA}"/>
              </a:ext>
            </a:extLst>
          </p:cNvPr>
          <p:cNvSpPr>
            <a:spLocks noGrp="1"/>
          </p:cNvSpPr>
          <p:nvPr/>
        </p:nvSpPr>
        <p:spPr>
          <a:xfrm>
            <a:off x="685800" y="6553200"/>
            <a:ext cx="4762500" cy="171450"/>
          </a:xfrm>
          <a:prstGeom prst="rect">
            <a:avLst/>
          </a:prstGeom>
          <a:noFill/>
          <a:ln w="0">
            <a:noFill/>
          </a:ln>
        </p:spPr>
        <p:txBody>
          <a:bodyPr wrap="square" lIns="0" tIns="0" rIns="0" bIns="0" anchor="t">
            <a:noAutofit/>
          </a:bodyPr>
          <a:lstStyle/>
          <a:p>
            <a:pPr algn="l">
              <a:defRPr sz="900" b="0" i="0">
                <a:solidFill>
                  <a:srgbClr val="5B6475"/>
                </a:solidFill>
                <a:latin typeface="Helvetica Neue"/>
                <a:ea typeface="Helvetica Neue"/>
                <a:cs typeface="Helvetica Neue"/>
              </a:defRPr>
            </a:pPr>
            <a:r>
              <a:rPr sz="900" b="0" i="0">
                <a:solidFill>
                  <a:srgbClr val="5B6475"/>
                </a:solidFill>
                <a:latin typeface="Helvetica Neue"/>
                <a:ea typeface="Helvetica Neue"/>
                <a:cs typeface="Helvetica Neue"/>
              </a:rPr>
              <a:t>Finaira sponsorship interview</a:t>
            </a:r>
          </a:p>
        </p:txBody>
      </p:sp>
      <p:sp>
        <p:nvSpPr>
          <p:cNvPr id="41" name="Rectangle 40">
            <a:extLst>
              <a:ext uri="{FF2B5EF4-FFF2-40B4-BE49-F238E27FC236}">
                <a16:creationId xmlns:a16="http://schemas.microsoft.com/office/drawing/2014/main" id="{B4DA54C9-FB30-4A37-90B6-A18EFAEFB0BA}"/>
              </a:ext>
            </a:extLst>
          </p:cNvPr>
          <p:cNvSpPr>
            <a:spLocks noGrp="1"/>
          </p:cNvSpPr>
          <p:nvPr/>
        </p:nvSpPr>
        <p:spPr>
          <a:xfrm>
            <a:off x="11096625" y="6553200"/>
            <a:ext cx="409575" cy="171450"/>
          </a:xfrm>
          <a:prstGeom prst="rect">
            <a:avLst/>
          </a:prstGeom>
          <a:noFill/>
          <a:ln w="0">
            <a:noFill/>
          </a:ln>
        </p:spPr>
        <p:txBody>
          <a:bodyPr wrap="square" lIns="0" tIns="0" rIns="0" bIns="0" anchor="t">
            <a:noAutofit/>
          </a:bodyPr>
          <a:lstStyle/>
          <a:p>
            <a:pPr algn="r">
              <a:defRPr sz="900" b="1" i="0">
                <a:solidFill>
                  <a:srgbClr val="5B6475"/>
                </a:solidFill>
                <a:latin typeface="Helvetica Neue"/>
                <a:ea typeface="Helvetica Neue"/>
                <a:cs typeface="Helvetica Neue"/>
              </a:defRPr>
            </a:pPr>
            <a:r>
              <a:rPr sz="900" b="1" i="0">
                <a:solidFill>
                  <a:srgbClr val="5B6475"/>
                </a:solidFill>
                <a:latin typeface="Helvetica Neue"/>
                <a:ea typeface="Helvetica Neue"/>
                <a:cs typeface="Helvetica Neue"/>
              </a:rPr>
              <a:t>03</a:t>
            </a:r>
          </a:p>
        </p:txBody>
      </p:sp>
      <p:pic>
        <p:nvPicPr>
          <p:cNvPr id="100" name="Logo Al_Ahly_Momken"/>
          <p:cNvPicPr>
            <a:picLocks noChangeAspect="1"/>
          </p:cNvPicPr>
          <p:nvPr/>
        </p:nvPicPr>
        <p:blipFill>
          <a:blip r:embed="rId3"/>
          <a:stretch>
            <a:fillRect/>
          </a:stretch>
        </p:blipFill>
        <p:spPr>
          <a:xfrm>
            <a:off x="704850" y="1866438"/>
            <a:ext cx="220000" cy="220000"/>
          </a:xfrm>
          <a:prstGeom prst="rect">
            <a:avLst/>
          </a:prstGeom>
        </p:spPr>
      </p:pic>
      <p:pic>
        <p:nvPicPr>
          <p:cNvPr id="101" name="Logo El_Sweedy_Electronics"/>
          <p:cNvPicPr>
            <a:picLocks noChangeAspect="1"/>
          </p:cNvPicPr>
          <p:nvPr/>
        </p:nvPicPr>
        <p:blipFill>
          <a:blip r:embed="rId4"/>
          <a:stretch>
            <a:fillRect/>
          </a:stretch>
        </p:blipFill>
        <p:spPr>
          <a:xfrm>
            <a:off x="704850" y="2220726"/>
            <a:ext cx="300000" cy="121023"/>
          </a:xfrm>
          <a:prstGeom prst="rect">
            <a:avLst/>
          </a:prstGeom>
        </p:spPr>
      </p:pic>
      <p:pic>
        <p:nvPicPr>
          <p:cNvPr id="102" name="Logo Cellula"/>
          <p:cNvPicPr>
            <a:picLocks noChangeAspect="1"/>
          </p:cNvPicPr>
          <p:nvPr/>
        </p:nvPicPr>
        <p:blipFill>
          <a:blip r:embed="rId5"/>
          <a:stretch>
            <a:fillRect/>
          </a:stretch>
        </p:blipFill>
        <p:spPr>
          <a:xfrm>
            <a:off x="704850" y="2490268"/>
            <a:ext cx="300000" cy="191538"/>
          </a:xfrm>
          <a:prstGeom prst="rect">
            <a:avLst/>
          </a:prstGeom>
        </p:spPr>
      </p:pic>
      <p:pic>
        <p:nvPicPr>
          <p:cNvPr id="103" name="Logo VOIS"/>
          <p:cNvPicPr>
            <a:picLocks noChangeAspect="1"/>
          </p:cNvPicPr>
          <p:nvPr/>
        </p:nvPicPr>
        <p:blipFill>
          <a:blip r:embed="rId6"/>
          <a:stretch>
            <a:fillRect/>
          </a:stretch>
        </p:blipFill>
        <p:spPr>
          <a:xfrm>
            <a:off x="704850" y="2780838"/>
            <a:ext cx="220000" cy="220000"/>
          </a:xfrm>
          <a:prstGeom prst="rect">
            <a:avLst/>
          </a:prstGeom>
        </p:spPr>
      </p:pic>
      <p:pic>
        <p:nvPicPr>
          <p:cNvPr id="104" name="Logo eand"/>
          <p:cNvPicPr>
            <a:picLocks noChangeAspect="1"/>
          </p:cNvPicPr>
          <p:nvPr/>
        </p:nvPicPr>
        <p:blipFill>
          <a:blip r:embed="rId7"/>
          <a:stretch>
            <a:fillRect/>
          </a:stretch>
        </p:blipFill>
        <p:spPr>
          <a:xfrm>
            <a:off x="704850" y="3093824"/>
            <a:ext cx="300000" cy="203627"/>
          </a:xfrm>
          <a:prstGeom prst="rect">
            <a:avLst/>
          </a:prstGeom>
        </p:spPr>
      </p:pic>
      <p:pic>
        <p:nvPicPr>
          <p:cNvPr id="105" name="Logo Cyshield"/>
          <p:cNvPicPr>
            <a:picLocks noChangeAspect="1"/>
          </p:cNvPicPr>
          <p:nvPr/>
        </p:nvPicPr>
        <p:blipFill>
          <a:blip r:embed="rId8"/>
          <a:stretch>
            <a:fillRect/>
          </a:stretch>
        </p:blipFill>
        <p:spPr>
          <a:xfrm>
            <a:off x="704850" y="3473788"/>
            <a:ext cx="520000" cy="53300"/>
          </a:xfrm>
          <a:prstGeom prst="rect">
            <a:avLst/>
          </a:prstGeom>
        </p:spPr>
      </p:pic>
      <p:pic>
        <p:nvPicPr>
          <p:cNvPr id="106" name="Logo IZAM"/>
          <p:cNvPicPr>
            <a:picLocks noChangeAspect="1"/>
          </p:cNvPicPr>
          <p:nvPr/>
        </p:nvPicPr>
        <p:blipFill>
          <a:blip r:embed="rId9"/>
          <a:stretch>
            <a:fillRect/>
          </a:stretch>
        </p:blipFill>
        <p:spPr>
          <a:xfrm>
            <a:off x="704850" y="3747738"/>
            <a:ext cx="330470" cy="115000"/>
          </a:xfrm>
          <a:prstGeom prst="rect">
            <a:avLst/>
          </a:prstGeom>
        </p:spPr>
      </p:pic>
      <p:pic>
        <p:nvPicPr>
          <p:cNvPr id="107" name="Logo Cisco"/>
          <p:cNvPicPr>
            <a:picLocks noChangeAspect="1"/>
          </p:cNvPicPr>
          <p:nvPr/>
        </p:nvPicPr>
        <p:blipFill>
          <a:blip r:embed="rId10"/>
          <a:stretch>
            <a:fillRect/>
          </a:stretch>
        </p:blipFill>
        <p:spPr>
          <a:xfrm>
            <a:off x="3333750" y="1889438"/>
            <a:ext cx="300000" cy="174000"/>
          </a:xfrm>
          <a:prstGeom prst="rect">
            <a:avLst/>
          </a:prstGeom>
        </p:spPr>
      </p:pic>
      <p:pic>
        <p:nvPicPr>
          <p:cNvPr id="108" name="Logo Ejada"/>
          <p:cNvPicPr>
            <a:picLocks noChangeAspect="1"/>
          </p:cNvPicPr>
          <p:nvPr/>
        </p:nvPicPr>
        <p:blipFill>
          <a:blip r:embed="rId11"/>
          <a:stretch>
            <a:fillRect/>
          </a:stretch>
        </p:blipFill>
        <p:spPr>
          <a:xfrm>
            <a:off x="3333750" y="2223738"/>
            <a:ext cx="310388" cy="115000"/>
          </a:xfrm>
          <a:prstGeom prst="rect">
            <a:avLst/>
          </a:prstGeom>
        </p:spPr>
      </p:pic>
      <p:pic>
        <p:nvPicPr>
          <p:cNvPr id="109" name="Logo Klickit"/>
          <p:cNvPicPr>
            <a:picLocks noChangeAspect="1"/>
          </p:cNvPicPr>
          <p:nvPr/>
        </p:nvPicPr>
        <p:blipFill>
          <a:blip r:embed="rId12"/>
          <a:stretch>
            <a:fillRect/>
          </a:stretch>
        </p:blipFill>
        <p:spPr>
          <a:xfrm>
            <a:off x="3333750" y="2528538"/>
            <a:ext cx="377654" cy="115000"/>
          </a:xfrm>
          <a:prstGeom prst="rect">
            <a:avLst/>
          </a:prstGeom>
        </p:spPr>
      </p:pic>
      <p:pic>
        <p:nvPicPr>
          <p:cNvPr id="110" name="Logo Xyris_Digital_Solutions"/>
          <p:cNvPicPr>
            <a:picLocks noChangeAspect="1"/>
          </p:cNvPicPr>
          <p:nvPr/>
        </p:nvPicPr>
        <p:blipFill>
          <a:blip r:embed="rId13"/>
          <a:stretch>
            <a:fillRect/>
          </a:stretch>
        </p:blipFill>
        <p:spPr>
          <a:xfrm>
            <a:off x="3333750" y="2810515"/>
            <a:ext cx="300000" cy="160645"/>
          </a:xfrm>
          <a:prstGeom prst="rect">
            <a:avLst/>
          </a:prstGeom>
        </p:spPr>
      </p:pic>
      <p:pic>
        <p:nvPicPr>
          <p:cNvPr id="111" name="Logo Siemens"/>
          <p:cNvPicPr>
            <a:picLocks noChangeAspect="1"/>
          </p:cNvPicPr>
          <p:nvPr/>
        </p:nvPicPr>
        <p:blipFill>
          <a:blip r:embed="rId14"/>
          <a:stretch>
            <a:fillRect/>
          </a:stretch>
        </p:blipFill>
        <p:spPr>
          <a:xfrm>
            <a:off x="3333750" y="3148838"/>
            <a:ext cx="520000" cy="93600"/>
          </a:xfrm>
          <a:prstGeom prst="rect">
            <a:avLst/>
          </a:prstGeom>
        </p:spPr>
      </p:pic>
      <p:pic>
        <p:nvPicPr>
          <p:cNvPr id="112" name="Logo Pixelogic_Media"/>
          <p:cNvPicPr>
            <a:picLocks noChangeAspect="1"/>
          </p:cNvPicPr>
          <p:nvPr/>
        </p:nvPicPr>
        <p:blipFill>
          <a:blip r:embed="rId15"/>
          <a:stretch>
            <a:fillRect/>
          </a:stretch>
        </p:blipFill>
        <p:spPr>
          <a:xfrm>
            <a:off x="3343582" y="3453719"/>
            <a:ext cx="520000" cy="93438"/>
          </a:xfrm>
          <a:prstGeom prst="rect">
            <a:avLst/>
          </a:prstGeom>
        </p:spPr>
      </p:pic>
    </p:spTree>
    <p:extLst>
      <p:ext uri="{BB962C8B-B14F-4D97-AF65-F5344CB8AC3E}">
        <p14:creationId xmlns:p14="http://schemas.microsoft.com/office/powerpoint/2010/main" val="28530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FF14375-77BA-4B2A-9EC1-7F0EA6338E61}"/>
              </a:ext>
            </a:extLst>
          </p:cNvPr>
          <p:cNvSpPr>
            <a:spLocks noGrp="1"/>
          </p:cNvSpPr>
          <p:nvPr/>
        </p:nvSpPr>
        <p:spPr>
          <a:xfrm>
            <a:off x="0" y="0"/>
            <a:ext cx="12192000" cy="95250"/>
          </a:xfrm>
          <a:prstGeom prst="rect">
            <a:avLst/>
          </a:prstGeom>
          <a:solidFill>
            <a:srgbClr val="4F46E5"/>
          </a:solidFill>
          <a:ln w="0">
            <a:noFill/>
          </a:ln>
        </p:spPr>
        <p:txBody>
          <a:bodyPr/>
          <a:lstStyle/>
          <a:p>
            <a:endParaRPr lang="en-US"/>
          </a:p>
        </p:txBody>
      </p:sp>
      <p:sp>
        <p:nvSpPr>
          <p:cNvPr id="2" name="Rectangle 1">
            <a:extLst>
              <a:ext uri="{FF2B5EF4-FFF2-40B4-BE49-F238E27FC236}">
                <a16:creationId xmlns:a16="http://schemas.microsoft.com/office/drawing/2014/main" id="{53AEAC16-2B9C-4BB7-BF5A-4B6028F02860}"/>
              </a:ext>
            </a:extLst>
          </p:cNvPr>
          <p:cNvSpPr>
            <a:spLocks noGrp="1"/>
          </p:cNvSpPr>
          <p:nvPr/>
        </p:nvSpPr>
        <p:spPr>
          <a:xfrm>
            <a:off x="685800" y="361950"/>
            <a:ext cx="3333750" cy="238125"/>
          </a:xfrm>
          <a:prstGeom prst="rect">
            <a:avLst/>
          </a:prstGeom>
          <a:noFill/>
          <a:ln w="0">
            <a:noFill/>
          </a:ln>
        </p:spPr>
        <p:txBody>
          <a:bodyPr wrap="square" lIns="0" tIns="0" rIns="0" bIns="0" anchor="t">
            <a:noAutofit/>
          </a:bodyPr>
          <a:lstStyle/>
          <a:p>
            <a:pPr algn="l">
              <a:defRPr sz="1125" b="1" i="0">
                <a:solidFill>
                  <a:srgbClr val="4F46E5"/>
                </a:solidFill>
                <a:latin typeface="Helvetica Neue"/>
                <a:ea typeface="Helvetica Neue"/>
                <a:cs typeface="Helvetica Neue"/>
              </a:defRPr>
            </a:pPr>
            <a:r>
              <a:rPr sz="1125" b="1" i="0">
                <a:solidFill>
                  <a:srgbClr val="4F46E5"/>
                </a:solidFill>
                <a:latin typeface="Helvetica Neue"/>
                <a:ea typeface="Helvetica Neue"/>
                <a:cs typeface="Helvetica Neue"/>
              </a:rPr>
              <a:t>PART 2</a:t>
            </a:r>
          </a:p>
        </p:txBody>
      </p:sp>
      <p:sp>
        <p:nvSpPr>
          <p:cNvPr id="3" name="Rectangle 2">
            <a:extLst>
              <a:ext uri="{FF2B5EF4-FFF2-40B4-BE49-F238E27FC236}">
                <a16:creationId xmlns:a16="http://schemas.microsoft.com/office/drawing/2014/main" id="{EF2B5C94-4B07-42D5-9F12-04EA3D2612FE}"/>
              </a:ext>
            </a:extLst>
          </p:cNvPr>
          <p:cNvSpPr>
            <a:spLocks noGrp="1"/>
          </p:cNvSpPr>
          <p:nvPr/>
        </p:nvSpPr>
        <p:spPr>
          <a:xfrm>
            <a:off x="685800" y="638175"/>
            <a:ext cx="10820400" cy="619125"/>
          </a:xfrm>
          <a:prstGeom prst="rect">
            <a:avLst/>
          </a:prstGeom>
          <a:noFill/>
          <a:ln w="0">
            <a:noFill/>
          </a:ln>
        </p:spPr>
        <p:txBody>
          <a:bodyPr wrap="square" lIns="0" tIns="0" rIns="0" bIns="0" anchor="t">
            <a:noAutofit/>
          </a:bodyPr>
          <a:lstStyle/>
          <a:p>
            <a:pPr algn="l">
              <a:defRPr sz="3150" b="1" i="0">
                <a:solidFill>
                  <a:srgbClr val="172033"/>
                </a:solidFill>
                <a:latin typeface="Helvetica Neue"/>
                <a:ea typeface="Helvetica Neue"/>
                <a:cs typeface="Helvetica Neue"/>
              </a:defRPr>
            </a:pPr>
            <a:r>
              <a:rPr sz="3150" b="1" i="0">
                <a:solidFill>
                  <a:srgbClr val="172033"/>
                </a:solidFill>
                <a:latin typeface="Helvetica Neue"/>
                <a:ea typeface="Helvetica Neue"/>
                <a:cs typeface="Helvetica Neue"/>
              </a:rPr>
              <a:t>Why we chose AI in fintech</a:t>
            </a:r>
          </a:p>
        </p:txBody>
      </p:sp>
      <p:sp>
        <p:nvSpPr>
          <p:cNvPr id="4" name="Rectangle 3">
            <a:extLst>
              <a:ext uri="{FF2B5EF4-FFF2-40B4-BE49-F238E27FC236}">
                <a16:creationId xmlns:a16="http://schemas.microsoft.com/office/drawing/2014/main" id="{24845E97-94EE-47DA-BF4A-961BB51BE0E6}"/>
              </a:ext>
            </a:extLst>
          </p:cNvPr>
          <p:cNvSpPr>
            <a:spLocks noGrp="1"/>
          </p:cNvSpPr>
          <p:nvPr/>
        </p:nvSpPr>
        <p:spPr>
          <a:xfrm>
            <a:off x="685800" y="1571625"/>
            <a:ext cx="4476750" cy="257175"/>
          </a:xfrm>
          <a:prstGeom prst="rect">
            <a:avLst/>
          </a:prstGeom>
          <a:noFill/>
          <a:ln w="0">
            <a:noFill/>
          </a:ln>
        </p:spPr>
        <p:txBody>
          <a:bodyPr wrap="square" lIns="0" tIns="0" rIns="0" bIns="0" anchor="t">
            <a:noAutofit/>
          </a:bodyPr>
          <a:lstStyle/>
          <a:p>
            <a:pPr algn="l">
              <a:defRPr sz="1275" b="1" i="0">
                <a:solidFill>
                  <a:srgbClr val="4F46E5"/>
                </a:solidFill>
                <a:latin typeface="Helvetica Neue"/>
                <a:ea typeface="Helvetica Neue"/>
                <a:cs typeface="Helvetica Neue"/>
              </a:defRPr>
            </a:pPr>
            <a:r>
              <a:rPr sz="1275" b="1" i="0">
                <a:solidFill>
                  <a:srgbClr val="4F46E5"/>
                </a:solidFill>
                <a:latin typeface="Helvetica Neue"/>
                <a:ea typeface="Helvetica Neue"/>
                <a:cs typeface="Helvetica Neue"/>
              </a:rPr>
              <a:t>WHY THIS DOMAIN</a:t>
            </a:r>
          </a:p>
        </p:txBody>
      </p:sp>
      <p:sp>
        <p:nvSpPr>
          <p:cNvPr id="5" name="Oval 4">
            <a:extLst>
              <a:ext uri="{FF2B5EF4-FFF2-40B4-BE49-F238E27FC236}">
                <a16:creationId xmlns:a16="http://schemas.microsoft.com/office/drawing/2014/main" id="{C3702EC8-6EB2-4480-AD41-665FEE8AB8FA}"/>
              </a:ext>
            </a:extLst>
          </p:cNvPr>
          <p:cNvSpPr>
            <a:spLocks noGrp="1"/>
          </p:cNvSpPr>
          <p:nvPr/>
        </p:nvSpPr>
        <p:spPr>
          <a:xfrm>
            <a:off x="762000" y="2124075"/>
            <a:ext cx="95250" cy="95250"/>
          </a:xfrm>
          <a:prstGeom prst="ellipse">
            <a:avLst/>
          </a:prstGeom>
          <a:solidFill>
            <a:srgbClr val="4F46E5"/>
          </a:solidFill>
          <a:ln w="0">
            <a:noFill/>
          </a:ln>
        </p:spPr>
        <p:txBody>
          <a:bodyPr/>
          <a:lstStyle/>
          <a:p>
            <a:endParaRPr lang="en-US"/>
          </a:p>
        </p:txBody>
      </p:sp>
      <p:sp>
        <p:nvSpPr>
          <p:cNvPr id="6" name="Rectangle 5">
            <a:extLst>
              <a:ext uri="{FF2B5EF4-FFF2-40B4-BE49-F238E27FC236}">
                <a16:creationId xmlns:a16="http://schemas.microsoft.com/office/drawing/2014/main" id="{37F69041-A27C-4C60-8202-2D733CF05147}"/>
              </a:ext>
            </a:extLst>
          </p:cNvPr>
          <p:cNvSpPr>
            <a:spLocks noGrp="1"/>
          </p:cNvSpPr>
          <p:nvPr/>
        </p:nvSpPr>
        <p:spPr>
          <a:xfrm>
            <a:off x="1019175" y="2047875"/>
            <a:ext cx="4476750" cy="561975"/>
          </a:xfrm>
          <a:prstGeom prst="rect">
            <a:avLst/>
          </a:prstGeom>
          <a:noFill/>
          <a:ln w="0">
            <a:noFill/>
          </a:ln>
        </p:spPr>
        <p:txBody>
          <a:bodyPr wrap="square" lIns="0" tIns="0" rIns="0" bIns="0" anchor="t">
            <a:noAutofit/>
          </a:bodyPr>
          <a:lstStyle/>
          <a:p>
            <a:pPr algn="l">
              <a:defRPr sz="1650" b="0" i="0">
                <a:solidFill>
                  <a:srgbClr val="172033"/>
                </a:solidFill>
                <a:latin typeface="Helvetica Neue"/>
                <a:ea typeface="Helvetica Neue"/>
                <a:cs typeface="Helvetica Neue"/>
              </a:defRPr>
            </a:pPr>
            <a:r>
              <a:rPr sz="1650" b="0" i="0">
                <a:solidFill>
                  <a:srgbClr val="172033"/>
                </a:solidFill>
                <a:latin typeface="Helvetica Neue"/>
                <a:ea typeface="Helvetica Neue"/>
                <a:cs typeface="Helvetica Neue"/>
              </a:rPr>
              <a:t>A fast-moving area with strong practical demand</a:t>
            </a:r>
          </a:p>
        </p:txBody>
      </p:sp>
      <p:sp>
        <p:nvSpPr>
          <p:cNvPr id="7" name="Oval 6">
            <a:extLst>
              <a:ext uri="{FF2B5EF4-FFF2-40B4-BE49-F238E27FC236}">
                <a16:creationId xmlns:a16="http://schemas.microsoft.com/office/drawing/2014/main" id="{E7427678-3AE7-4202-A7A3-758BD57241E1}"/>
              </a:ext>
            </a:extLst>
          </p:cNvPr>
          <p:cNvSpPr>
            <a:spLocks noGrp="1"/>
          </p:cNvSpPr>
          <p:nvPr/>
        </p:nvSpPr>
        <p:spPr>
          <a:xfrm>
            <a:off x="762000" y="2847975"/>
            <a:ext cx="95250" cy="95250"/>
          </a:xfrm>
          <a:prstGeom prst="ellipse">
            <a:avLst/>
          </a:prstGeom>
          <a:solidFill>
            <a:srgbClr val="4F46E5"/>
          </a:solidFill>
          <a:ln w="0">
            <a:noFill/>
          </a:ln>
        </p:spPr>
        <p:txBody>
          <a:bodyPr/>
          <a:lstStyle/>
          <a:p>
            <a:endParaRPr lang="en-US"/>
          </a:p>
        </p:txBody>
      </p:sp>
      <p:sp>
        <p:nvSpPr>
          <p:cNvPr id="8" name="Rectangle 7">
            <a:extLst>
              <a:ext uri="{FF2B5EF4-FFF2-40B4-BE49-F238E27FC236}">
                <a16:creationId xmlns:a16="http://schemas.microsoft.com/office/drawing/2014/main" id="{62CE9638-582B-4F98-B42F-126469DDD5B3}"/>
              </a:ext>
            </a:extLst>
          </p:cNvPr>
          <p:cNvSpPr>
            <a:spLocks noGrp="1"/>
          </p:cNvSpPr>
          <p:nvPr/>
        </p:nvSpPr>
        <p:spPr>
          <a:xfrm>
            <a:off x="1019175" y="2771775"/>
            <a:ext cx="4476750" cy="561975"/>
          </a:xfrm>
          <a:prstGeom prst="rect">
            <a:avLst/>
          </a:prstGeom>
          <a:noFill/>
          <a:ln w="0">
            <a:noFill/>
          </a:ln>
        </p:spPr>
        <p:txBody>
          <a:bodyPr wrap="square" lIns="0" tIns="0" rIns="0" bIns="0" anchor="t">
            <a:noAutofit/>
          </a:bodyPr>
          <a:lstStyle/>
          <a:p>
            <a:pPr algn="l">
              <a:defRPr sz="1650" b="0" i="0">
                <a:solidFill>
                  <a:srgbClr val="172033"/>
                </a:solidFill>
                <a:latin typeface="Helvetica Neue"/>
                <a:ea typeface="Helvetica Neue"/>
                <a:cs typeface="Helvetica Neue"/>
              </a:defRPr>
            </a:pPr>
            <a:r>
              <a:rPr sz="1650" b="0" i="0">
                <a:solidFill>
                  <a:srgbClr val="172033"/>
                </a:solidFill>
                <a:latin typeface="Helvetica Neue"/>
                <a:ea typeface="Helvetica Neue"/>
                <a:cs typeface="Helvetica Neue"/>
              </a:rPr>
              <a:t>Open research questions in privacy and reliability</a:t>
            </a:r>
          </a:p>
        </p:txBody>
      </p:sp>
      <p:sp>
        <p:nvSpPr>
          <p:cNvPr id="9" name="Oval 8">
            <a:extLst>
              <a:ext uri="{FF2B5EF4-FFF2-40B4-BE49-F238E27FC236}">
                <a16:creationId xmlns:a16="http://schemas.microsoft.com/office/drawing/2014/main" id="{AAF421A3-A87D-4C5D-9706-5DDB293ECB27}"/>
              </a:ext>
            </a:extLst>
          </p:cNvPr>
          <p:cNvSpPr>
            <a:spLocks noGrp="1"/>
          </p:cNvSpPr>
          <p:nvPr/>
        </p:nvSpPr>
        <p:spPr>
          <a:xfrm>
            <a:off x="762000" y="3571875"/>
            <a:ext cx="95250" cy="95250"/>
          </a:xfrm>
          <a:prstGeom prst="ellipse">
            <a:avLst/>
          </a:prstGeom>
          <a:solidFill>
            <a:srgbClr val="4F46E5"/>
          </a:solidFill>
          <a:ln w="0">
            <a:noFill/>
          </a:ln>
        </p:spPr>
        <p:txBody>
          <a:bodyPr/>
          <a:lstStyle/>
          <a:p>
            <a:endParaRPr lang="en-US"/>
          </a:p>
        </p:txBody>
      </p:sp>
      <p:sp>
        <p:nvSpPr>
          <p:cNvPr id="10" name="Rectangle 9">
            <a:extLst>
              <a:ext uri="{FF2B5EF4-FFF2-40B4-BE49-F238E27FC236}">
                <a16:creationId xmlns:a16="http://schemas.microsoft.com/office/drawing/2014/main" id="{DE221D6D-6787-4CC6-BCB7-9A3DA6A47C6D}"/>
              </a:ext>
            </a:extLst>
          </p:cNvPr>
          <p:cNvSpPr>
            <a:spLocks noGrp="1"/>
          </p:cNvSpPr>
          <p:nvPr/>
        </p:nvSpPr>
        <p:spPr>
          <a:xfrm>
            <a:off x="1019175" y="3495675"/>
            <a:ext cx="4476750" cy="561975"/>
          </a:xfrm>
          <a:prstGeom prst="rect">
            <a:avLst/>
          </a:prstGeom>
          <a:noFill/>
          <a:ln w="0">
            <a:noFill/>
          </a:ln>
        </p:spPr>
        <p:txBody>
          <a:bodyPr wrap="square" lIns="0" tIns="0" rIns="0" bIns="0" anchor="t">
            <a:noAutofit/>
          </a:bodyPr>
          <a:lstStyle/>
          <a:p>
            <a:pPr algn="l">
              <a:defRPr sz="1650" b="0" i="0">
                <a:solidFill>
                  <a:srgbClr val="172033"/>
                </a:solidFill>
                <a:latin typeface="Helvetica Neue"/>
                <a:ea typeface="Helvetica Neue"/>
                <a:cs typeface="Helvetica Neue"/>
              </a:defRPr>
            </a:pPr>
            <a:r>
              <a:rPr sz="1650" b="0" i="0">
                <a:solidFill>
                  <a:srgbClr val="172033"/>
                </a:solidFill>
                <a:latin typeface="Helvetica Neue"/>
                <a:ea typeface="Helvetica Neue"/>
                <a:cs typeface="Helvetica Neue"/>
              </a:rPr>
              <a:t>Many useful applications for financial AI</a:t>
            </a:r>
          </a:p>
        </p:txBody>
      </p:sp>
      <p:sp>
        <p:nvSpPr>
          <p:cNvPr id="11" name="Oval 10">
            <a:extLst>
              <a:ext uri="{FF2B5EF4-FFF2-40B4-BE49-F238E27FC236}">
                <a16:creationId xmlns:a16="http://schemas.microsoft.com/office/drawing/2014/main" id="{E0166E71-3F93-4AC6-8784-6DF26C2E113B}"/>
              </a:ext>
            </a:extLst>
          </p:cNvPr>
          <p:cNvSpPr>
            <a:spLocks noGrp="1"/>
          </p:cNvSpPr>
          <p:nvPr/>
        </p:nvSpPr>
        <p:spPr>
          <a:xfrm>
            <a:off x="762000" y="4295775"/>
            <a:ext cx="95250" cy="95250"/>
          </a:xfrm>
          <a:prstGeom prst="ellipse">
            <a:avLst/>
          </a:prstGeom>
          <a:solidFill>
            <a:srgbClr val="4F46E5"/>
          </a:solidFill>
          <a:ln w="0">
            <a:noFill/>
          </a:ln>
        </p:spPr>
        <p:txBody>
          <a:bodyPr/>
          <a:lstStyle/>
          <a:p>
            <a:endParaRPr lang="en-US"/>
          </a:p>
        </p:txBody>
      </p:sp>
      <p:sp>
        <p:nvSpPr>
          <p:cNvPr id="12" name="Rectangle 11">
            <a:extLst>
              <a:ext uri="{FF2B5EF4-FFF2-40B4-BE49-F238E27FC236}">
                <a16:creationId xmlns:a16="http://schemas.microsoft.com/office/drawing/2014/main" id="{2E89E93D-AE67-4162-9AF4-2680F5BB4261}"/>
              </a:ext>
            </a:extLst>
          </p:cNvPr>
          <p:cNvSpPr>
            <a:spLocks noGrp="1"/>
          </p:cNvSpPr>
          <p:nvPr/>
        </p:nvSpPr>
        <p:spPr>
          <a:xfrm>
            <a:off x="1019175" y="4219575"/>
            <a:ext cx="4476750" cy="561975"/>
          </a:xfrm>
          <a:prstGeom prst="rect">
            <a:avLst/>
          </a:prstGeom>
          <a:noFill/>
          <a:ln w="0">
            <a:noFill/>
          </a:ln>
        </p:spPr>
        <p:txBody>
          <a:bodyPr wrap="square" lIns="0" tIns="0" rIns="0" bIns="0" anchor="t">
            <a:noAutofit/>
          </a:bodyPr>
          <a:lstStyle/>
          <a:p>
            <a:pPr algn="l">
              <a:defRPr sz="1650" b="0" i="0">
                <a:solidFill>
                  <a:srgbClr val="172033"/>
                </a:solidFill>
                <a:latin typeface="Helvetica Neue"/>
                <a:ea typeface="Helvetica Neue"/>
                <a:cs typeface="Helvetica Neue"/>
              </a:defRPr>
            </a:pPr>
            <a:r>
              <a:rPr sz="1650" b="0" i="0">
                <a:solidFill>
                  <a:srgbClr val="172033"/>
                </a:solidFill>
                <a:latin typeface="Helvetica Neue"/>
                <a:ea typeface="Helvetica Neue"/>
                <a:cs typeface="Helvetica Neue"/>
              </a:rPr>
              <a:t>Opportunities to simplify complex workflows</a:t>
            </a:r>
          </a:p>
        </p:txBody>
      </p:sp>
      <p:sp>
        <p:nvSpPr>
          <p:cNvPr id="13" name="Oval 12">
            <a:extLst>
              <a:ext uri="{FF2B5EF4-FFF2-40B4-BE49-F238E27FC236}">
                <a16:creationId xmlns:a16="http://schemas.microsoft.com/office/drawing/2014/main" id="{8A760DAA-B45F-4C2A-94C4-7A61A09785D1}"/>
              </a:ext>
            </a:extLst>
          </p:cNvPr>
          <p:cNvSpPr>
            <a:spLocks noGrp="1"/>
          </p:cNvSpPr>
          <p:nvPr/>
        </p:nvSpPr>
        <p:spPr>
          <a:xfrm>
            <a:off x="762000" y="5019675"/>
            <a:ext cx="95250" cy="95250"/>
          </a:xfrm>
          <a:prstGeom prst="ellipse">
            <a:avLst/>
          </a:prstGeom>
          <a:solidFill>
            <a:srgbClr val="4F46E5"/>
          </a:solidFill>
          <a:ln w="0">
            <a:noFill/>
          </a:ln>
        </p:spPr>
        <p:txBody>
          <a:bodyPr/>
          <a:lstStyle/>
          <a:p>
            <a:endParaRPr lang="en-US"/>
          </a:p>
        </p:txBody>
      </p:sp>
      <p:sp>
        <p:nvSpPr>
          <p:cNvPr id="14" name="Rectangle 13">
            <a:extLst>
              <a:ext uri="{FF2B5EF4-FFF2-40B4-BE49-F238E27FC236}">
                <a16:creationId xmlns:a16="http://schemas.microsoft.com/office/drawing/2014/main" id="{6930ECA3-7EA5-4F87-AB68-A8C91B35BBE0}"/>
              </a:ext>
            </a:extLst>
          </p:cNvPr>
          <p:cNvSpPr>
            <a:spLocks noGrp="1"/>
          </p:cNvSpPr>
          <p:nvPr/>
        </p:nvSpPr>
        <p:spPr>
          <a:xfrm>
            <a:off x="1019175" y="4943475"/>
            <a:ext cx="4476750" cy="561975"/>
          </a:xfrm>
          <a:prstGeom prst="rect">
            <a:avLst/>
          </a:prstGeom>
          <a:noFill/>
          <a:ln w="0">
            <a:noFill/>
          </a:ln>
        </p:spPr>
        <p:txBody>
          <a:bodyPr wrap="square" lIns="0" tIns="0" rIns="0" bIns="0" anchor="t">
            <a:noAutofit/>
          </a:bodyPr>
          <a:lstStyle/>
          <a:p>
            <a:pPr algn="l">
              <a:defRPr sz="1650" b="0" i="0">
                <a:solidFill>
                  <a:srgbClr val="172033"/>
                </a:solidFill>
                <a:latin typeface="Helvetica Neue"/>
                <a:ea typeface="Helvetica Neue"/>
                <a:cs typeface="Helvetica Neue"/>
              </a:defRPr>
            </a:pPr>
            <a:r>
              <a:rPr sz="1650" b="0" i="0" dirty="0">
                <a:solidFill>
                  <a:srgbClr val="172033"/>
                </a:solidFill>
                <a:latin typeface="Helvetica Neue"/>
                <a:ea typeface="Helvetica Neue"/>
                <a:cs typeface="Helvetica Neue"/>
              </a:rPr>
              <a:t>Repetitive tasks that could be automated</a:t>
            </a:r>
          </a:p>
        </p:txBody>
      </p:sp>
      <p:sp>
        <p:nvSpPr>
          <p:cNvPr id="15" name="Straight Connector 14">
            <a:extLst>
              <a:ext uri="{FF2B5EF4-FFF2-40B4-BE49-F238E27FC236}">
                <a16:creationId xmlns:a16="http://schemas.microsoft.com/office/drawing/2014/main" id="{F61B4C20-60A9-4823-9611-0F5B921E2F8B}"/>
              </a:ext>
            </a:extLst>
          </p:cNvPr>
          <p:cNvSpPr>
            <a:spLocks noGrp="1"/>
          </p:cNvSpPr>
          <p:nvPr/>
        </p:nvSpPr>
        <p:spPr>
          <a:xfrm>
            <a:off x="6048375" y="1571625"/>
            <a:ext cx="9525" cy="3981450"/>
          </a:xfrm>
          <a:prstGeom prst="line">
            <a:avLst/>
          </a:prstGeom>
          <a:noFill/>
          <a:ln w="19050">
            <a:solidFill>
              <a:srgbClr val="D9DEEA"/>
            </a:solidFill>
          </a:ln>
        </p:spPr>
        <p:txBody>
          <a:bodyPr/>
          <a:lstStyle/>
          <a:p>
            <a:endParaRPr lang="en-US"/>
          </a:p>
        </p:txBody>
      </p:sp>
      <p:sp>
        <p:nvSpPr>
          <p:cNvPr id="16" name="Rectangle 15">
            <a:extLst>
              <a:ext uri="{FF2B5EF4-FFF2-40B4-BE49-F238E27FC236}">
                <a16:creationId xmlns:a16="http://schemas.microsoft.com/office/drawing/2014/main" id="{CDD13DE3-EDAD-40DE-A761-2D6AD1520BEB}"/>
              </a:ext>
            </a:extLst>
          </p:cNvPr>
          <p:cNvSpPr>
            <a:spLocks noGrp="1"/>
          </p:cNvSpPr>
          <p:nvPr/>
        </p:nvSpPr>
        <p:spPr>
          <a:xfrm>
            <a:off x="6543675" y="1571625"/>
            <a:ext cx="4686300" cy="257175"/>
          </a:xfrm>
          <a:prstGeom prst="rect">
            <a:avLst/>
          </a:prstGeom>
          <a:noFill/>
          <a:ln w="0">
            <a:noFill/>
          </a:ln>
        </p:spPr>
        <p:txBody>
          <a:bodyPr wrap="square" lIns="0" tIns="0" rIns="0" bIns="0" anchor="t">
            <a:noAutofit/>
          </a:bodyPr>
          <a:lstStyle/>
          <a:p>
            <a:pPr algn="l">
              <a:defRPr sz="1275" b="1" i="0">
                <a:solidFill>
                  <a:srgbClr val="4F46E5"/>
                </a:solidFill>
                <a:latin typeface="Helvetica Neue"/>
                <a:ea typeface="Helvetica Neue"/>
                <a:cs typeface="Helvetica Neue"/>
              </a:defRPr>
            </a:pPr>
            <a:r>
              <a:rPr sz="1275" b="1" i="0">
                <a:solidFill>
                  <a:srgbClr val="4F46E5"/>
                </a:solidFill>
                <a:latin typeface="Helvetica Neue"/>
                <a:ea typeface="Helvetica Neue"/>
                <a:cs typeface="Helvetica Neue"/>
              </a:rPr>
              <a:t>WHAT WE WANT TO LEARN</a:t>
            </a:r>
          </a:p>
        </p:txBody>
      </p:sp>
      <p:sp>
        <p:nvSpPr>
          <p:cNvPr id="17" name="Rectangle 16">
            <a:extLst>
              <a:ext uri="{FF2B5EF4-FFF2-40B4-BE49-F238E27FC236}">
                <a16:creationId xmlns:a16="http://schemas.microsoft.com/office/drawing/2014/main" id="{CC6284FC-D5FD-4DD5-9ABD-7B24D7734DC0}"/>
              </a:ext>
            </a:extLst>
          </p:cNvPr>
          <p:cNvSpPr>
            <a:spLocks noGrp="1"/>
          </p:cNvSpPr>
          <p:nvPr/>
        </p:nvSpPr>
        <p:spPr>
          <a:xfrm>
            <a:off x="6562725" y="2057400"/>
            <a:ext cx="4476750" cy="304800"/>
          </a:xfrm>
          <a:prstGeom prst="rect">
            <a:avLst/>
          </a:prstGeom>
          <a:noFill/>
          <a:ln w="0">
            <a:noFill/>
          </a:ln>
        </p:spPr>
        <p:txBody>
          <a:bodyPr wrap="square" lIns="0" tIns="0" rIns="0" bIns="0" anchor="t">
            <a:noAutofit/>
          </a:bodyPr>
          <a:lstStyle/>
          <a:p>
            <a:pPr algn="l">
              <a:defRPr sz="1800" b="1" i="0">
                <a:solidFill>
                  <a:srgbClr val="172033"/>
                </a:solidFill>
                <a:latin typeface="Helvetica Neue"/>
                <a:ea typeface="Helvetica Neue"/>
                <a:cs typeface="Helvetica Neue"/>
              </a:defRPr>
            </a:pPr>
            <a:r>
              <a:rPr sz="1800" b="1" i="0">
                <a:solidFill>
                  <a:srgbClr val="172033"/>
                </a:solidFill>
                <a:latin typeface="Helvetica Neue"/>
                <a:ea typeface="Helvetica Neue"/>
                <a:cs typeface="Helvetica Neue"/>
              </a:rPr>
              <a:t>Build for real users</a:t>
            </a:r>
          </a:p>
        </p:txBody>
      </p:sp>
      <p:sp>
        <p:nvSpPr>
          <p:cNvPr id="18" name="Rectangle 17">
            <a:extLst>
              <a:ext uri="{FF2B5EF4-FFF2-40B4-BE49-F238E27FC236}">
                <a16:creationId xmlns:a16="http://schemas.microsoft.com/office/drawing/2014/main" id="{C0299D83-2CA2-4BA1-9975-657AA7D31E60}"/>
              </a:ext>
            </a:extLst>
          </p:cNvPr>
          <p:cNvSpPr>
            <a:spLocks noGrp="1"/>
          </p:cNvSpPr>
          <p:nvPr/>
        </p:nvSpPr>
        <p:spPr>
          <a:xfrm>
            <a:off x="6562725" y="2447925"/>
            <a:ext cx="4476750" cy="666750"/>
          </a:xfrm>
          <a:prstGeom prst="rect">
            <a:avLst/>
          </a:prstGeom>
          <a:noFill/>
          <a:ln w="0">
            <a:noFill/>
          </a:ln>
        </p:spPr>
        <p:txBody>
          <a:bodyPr wrap="square" lIns="0" tIns="0" rIns="0" bIns="0" anchor="t">
            <a:noAutofit/>
          </a:bodyPr>
          <a:lstStyle/>
          <a:p>
            <a:pPr algn="l">
              <a:defRPr sz="1500" b="0" i="0">
                <a:solidFill>
                  <a:srgbClr val="5B6475"/>
                </a:solidFill>
                <a:latin typeface="Helvetica Neue"/>
                <a:ea typeface="Helvetica Neue"/>
                <a:cs typeface="Helvetica Neue"/>
              </a:defRPr>
            </a:pPr>
            <a:r>
              <a:rPr sz="1500" b="0" i="0">
                <a:solidFill>
                  <a:srgbClr val="5B6475"/>
                </a:solidFill>
                <a:latin typeface="Helvetica Neue"/>
                <a:ea typeface="Helvetica Neue"/>
                <a:cs typeface="Helvetica Neue"/>
              </a:rPr>
              <a:t>Turn a technical prototype into a valuable, market-ready project.</a:t>
            </a:r>
          </a:p>
        </p:txBody>
      </p:sp>
      <p:sp>
        <p:nvSpPr>
          <p:cNvPr id="19" name="Rectangle 18">
            <a:extLst>
              <a:ext uri="{FF2B5EF4-FFF2-40B4-BE49-F238E27FC236}">
                <a16:creationId xmlns:a16="http://schemas.microsoft.com/office/drawing/2014/main" id="{29462FAB-5E80-432C-A581-C768563DE0F1}"/>
              </a:ext>
            </a:extLst>
          </p:cNvPr>
          <p:cNvSpPr>
            <a:spLocks noGrp="1"/>
          </p:cNvSpPr>
          <p:nvPr/>
        </p:nvSpPr>
        <p:spPr>
          <a:xfrm>
            <a:off x="6562725" y="3314700"/>
            <a:ext cx="4476750" cy="304800"/>
          </a:xfrm>
          <a:prstGeom prst="rect">
            <a:avLst/>
          </a:prstGeom>
          <a:noFill/>
          <a:ln w="0">
            <a:noFill/>
          </a:ln>
        </p:spPr>
        <p:txBody>
          <a:bodyPr wrap="square" lIns="0" tIns="0" rIns="0" bIns="0" anchor="t">
            <a:noAutofit/>
          </a:bodyPr>
          <a:lstStyle/>
          <a:p>
            <a:pPr algn="l">
              <a:defRPr sz="1800" b="1" i="0">
                <a:solidFill>
                  <a:srgbClr val="172033"/>
                </a:solidFill>
                <a:latin typeface="Helvetica Neue"/>
                <a:ea typeface="Helvetica Neue"/>
                <a:cs typeface="Helvetica Neue"/>
              </a:defRPr>
            </a:pPr>
            <a:r>
              <a:rPr sz="1800" b="1" i="0">
                <a:solidFill>
                  <a:srgbClr val="172033"/>
                </a:solidFill>
                <a:latin typeface="Helvetica Neue"/>
                <a:ea typeface="Helvetica Neue"/>
                <a:cs typeface="Helvetica Neue"/>
              </a:rPr>
              <a:t>Think in business terms</a:t>
            </a:r>
          </a:p>
        </p:txBody>
      </p:sp>
      <p:sp>
        <p:nvSpPr>
          <p:cNvPr id="20" name="Rectangle 19">
            <a:extLst>
              <a:ext uri="{FF2B5EF4-FFF2-40B4-BE49-F238E27FC236}">
                <a16:creationId xmlns:a16="http://schemas.microsoft.com/office/drawing/2014/main" id="{C97B8DD6-A87F-4E87-B597-091BB87146A0}"/>
              </a:ext>
            </a:extLst>
          </p:cNvPr>
          <p:cNvSpPr>
            <a:spLocks noGrp="1"/>
          </p:cNvSpPr>
          <p:nvPr/>
        </p:nvSpPr>
        <p:spPr>
          <a:xfrm>
            <a:off x="6562725" y="3705225"/>
            <a:ext cx="4476750" cy="666750"/>
          </a:xfrm>
          <a:prstGeom prst="rect">
            <a:avLst/>
          </a:prstGeom>
          <a:noFill/>
          <a:ln w="0">
            <a:noFill/>
          </a:ln>
        </p:spPr>
        <p:txBody>
          <a:bodyPr wrap="square" lIns="0" tIns="0" rIns="0" bIns="0" anchor="t">
            <a:noAutofit/>
          </a:bodyPr>
          <a:lstStyle/>
          <a:p>
            <a:pPr algn="l">
              <a:defRPr sz="1500" b="0" i="0">
                <a:solidFill>
                  <a:srgbClr val="5B6475"/>
                </a:solidFill>
                <a:latin typeface="Helvetica Neue"/>
                <a:ea typeface="Helvetica Neue"/>
                <a:cs typeface="Helvetica Neue"/>
              </a:defRPr>
            </a:pPr>
            <a:r>
              <a:rPr sz="1500" b="0" i="0">
                <a:solidFill>
                  <a:srgbClr val="5B6475"/>
                </a:solidFill>
                <a:latin typeface="Helvetica Neue"/>
                <a:ea typeface="Helvetica Neue"/>
                <a:cs typeface="Helvetica Neue"/>
              </a:rPr>
              <a:t>Use business value and user needs when making technical decisions.</a:t>
            </a:r>
          </a:p>
        </p:txBody>
      </p:sp>
      <p:sp>
        <p:nvSpPr>
          <p:cNvPr id="21" name="Rectangle 20">
            <a:extLst>
              <a:ext uri="{FF2B5EF4-FFF2-40B4-BE49-F238E27FC236}">
                <a16:creationId xmlns:a16="http://schemas.microsoft.com/office/drawing/2014/main" id="{FEF4E2D9-4EE0-4D5C-B01D-464CFA374373}"/>
              </a:ext>
            </a:extLst>
          </p:cNvPr>
          <p:cNvSpPr>
            <a:spLocks noGrp="1"/>
          </p:cNvSpPr>
          <p:nvPr/>
        </p:nvSpPr>
        <p:spPr>
          <a:xfrm>
            <a:off x="6562725" y="4572000"/>
            <a:ext cx="4476750" cy="304800"/>
          </a:xfrm>
          <a:prstGeom prst="rect">
            <a:avLst/>
          </a:prstGeom>
          <a:noFill/>
          <a:ln w="0">
            <a:noFill/>
          </a:ln>
        </p:spPr>
        <p:txBody>
          <a:bodyPr wrap="square" lIns="0" tIns="0" rIns="0" bIns="0" anchor="t">
            <a:noAutofit/>
          </a:bodyPr>
          <a:lstStyle/>
          <a:p>
            <a:pPr algn="l">
              <a:defRPr sz="1800" b="1" i="0">
                <a:solidFill>
                  <a:srgbClr val="172033"/>
                </a:solidFill>
                <a:latin typeface="Helvetica Neue"/>
                <a:ea typeface="Helvetica Neue"/>
                <a:cs typeface="Helvetica Neue"/>
              </a:defRPr>
            </a:pPr>
            <a:r>
              <a:rPr sz="1800" b="1" i="0">
                <a:solidFill>
                  <a:srgbClr val="172033"/>
                </a:solidFill>
                <a:latin typeface="Helvetica Neue"/>
                <a:ea typeface="Helvetica Neue"/>
                <a:cs typeface="Helvetica Neue"/>
              </a:rPr>
              <a:t>Deliver as a team</a:t>
            </a:r>
          </a:p>
        </p:txBody>
      </p:sp>
      <p:sp>
        <p:nvSpPr>
          <p:cNvPr id="22" name="Rectangle 21">
            <a:extLst>
              <a:ext uri="{FF2B5EF4-FFF2-40B4-BE49-F238E27FC236}">
                <a16:creationId xmlns:a16="http://schemas.microsoft.com/office/drawing/2014/main" id="{FDA6D1B6-88CA-4AAB-9862-7888F1E56CAA}"/>
              </a:ext>
            </a:extLst>
          </p:cNvPr>
          <p:cNvSpPr>
            <a:spLocks noGrp="1"/>
          </p:cNvSpPr>
          <p:nvPr/>
        </p:nvSpPr>
        <p:spPr>
          <a:xfrm>
            <a:off x="6562725" y="4962525"/>
            <a:ext cx="4476750" cy="666750"/>
          </a:xfrm>
          <a:prstGeom prst="rect">
            <a:avLst/>
          </a:prstGeom>
          <a:noFill/>
          <a:ln w="0">
            <a:noFill/>
          </a:ln>
        </p:spPr>
        <p:txBody>
          <a:bodyPr wrap="square" lIns="0" tIns="0" rIns="0" bIns="0" anchor="t">
            <a:noAutofit/>
          </a:bodyPr>
          <a:lstStyle/>
          <a:p>
            <a:pPr algn="l">
              <a:defRPr sz="1500" b="0" i="0">
                <a:solidFill>
                  <a:srgbClr val="5B6475"/>
                </a:solidFill>
                <a:latin typeface="Helvetica Neue"/>
                <a:ea typeface="Helvetica Neue"/>
                <a:cs typeface="Helvetica Neue"/>
              </a:defRPr>
            </a:pPr>
            <a:r>
              <a:rPr sz="1500" b="0" i="0">
                <a:solidFill>
                  <a:srgbClr val="5B6475"/>
                </a:solidFill>
                <a:latin typeface="Helvetica Neue"/>
                <a:ea typeface="Helvetica Neue"/>
                <a:cs typeface="Helvetica Neue"/>
              </a:rPr>
              <a:t>Plan, integrate, and evaluate a large project across multiple contributors.</a:t>
            </a:r>
          </a:p>
        </p:txBody>
      </p:sp>
      <p:sp>
        <p:nvSpPr>
          <p:cNvPr id="23" name="Straight Connector 22">
            <a:extLst>
              <a:ext uri="{FF2B5EF4-FFF2-40B4-BE49-F238E27FC236}">
                <a16:creationId xmlns:a16="http://schemas.microsoft.com/office/drawing/2014/main" id="{078D6229-D97C-40A0-8399-7BE17227CC48}"/>
              </a:ext>
            </a:extLst>
          </p:cNvPr>
          <p:cNvSpPr>
            <a:spLocks noGrp="1"/>
          </p:cNvSpPr>
          <p:nvPr/>
        </p:nvSpPr>
        <p:spPr>
          <a:xfrm>
            <a:off x="685800" y="6467475"/>
            <a:ext cx="10820400" cy="9525"/>
          </a:xfrm>
          <a:prstGeom prst="line">
            <a:avLst/>
          </a:prstGeom>
          <a:noFill/>
          <a:ln w="9525">
            <a:solidFill>
              <a:srgbClr val="D9DEEA"/>
            </a:solidFill>
          </a:ln>
        </p:spPr>
        <p:txBody>
          <a:bodyPr/>
          <a:lstStyle/>
          <a:p>
            <a:endParaRPr lang="en-US"/>
          </a:p>
        </p:txBody>
      </p:sp>
      <p:sp>
        <p:nvSpPr>
          <p:cNvPr id="24" name="Rectangle 23">
            <a:extLst>
              <a:ext uri="{FF2B5EF4-FFF2-40B4-BE49-F238E27FC236}">
                <a16:creationId xmlns:a16="http://schemas.microsoft.com/office/drawing/2014/main" id="{4AEDAA1E-DE76-4B23-B8EA-EA3EC25BD39A}"/>
              </a:ext>
            </a:extLst>
          </p:cNvPr>
          <p:cNvSpPr>
            <a:spLocks noGrp="1"/>
          </p:cNvSpPr>
          <p:nvPr/>
        </p:nvSpPr>
        <p:spPr>
          <a:xfrm>
            <a:off x="685800" y="6553200"/>
            <a:ext cx="4762500" cy="171450"/>
          </a:xfrm>
          <a:prstGeom prst="rect">
            <a:avLst/>
          </a:prstGeom>
          <a:noFill/>
          <a:ln w="0">
            <a:noFill/>
          </a:ln>
        </p:spPr>
        <p:txBody>
          <a:bodyPr wrap="square" lIns="0" tIns="0" rIns="0" bIns="0" anchor="t">
            <a:noAutofit/>
          </a:bodyPr>
          <a:lstStyle/>
          <a:p>
            <a:pPr algn="l">
              <a:defRPr sz="900" b="0" i="0">
                <a:solidFill>
                  <a:srgbClr val="5B6475"/>
                </a:solidFill>
                <a:latin typeface="Helvetica Neue"/>
                <a:ea typeface="Helvetica Neue"/>
                <a:cs typeface="Helvetica Neue"/>
              </a:defRPr>
            </a:pPr>
            <a:r>
              <a:rPr sz="900" b="0" i="0">
                <a:solidFill>
                  <a:srgbClr val="5B6475"/>
                </a:solidFill>
                <a:latin typeface="Helvetica Neue"/>
                <a:ea typeface="Helvetica Neue"/>
                <a:cs typeface="Helvetica Neue"/>
              </a:rPr>
              <a:t>Finaira sponsorship interview</a:t>
            </a:r>
          </a:p>
        </p:txBody>
      </p:sp>
      <p:sp>
        <p:nvSpPr>
          <p:cNvPr id="25" name="Rectangle 24">
            <a:extLst>
              <a:ext uri="{FF2B5EF4-FFF2-40B4-BE49-F238E27FC236}">
                <a16:creationId xmlns:a16="http://schemas.microsoft.com/office/drawing/2014/main" id="{6284E310-C67B-40F6-82B4-6CB37BD56E55}"/>
              </a:ext>
            </a:extLst>
          </p:cNvPr>
          <p:cNvSpPr>
            <a:spLocks noGrp="1"/>
          </p:cNvSpPr>
          <p:nvPr/>
        </p:nvSpPr>
        <p:spPr>
          <a:xfrm>
            <a:off x="11096625" y="6553200"/>
            <a:ext cx="409575" cy="171450"/>
          </a:xfrm>
          <a:prstGeom prst="rect">
            <a:avLst/>
          </a:prstGeom>
          <a:noFill/>
          <a:ln w="0">
            <a:noFill/>
          </a:ln>
        </p:spPr>
        <p:txBody>
          <a:bodyPr wrap="square" lIns="0" tIns="0" rIns="0" bIns="0" anchor="t">
            <a:noAutofit/>
          </a:bodyPr>
          <a:lstStyle/>
          <a:p>
            <a:pPr algn="r">
              <a:defRPr sz="900" b="1" i="0">
                <a:solidFill>
                  <a:srgbClr val="5B6475"/>
                </a:solidFill>
                <a:latin typeface="Helvetica Neue"/>
                <a:ea typeface="Helvetica Neue"/>
                <a:cs typeface="Helvetica Neue"/>
              </a:defRPr>
            </a:pPr>
            <a:r>
              <a:rPr sz="900" b="1" i="0">
                <a:solidFill>
                  <a:srgbClr val="5B6475"/>
                </a:solidFill>
                <a:latin typeface="Helvetica Neue"/>
                <a:ea typeface="Helvetica Neue"/>
                <a:cs typeface="Helvetica Neue"/>
              </a:rPr>
              <a:t>04</a:t>
            </a:r>
          </a:p>
        </p:txBody>
      </p:sp>
    </p:spTree>
    <p:extLst>
      <p:ext uri="{BB962C8B-B14F-4D97-AF65-F5344CB8AC3E}">
        <p14:creationId xmlns:p14="http://schemas.microsoft.com/office/powerpoint/2010/main" val="1136244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B37AAA2-E279-48C3-AFCB-B83BE3C51421}"/>
              </a:ext>
            </a:extLst>
          </p:cNvPr>
          <p:cNvSpPr>
            <a:spLocks noGrp="1"/>
          </p:cNvSpPr>
          <p:nvPr/>
        </p:nvSpPr>
        <p:spPr>
          <a:xfrm>
            <a:off x="0" y="0"/>
            <a:ext cx="12192000" cy="95250"/>
          </a:xfrm>
          <a:prstGeom prst="rect">
            <a:avLst/>
          </a:prstGeom>
          <a:solidFill>
            <a:srgbClr val="4F46E5"/>
          </a:solidFill>
          <a:ln w="0">
            <a:noFill/>
          </a:ln>
        </p:spPr>
        <p:txBody>
          <a:bodyPr/>
          <a:lstStyle/>
          <a:p>
            <a:endParaRPr lang="en-US"/>
          </a:p>
        </p:txBody>
      </p:sp>
      <p:sp>
        <p:nvSpPr>
          <p:cNvPr id="2" name="Rectangle 1">
            <a:extLst>
              <a:ext uri="{FF2B5EF4-FFF2-40B4-BE49-F238E27FC236}">
                <a16:creationId xmlns:a16="http://schemas.microsoft.com/office/drawing/2014/main" id="{38E1D94D-C488-4983-88DF-EFA7F1920881}"/>
              </a:ext>
            </a:extLst>
          </p:cNvPr>
          <p:cNvSpPr>
            <a:spLocks noGrp="1"/>
          </p:cNvSpPr>
          <p:nvPr/>
        </p:nvSpPr>
        <p:spPr>
          <a:xfrm>
            <a:off x="685800" y="361950"/>
            <a:ext cx="3333750" cy="238125"/>
          </a:xfrm>
          <a:prstGeom prst="rect">
            <a:avLst/>
          </a:prstGeom>
          <a:noFill/>
          <a:ln w="0">
            <a:noFill/>
          </a:ln>
        </p:spPr>
        <p:txBody>
          <a:bodyPr wrap="square" lIns="0" tIns="0" rIns="0" bIns="0" anchor="t">
            <a:noAutofit/>
          </a:bodyPr>
          <a:lstStyle/>
          <a:p>
            <a:pPr algn="l">
              <a:defRPr sz="1125" b="1" i="0">
                <a:solidFill>
                  <a:srgbClr val="4F46E5"/>
                </a:solidFill>
                <a:latin typeface="Helvetica Neue"/>
                <a:ea typeface="Helvetica Neue"/>
                <a:cs typeface="Helvetica Neue"/>
              </a:defRPr>
            </a:pPr>
            <a:r>
              <a:rPr sz="1125" b="1" i="0">
                <a:solidFill>
                  <a:srgbClr val="4F46E5"/>
                </a:solidFill>
                <a:latin typeface="Helvetica Neue"/>
                <a:ea typeface="Helvetica Neue"/>
                <a:cs typeface="Helvetica Neue"/>
              </a:rPr>
              <a:t>PART 3</a:t>
            </a:r>
          </a:p>
        </p:txBody>
      </p:sp>
      <p:sp>
        <p:nvSpPr>
          <p:cNvPr id="3" name="Rectangle 2">
            <a:extLst>
              <a:ext uri="{FF2B5EF4-FFF2-40B4-BE49-F238E27FC236}">
                <a16:creationId xmlns:a16="http://schemas.microsoft.com/office/drawing/2014/main" id="{92DE610C-2903-46BC-9946-8F8E473499B8}"/>
              </a:ext>
            </a:extLst>
          </p:cNvPr>
          <p:cNvSpPr>
            <a:spLocks noGrp="1"/>
          </p:cNvSpPr>
          <p:nvPr/>
        </p:nvSpPr>
        <p:spPr>
          <a:xfrm>
            <a:off x="685800" y="638175"/>
            <a:ext cx="10820400" cy="619125"/>
          </a:xfrm>
          <a:prstGeom prst="rect">
            <a:avLst/>
          </a:prstGeom>
          <a:noFill/>
          <a:ln w="0">
            <a:noFill/>
          </a:ln>
        </p:spPr>
        <p:txBody>
          <a:bodyPr wrap="square" lIns="0" tIns="0" rIns="0" bIns="0" anchor="t">
            <a:noAutofit/>
          </a:bodyPr>
          <a:lstStyle/>
          <a:p>
            <a:pPr algn="l">
              <a:defRPr sz="3150" b="1" i="0">
                <a:solidFill>
                  <a:srgbClr val="172033"/>
                </a:solidFill>
                <a:latin typeface="Helvetica Neue"/>
                <a:ea typeface="Helvetica Neue"/>
                <a:cs typeface="Helvetica Neue"/>
              </a:defRPr>
            </a:pPr>
            <a:r>
              <a:rPr sz="3150" b="1" i="0">
                <a:solidFill>
                  <a:srgbClr val="172033"/>
                </a:solidFill>
                <a:latin typeface="Helvetica Neue"/>
                <a:ea typeface="Helvetica Neue"/>
                <a:cs typeface="Helvetica Neue"/>
              </a:rPr>
              <a:t>Research question and scope</a:t>
            </a:r>
          </a:p>
        </p:txBody>
      </p:sp>
      <p:sp>
        <p:nvSpPr>
          <p:cNvPr id="4" name="Rectangle 3">
            <a:extLst>
              <a:ext uri="{FF2B5EF4-FFF2-40B4-BE49-F238E27FC236}">
                <a16:creationId xmlns:a16="http://schemas.microsoft.com/office/drawing/2014/main" id="{239956C0-3941-445E-B7D8-60D1A3C3ED70}"/>
              </a:ext>
            </a:extLst>
          </p:cNvPr>
          <p:cNvSpPr>
            <a:spLocks noGrp="1"/>
          </p:cNvSpPr>
          <p:nvPr/>
        </p:nvSpPr>
        <p:spPr>
          <a:xfrm>
            <a:off x="1066800" y="1628775"/>
            <a:ext cx="10058400" cy="1428750"/>
          </a:xfrm>
          <a:prstGeom prst="rect">
            <a:avLst/>
          </a:prstGeom>
          <a:noFill/>
          <a:ln w="0">
            <a:noFill/>
          </a:ln>
        </p:spPr>
        <p:txBody>
          <a:bodyPr wrap="square" lIns="0" tIns="0" rIns="0" bIns="0" anchor="ctr">
            <a:noAutofit/>
          </a:bodyPr>
          <a:lstStyle/>
          <a:p>
            <a:pPr algn="ctr">
              <a:defRPr sz="2550" b="1" i="0">
                <a:solidFill>
                  <a:srgbClr val="3730A3"/>
                </a:solidFill>
                <a:latin typeface="Helvetica Neue"/>
                <a:ea typeface="Helvetica Neue"/>
                <a:cs typeface="Helvetica Neue"/>
              </a:defRPr>
            </a:pPr>
            <a:r>
              <a:rPr sz="2550" b="1" i="0">
                <a:solidFill>
                  <a:srgbClr val="3730A3"/>
                </a:solidFill>
                <a:latin typeface="Helvetica Neue"/>
                <a:ea typeface="Helvetica Neue"/>
                <a:cs typeface="Helvetica Neue"/>
              </a:rPr>
              <a:t>How effectively can a local, policy-driven hybrid privacy gateway protect sensitive information in Arabic-English financial documents while preserving the utility of cloud LLM tasks?</a:t>
            </a:r>
          </a:p>
        </p:txBody>
      </p:sp>
      <p:sp>
        <p:nvSpPr>
          <p:cNvPr id="5" name="Straight Connector 4">
            <a:extLst>
              <a:ext uri="{FF2B5EF4-FFF2-40B4-BE49-F238E27FC236}">
                <a16:creationId xmlns:a16="http://schemas.microsoft.com/office/drawing/2014/main" id="{3DB92F96-36F7-41EF-BB8E-A6889C258C72}"/>
              </a:ext>
            </a:extLst>
          </p:cNvPr>
          <p:cNvSpPr>
            <a:spLocks noGrp="1"/>
          </p:cNvSpPr>
          <p:nvPr/>
        </p:nvSpPr>
        <p:spPr>
          <a:xfrm>
            <a:off x="1428750" y="3333750"/>
            <a:ext cx="9334500" cy="9525"/>
          </a:xfrm>
          <a:prstGeom prst="line">
            <a:avLst/>
          </a:prstGeom>
          <a:noFill/>
          <a:ln w="19050">
            <a:solidFill>
              <a:srgbClr val="D9DEEA"/>
            </a:solidFill>
          </a:ln>
        </p:spPr>
        <p:txBody>
          <a:bodyPr/>
          <a:lstStyle/>
          <a:p>
            <a:endParaRPr lang="en-US"/>
          </a:p>
        </p:txBody>
      </p:sp>
      <p:sp>
        <p:nvSpPr>
          <p:cNvPr id="6" name="Rectangle 5">
            <a:extLst>
              <a:ext uri="{FF2B5EF4-FFF2-40B4-BE49-F238E27FC236}">
                <a16:creationId xmlns:a16="http://schemas.microsoft.com/office/drawing/2014/main" id="{3F68AC41-5400-4731-A299-5E5DF699AE22}"/>
              </a:ext>
            </a:extLst>
          </p:cNvPr>
          <p:cNvSpPr>
            <a:spLocks noGrp="1"/>
          </p:cNvSpPr>
          <p:nvPr/>
        </p:nvSpPr>
        <p:spPr>
          <a:xfrm>
            <a:off x="838200" y="3714750"/>
            <a:ext cx="3429000" cy="228600"/>
          </a:xfrm>
          <a:prstGeom prst="rect">
            <a:avLst/>
          </a:prstGeom>
          <a:noFill/>
          <a:ln w="0">
            <a:noFill/>
          </a:ln>
        </p:spPr>
        <p:txBody>
          <a:bodyPr wrap="square" lIns="0" tIns="0" rIns="0" bIns="0" anchor="t">
            <a:noAutofit/>
          </a:bodyPr>
          <a:lstStyle/>
          <a:p>
            <a:pPr algn="l">
              <a:defRPr sz="1200" b="1" i="0">
                <a:solidFill>
                  <a:srgbClr val="15803D"/>
                </a:solidFill>
                <a:latin typeface="Helvetica Neue"/>
                <a:ea typeface="Helvetica Neue"/>
                <a:cs typeface="Helvetica Neue"/>
              </a:defRPr>
            </a:pPr>
            <a:r>
              <a:rPr sz="1200" b="1" i="0">
                <a:solidFill>
                  <a:srgbClr val="15803D"/>
                </a:solidFill>
                <a:latin typeface="Helvetica Neue"/>
                <a:ea typeface="Helvetica Neue"/>
                <a:cs typeface="Helvetica Neue"/>
              </a:rPr>
              <a:t>WHAT WE WILL STUDY</a:t>
            </a:r>
          </a:p>
        </p:txBody>
      </p:sp>
      <p:sp>
        <p:nvSpPr>
          <p:cNvPr id="7" name="Oval 6">
            <a:extLst>
              <a:ext uri="{FF2B5EF4-FFF2-40B4-BE49-F238E27FC236}">
                <a16:creationId xmlns:a16="http://schemas.microsoft.com/office/drawing/2014/main" id="{5D7CB48C-C589-40DD-9E58-E779A837C741}"/>
              </a:ext>
            </a:extLst>
          </p:cNvPr>
          <p:cNvSpPr>
            <a:spLocks noGrp="1"/>
          </p:cNvSpPr>
          <p:nvPr/>
        </p:nvSpPr>
        <p:spPr>
          <a:xfrm>
            <a:off x="838200" y="4191000"/>
            <a:ext cx="95250" cy="95250"/>
          </a:xfrm>
          <a:prstGeom prst="ellipse">
            <a:avLst/>
          </a:prstGeom>
          <a:solidFill>
            <a:srgbClr val="15803D"/>
          </a:solidFill>
          <a:ln w="0">
            <a:noFill/>
          </a:ln>
        </p:spPr>
        <p:txBody>
          <a:bodyPr/>
          <a:lstStyle/>
          <a:p>
            <a:endParaRPr lang="en-US"/>
          </a:p>
        </p:txBody>
      </p:sp>
      <p:sp>
        <p:nvSpPr>
          <p:cNvPr id="8" name="Rectangle 7">
            <a:extLst>
              <a:ext uri="{FF2B5EF4-FFF2-40B4-BE49-F238E27FC236}">
                <a16:creationId xmlns:a16="http://schemas.microsoft.com/office/drawing/2014/main" id="{4985C430-409A-48EE-8E21-64B44B2C5FD6}"/>
              </a:ext>
            </a:extLst>
          </p:cNvPr>
          <p:cNvSpPr>
            <a:spLocks noGrp="1"/>
          </p:cNvSpPr>
          <p:nvPr/>
        </p:nvSpPr>
        <p:spPr>
          <a:xfrm>
            <a:off x="1066800" y="4133850"/>
            <a:ext cx="4533900" cy="266700"/>
          </a:xfrm>
          <a:prstGeom prst="rect">
            <a:avLst/>
          </a:prstGeom>
          <a:noFill/>
          <a:ln w="0">
            <a:noFill/>
          </a:ln>
        </p:spPr>
        <p:txBody>
          <a:bodyPr wrap="square" lIns="0" tIns="0" rIns="0" bIns="0" anchor="t">
            <a:noAutofit/>
          </a:bodyPr>
          <a:lstStyle/>
          <a:p>
            <a:pPr algn="l">
              <a:defRPr sz="1575" b="1" i="0">
                <a:solidFill>
                  <a:srgbClr val="172033"/>
                </a:solidFill>
                <a:latin typeface="Helvetica Neue"/>
                <a:ea typeface="Helvetica Neue"/>
                <a:cs typeface="Helvetica Neue"/>
              </a:defRPr>
            </a:pPr>
            <a:r>
              <a:rPr sz="1575" b="1" i="0">
                <a:solidFill>
                  <a:srgbClr val="172033"/>
                </a:solidFill>
                <a:latin typeface="Helvetica Neue"/>
                <a:ea typeface="Helvetica Neue"/>
                <a:cs typeface="Helvetica Neue"/>
              </a:rPr>
              <a:t>Document-level privacy</a:t>
            </a:r>
          </a:p>
        </p:txBody>
      </p:sp>
      <p:sp>
        <p:nvSpPr>
          <p:cNvPr id="9" name="Rectangle 8">
            <a:extLst>
              <a:ext uri="{FF2B5EF4-FFF2-40B4-BE49-F238E27FC236}">
                <a16:creationId xmlns:a16="http://schemas.microsoft.com/office/drawing/2014/main" id="{5E02EF58-B59A-4952-A659-ACF615B3CD1C}"/>
              </a:ext>
            </a:extLst>
          </p:cNvPr>
          <p:cNvSpPr>
            <a:spLocks noGrp="1"/>
          </p:cNvSpPr>
          <p:nvPr/>
        </p:nvSpPr>
        <p:spPr>
          <a:xfrm>
            <a:off x="1066800" y="4429125"/>
            <a:ext cx="4533900" cy="514350"/>
          </a:xfrm>
          <a:prstGeom prst="rect">
            <a:avLst/>
          </a:prstGeom>
          <a:noFill/>
          <a:ln w="0">
            <a:noFill/>
          </a:ln>
        </p:spPr>
        <p:txBody>
          <a:bodyPr wrap="square" lIns="0" tIns="0" rIns="0" bIns="0" anchor="t">
            <a:noAutofit/>
          </a:bodyPr>
          <a:lstStyle/>
          <a:p>
            <a:pPr algn="l">
              <a:defRPr sz="1350" b="0" i="0">
                <a:solidFill>
                  <a:srgbClr val="5B6475"/>
                </a:solidFill>
                <a:latin typeface="Helvetica Neue"/>
                <a:ea typeface="Helvetica Neue"/>
                <a:cs typeface="Helvetica Neue"/>
              </a:defRPr>
            </a:pPr>
            <a:r>
              <a:rPr sz="1350" b="0" i="0">
                <a:solidFill>
                  <a:srgbClr val="5B6475"/>
                </a:solidFill>
                <a:latin typeface="Helvetica Neue"/>
                <a:ea typeface="Helvetica Neue"/>
                <a:cs typeface="Helvetica Neue"/>
              </a:rPr>
              <a:t>Arabic-English financial text, including ambiguous identifiers and OCR noise.</a:t>
            </a:r>
          </a:p>
        </p:txBody>
      </p:sp>
      <p:sp>
        <p:nvSpPr>
          <p:cNvPr id="10" name="Oval 9">
            <a:extLst>
              <a:ext uri="{FF2B5EF4-FFF2-40B4-BE49-F238E27FC236}">
                <a16:creationId xmlns:a16="http://schemas.microsoft.com/office/drawing/2014/main" id="{C85F1638-481C-42A9-86B5-669B71439F7F}"/>
              </a:ext>
            </a:extLst>
          </p:cNvPr>
          <p:cNvSpPr>
            <a:spLocks noGrp="1"/>
          </p:cNvSpPr>
          <p:nvPr/>
        </p:nvSpPr>
        <p:spPr>
          <a:xfrm>
            <a:off x="838200" y="5124450"/>
            <a:ext cx="95250" cy="95250"/>
          </a:xfrm>
          <a:prstGeom prst="ellipse">
            <a:avLst/>
          </a:prstGeom>
          <a:solidFill>
            <a:srgbClr val="15803D"/>
          </a:solidFill>
          <a:ln w="0">
            <a:noFill/>
          </a:ln>
        </p:spPr>
        <p:txBody>
          <a:bodyPr/>
          <a:lstStyle/>
          <a:p>
            <a:endParaRPr lang="en-US"/>
          </a:p>
        </p:txBody>
      </p:sp>
      <p:sp>
        <p:nvSpPr>
          <p:cNvPr id="11" name="Rectangle 10">
            <a:extLst>
              <a:ext uri="{FF2B5EF4-FFF2-40B4-BE49-F238E27FC236}">
                <a16:creationId xmlns:a16="http://schemas.microsoft.com/office/drawing/2014/main" id="{249A651E-46AF-4330-B3CC-6436F968D350}"/>
              </a:ext>
            </a:extLst>
          </p:cNvPr>
          <p:cNvSpPr>
            <a:spLocks noGrp="1"/>
          </p:cNvSpPr>
          <p:nvPr/>
        </p:nvSpPr>
        <p:spPr>
          <a:xfrm>
            <a:off x="1066800" y="5067300"/>
            <a:ext cx="4533900" cy="266700"/>
          </a:xfrm>
          <a:prstGeom prst="rect">
            <a:avLst/>
          </a:prstGeom>
          <a:noFill/>
          <a:ln w="0">
            <a:noFill/>
          </a:ln>
        </p:spPr>
        <p:txBody>
          <a:bodyPr wrap="square" lIns="0" tIns="0" rIns="0" bIns="0" anchor="t">
            <a:noAutofit/>
          </a:bodyPr>
          <a:lstStyle/>
          <a:p>
            <a:pPr algn="l">
              <a:defRPr sz="1575" b="1" i="0">
                <a:solidFill>
                  <a:srgbClr val="172033"/>
                </a:solidFill>
                <a:latin typeface="Helvetica Neue"/>
                <a:ea typeface="Helvetica Neue"/>
                <a:cs typeface="Helvetica Neue"/>
              </a:defRPr>
            </a:pPr>
            <a:r>
              <a:rPr sz="1575" b="1" i="0">
                <a:solidFill>
                  <a:srgbClr val="172033"/>
                </a:solidFill>
                <a:latin typeface="Helvetica Neue"/>
                <a:ea typeface="Helvetica Neue"/>
                <a:cs typeface="Helvetica Neue"/>
              </a:rPr>
              <a:t>End-to-end reliability</a:t>
            </a:r>
          </a:p>
        </p:txBody>
      </p:sp>
      <p:sp>
        <p:nvSpPr>
          <p:cNvPr id="12" name="Rectangle 11">
            <a:extLst>
              <a:ext uri="{FF2B5EF4-FFF2-40B4-BE49-F238E27FC236}">
                <a16:creationId xmlns:a16="http://schemas.microsoft.com/office/drawing/2014/main" id="{06D0E5F4-A514-46CC-89E1-2337A92B23A9}"/>
              </a:ext>
            </a:extLst>
          </p:cNvPr>
          <p:cNvSpPr>
            <a:spLocks noGrp="1"/>
          </p:cNvSpPr>
          <p:nvPr/>
        </p:nvSpPr>
        <p:spPr>
          <a:xfrm>
            <a:off x="1066800" y="5362575"/>
            <a:ext cx="4533900" cy="514350"/>
          </a:xfrm>
          <a:prstGeom prst="rect">
            <a:avLst/>
          </a:prstGeom>
          <a:noFill/>
          <a:ln w="0">
            <a:noFill/>
          </a:ln>
        </p:spPr>
        <p:txBody>
          <a:bodyPr wrap="square" lIns="0" tIns="0" rIns="0" bIns="0" anchor="t">
            <a:noAutofit/>
          </a:bodyPr>
          <a:lstStyle/>
          <a:p>
            <a:pPr algn="l">
              <a:defRPr sz="1350" b="0" i="0">
                <a:solidFill>
                  <a:srgbClr val="5B6475"/>
                </a:solidFill>
                <a:latin typeface="Helvetica Neue"/>
                <a:ea typeface="Helvetica Neue"/>
                <a:cs typeface="Helvetica Neue"/>
              </a:defRPr>
            </a:pPr>
            <a:r>
              <a:rPr sz="1350" b="0" i="0">
                <a:solidFill>
                  <a:srgbClr val="5B6475"/>
                </a:solidFill>
                <a:latin typeface="Helvetica Neue"/>
                <a:ea typeface="Helvetica Neue"/>
                <a:cs typeface="Helvetica Neue"/>
              </a:rPr>
              <a:t>Detection, policy, pseudonymization, cloud use, validation, and authorized restoration.</a:t>
            </a:r>
          </a:p>
        </p:txBody>
      </p:sp>
      <p:sp>
        <p:nvSpPr>
          <p:cNvPr id="13" name="Rectangle 12">
            <a:extLst>
              <a:ext uri="{FF2B5EF4-FFF2-40B4-BE49-F238E27FC236}">
                <a16:creationId xmlns:a16="http://schemas.microsoft.com/office/drawing/2014/main" id="{194E181E-D557-4B6F-A4EB-8E2A5DC16B06}"/>
              </a:ext>
            </a:extLst>
          </p:cNvPr>
          <p:cNvSpPr>
            <a:spLocks noGrp="1"/>
          </p:cNvSpPr>
          <p:nvPr/>
        </p:nvSpPr>
        <p:spPr>
          <a:xfrm>
            <a:off x="6667500" y="3714750"/>
            <a:ext cx="3429000" cy="228600"/>
          </a:xfrm>
          <a:prstGeom prst="rect">
            <a:avLst/>
          </a:prstGeom>
          <a:noFill/>
          <a:ln w="0">
            <a:noFill/>
          </a:ln>
        </p:spPr>
        <p:txBody>
          <a:bodyPr wrap="square" lIns="0" tIns="0" rIns="0" bIns="0" anchor="t">
            <a:noAutofit/>
          </a:bodyPr>
          <a:lstStyle/>
          <a:p>
            <a:pPr algn="l">
              <a:defRPr sz="1200" b="1" i="0">
                <a:solidFill>
                  <a:srgbClr val="C2415B"/>
                </a:solidFill>
                <a:latin typeface="Helvetica Neue"/>
                <a:ea typeface="Helvetica Neue"/>
                <a:cs typeface="Helvetica Neue"/>
              </a:defRPr>
            </a:pPr>
            <a:r>
              <a:rPr sz="1200" b="1" i="0">
                <a:solidFill>
                  <a:srgbClr val="C2415B"/>
                </a:solidFill>
                <a:latin typeface="Helvetica Neue"/>
                <a:ea typeface="Helvetica Neue"/>
                <a:cs typeface="Helvetica Neue"/>
              </a:rPr>
              <a:t>LIMITS OF OUR CLAIMS</a:t>
            </a:r>
          </a:p>
        </p:txBody>
      </p:sp>
      <p:sp>
        <p:nvSpPr>
          <p:cNvPr id="14" name="Oval 13">
            <a:extLst>
              <a:ext uri="{FF2B5EF4-FFF2-40B4-BE49-F238E27FC236}">
                <a16:creationId xmlns:a16="http://schemas.microsoft.com/office/drawing/2014/main" id="{864D3228-C7DF-437F-A567-6B5BA4C11A67}"/>
              </a:ext>
            </a:extLst>
          </p:cNvPr>
          <p:cNvSpPr>
            <a:spLocks noGrp="1"/>
          </p:cNvSpPr>
          <p:nvPr/>
        </p:nvSpPr>
        <p:spPr>
          <a:xfrm>
            <a:off x="6667500" y="4191000"/>
            <a:ext cx="95250" cy="95250"/>
          </a:xfrm>
          <a:prstGeom prst="ellipse">
            <a:avLst/>
          </a:prstGeom>
          <a:solidFill>
            <a:srgbClr val="C2415B"/>
          </a:solidFill>
          <a:ln w="0">
            <a:noFill/>
          </a:ln>
        </p:spPr>
        <p:txBody>
          <a:bodyPr/>
          <a:lstStyle/>
          <a:p>
            <a:endParaRPr lang="en-US"/>
          </a:p>
        </p:txBody>
      </p:sp>
      <p:sp>
        <p:nvSpPr>
          <p:cNvPr id="15" name="Rectangle 14">
            <a:extLst>
              <a:ext uri="{FF2B5EF4-FFF2-40B4-BE49-F238E27FC236}">
                <a16:creationId xmlns:a16="http://schemas.microsoft.com/office/drawing/2014/main" id="{F4D2E105-EED4-43E3-A911-9BEA79596DD6}"/>
              </a:ext>
            </a:extLst>
          </p:cNvPr>
          <p:cNvSpPr>
            <a:spLocks noGrp="1"/>
          </p:cNvSpPr>
          <p:nvPr/>
        </p:nvSpPr>
        <p:spPr>
          <a:xfrm>
            <a:off x="6896100" y="4133850"/>
            <a:ext cx="4533900" cy="266700"/>
          </a:xfrm>
          <a:prstGeom prst="rect">
            <a:avLst/>
          </a:prstGeom>
          <a:noFill/>
          <a:ln w="0">
            <a:noFill/>
          </a:ln>
        </p:spPr>
        <p:txBody>
          <a:bodyPr wrap="square" lIns="0" tIns="0" rIns="0" bIns="0" anchor="t">
            <a:noAutofit/>
          </a:bodyPr>
          <a:lstStyle/>
          <a:p>
            <a:pPr algn="l">
              <a:defRPr sz="1575" b="1" i="0">
                <a:solidFill>
                  <a:srgbClr val="172033"/>
                </a:solidFill>
                <a:latin typeface="Helvetica Neue"/>
                <a:ea typeface="Helvetica Neue"/>
                <a:cs typeface="Helvetica Neue"/>
              </a:defRPr>
            </a:pPr>
            <a:r>
              <a:rPr sz="1575" b="1" i="0">
                <a:solidFill>
                  <a:srgbClr val="172033"/>
                </a:solidFill>
                <a:latin typeface="Helvetica Neue"/>
                <a:ea typeface="Helvetica Neue"/>
                <a:cs typeface="Helvetica Neue"/>
              </a:rPr>
              <a:t>Gateway concept</a:t>
            </a:r>
          </a:p>
        </p:txBody>
      </p:sp>
      <p:sp>
        <p:nvSpPr>
          <p:cNvPr id="16" name="Rectangle 15">
            <a:extLst>
              <a:ext uri="{FF2B5EF4-FFF2-40B4-BE49-F238E27FC236}">
                <a16:creationId xmlns:a16="http://schemas.microsoft.com/office/drawing/2014/main" id="{A4C3002A-5262-4B4D-BC1B-6FEBE141A47D}"/>
              </a:ext>
            </a:extLst>
          </p:cNvPr>
          <p:cNvSpPr>
            <a:spLocks noGrp="1"/>
          </p:cNvSpPr>
          <p:nvPr/>
        </p:nvSpPr>
        <p:spPr>
          <a:xfrm>
            <a:off x="6896100" y="4429125"/>
            <a:ext cx="4533900" cy="514350"/>
          </a:xfrm>
          <a:prstGeom prst="rect">
            <a:avLst/>
          </a:prstGeom>
          <a:noFill/>
          <a:ln w="0">
            <a:noFill/>
          </a:ln>
        </p:spPr>
        <p:txBody>
          <a:bodyPr wrap="square" lIns="0" tIns="0" rIns="0" bIns="0" anchor="t">
            <a:noAutofit/>
          </a:bodyPr>
          <a:lstStyle/>
          <a:p>
            <a:pPr algn="l">
              <a:defRPr sz="1350" b="0" i="0">
                <a:solidFill>
                  <a:srgbClr val="5B6475"/>
                </a:solidFill>
                <a:latin typeface="Helvetica Neue"/>
                <a:ea typeface="Helvetica Neue"/>
                <a:cs typeface="Helvetica Neue"/>
              </a:defRPr>
            </a:pPr>
            <a:r>
              <a:rPr sz="1350" b="0" i="0">
                <a:solidFill>
                  <a:srgbClr val="5B6475"/>
                </a:solidFill>
                <a:latin typeface="Helvetica Neue"/>
                <a:ea typeface="Helvetica Neue"/>
                <a:cs typeface="Helvetica Neue"/>
              </a:rPr>
              <a:t>Established prior art. Our contribution focuses on the domain, fusion logic, and evaluation.</a:t>
            </a:r>
          </a:p>
        </p:txBody>
      </p:sp>
      <p:sp>
        <p:nvSpPr>
          <p:cNvPr id="17" name="Oval 16">
            <a:extLst>
              <a:ext uri="{FF2B5EF4-FFF2-40B4-BE49-F238E27FC236}">
                <a16:creationId xmlns:a16="http://schemas.microsoft.com/office/drawing/2014/main" id="{5405A490-AC4B-4357-9365-2ACA0FED3C3F}"/>
              </a:ext>
            </a:extLst>
          </p:cNvPr>
          <p:cNvSpPr>
            <a:spLocks noGrp="1"/>
          </p:cNvSpPr>
          <p:nvPr/>
        </p:nvSpPr>
        <p:spPr>
          <a:xfrm>
            <a:off x="6667500" y="5124450"/>
            <a:ext cx="95250" cy="95250"/>
          </a:xfrm>
          <a:prstGeom prst="ellipse">
            <a:avLst/>
          </a:prstGeom>
          <a:solidFill>
            <a:srgbClr val="C2415B"/>
          </a:solidFill>
          <a:ln w="0">
            <a:noFill/>
          </a:ln>
        </p:spPr>
        <p:txBody>
          <a:bodyPr/>
          <a:lstStyle/>
          <a:p>
            <a:endParaRPr lang="en-US"/>
          </a:p>
        </p:txBody>
      </p:sp>
      <p:sp>
        <p:nvSpPr>
          <p:cNvPr id="18" name="Rectangle 17">
            <a:extLst>
              <a:ext uri="{FF2B5EF4-FFF2-40B4-BE49-F238E27FC236}">
                <a16:creationId xmlns:a16="http://schemas.microsoft.com/office/drawing/2014/main" id="{3B54C31B-E901-491B-BD17-7F244D187C0B}"/>
              </a:ext>
            </a:extLst>
          </p:cNvPr>
          <p:cNvSpPr>
            <a:spLocks noGrp="1"/>
          </p:cNvSpPr>
          <p:nvPr/>
        </p:nvSpPr>
        <p:spPr>
          <a:xfrm>
            <a:off x="6896100" y="5067300"/>
            <a:ext cx="4533900" cy="266700"/>
          </a:xfrm>
          <a:prstGeom prst="rect">
            <a:avLst/>
          </a:prstGeom>
          <a:noFill/>
          <a:ln w="0">
            <a:noFill/>
          </a:ln>
        </p:spPr>
        <p:txBody>
          <a:bodyPr wrap="square" lIns="0" tIns="0" rIns="0" bIns="0" anchor="t">
            <a:noAutofit/>
          </a:bodyPr>
          <a:lstStyle/>
          <a:p>
            <a:pPr algn="l">
              <a:defRPr sz="1575" b="1" i="0">
                <a:solidFill>
                  <a:srgbClr val="172033"/>
                </a:solidFill>
                <a:latin typeface="Helvetica Neue"/>
                <a:ea typeface="Helvetica Neue"/>
                <a:cs typeface="Helvetica Neue"/>
              </a:defRPr>
            </a:pPr>
            <a:r>
              <a:rPr sz="1575" b="1" i="0">
                <a:solidFill>
                  <a:srgbClr val="172033"/>
                </a:solidFill>
                <a:latin typeface="Helvetica Neue"/>
                <a:ea typeface="Helvetica Neue"/>
                <a:cs typeface="Helvetica Neue"/>
              </a:rPr>
              <a:t>Privacy guarantee</a:t>
            </a:r>
          </a:p>
        </p:txBody>
      </p:sp>
      <p:sp>
        <p:nvSpPr>
          <p:cNvPr id="19" name="Rectangle 18">
            <a:extLst>
              <a:ext uri="{FF2B5EF4-FFF2-40B4-BE49-F238E27FC236}">
                <a16:creationId xmlns:a16="http://schemas.microsoft.com/office/drawing/2014/main" id="{ECBD942E-731B-4A1F-A6C7-ACD25F17FE0B}"/>
              </a:ext>
            </a:extLst>
          </p:cNvPr>
          <p:cNvSpPr>
            <a:spLocks noGrp="1"/>
          </p:cNvSpPr>
          <p:nvPr/>
        </p:nvSpPr>
        <p:spPr>
          <a:xfrm>
            <a:off x="6896100" y="5362575"/>
            <a:ext cx="4533900" cy="514350"/>
          </a:xfrm>
          <a:prstGeom prst="rect">
            <a:avLst/>
          </a:prstGeom>
          <a:noFill/>
          <a:ln w="0">
            <a:noFill/>
          </a:ln>
        </p:spPr>
        <p:txBody>
          <a:bodyPr wrap="square" lIns="0" tIns="0" rIns="0" bIns="0" anchor="t">
            <a:noAutofit/>
          </a:bodyPr>
          <a:lstStyle/>
          <a:p>
            <a:pPr algn="l">
              <a:defRPr sz="1350" b="0" i="0">
                <a:solidFill>
                  <a:srgbClr val="5B6475"/>
                </a:solidFill>
                <a:latin typeface="Helvetica Neue"/>
                <a:ea typeface="Helvetica Neue"/>
                <a:cs typeface="Helvetica Neue"/>
              </a:defRPr>
            </a:pPr>
            <a:r>
              <a:rPr sz="1350" b="0" i="0">
                <a:solidFill>
                  <a:srgbClr val="5B6475"/>
                </a:solidFill>
                <a:latin typeface="Helvetica Neue"/>
                <a:ea typeface="Helvetica Neue"/>
                <a:cs typeface="Helvetica Neue"/>
              </a:rPr>
              <a:t>We evaluate leakage under a defined threat model. We do not claim universal anonymity.</a:t>
            </a:r>
          </a:p>
        </p:txBody>
      </p:sp>
      <p:sp>
        <p:nvSpPr>
          <p:cNvPr id="20" name="Straight Connector 19">
            <a:extLst>
              <a:ext uri="{FF2B5EF4-FFF2-40B4-BE49-F238E27FC236}">
                <a16:creationId xmlns:a16="http://schemas.microsoft.com/office/drawing/2014/main" id="{1A4A8716-7131-43F9-82B3-F09B1D547A48}"/>
              </a:ext>
            </a:extLst>
          </p:cNvPr>
          <p:cNvSpPr>
            <a:spLocks noGrp="1"/>
          </p:cNvSpPr>
          <p:nvPr/>
        </p:nvSpPr>
        <p:spPr>
          <a:xfrm>
            <a:off x="685800" y="6467475"/>
            <a:ext cx="10820400" cy="9525"/>
          </a:xfrm>
          <a:prstGeom prst="line">
            <a:avLst/>
          </a:prstGeom>
          <a:noFill/>
          <a:ln w="9525">
            <a:solidFill>
              <a:srgbClr val="D9DEEA"/>
            </a:solidFill>
          </a:ln>
        </p:spPr>
        <p:txBody>
          <a:bodyPr/>
          <a:lstStyle/>
          <a:p>
            <a:endParaRPr lang="en-US"/>
          </a:p>
        </p:txBody>
      </p:sp>
      <p:sp>
        <p:nvSpPr>
          <p:cNvPr id="21" name="Rectangle 20">
            <a:extLst>
              <a:ext uri="{FF2B5EF4-FFF2-40B4-BE49-F238E27FC236}">
                <a16:creationId xmlns:a16="http://schemas.microsoft.com/office/drawing/2014/main" id="{1002A23A-3DDC-4F29-AAE7-459F82420ECA}"/>
              </a:ext>
            </a:extLst>
          </p:cNvPr>
          <p:cNvSpPr>
            <a:spLocks noGrp="1"/>
          </p:cNvSpPr>
          <p:nvPr/>
        </p:nvSpPr>
        <p:spPr>
          <a:xfrm>
            <a:off x="685800" y="6553200"/>
            <a:ext cx="4762500" cy="171450"/>
          </a:xfrm>
          <a:prstGeom prst="rect">
            <a:avLst/>
          </a:prstGeom>
          <a:noFill/>
          <a:ln w="0">
            <a:noFill/>
          </a:ln>
        </p:spPr>
        <p:txBody>
          <a:bodyPr wrap="square" lIns="0" tIns="0" rIns="0" bIns="0" anchor="t">
            <a:noAutofit/>
          </a:bodyPr>
          <a:lstStyle/>
          <a:p>
            <a:pPr algn="l">
              <a:defRPr sz="900" b="0" i="0">
                <a:solidFill>
                  <a:srgbClr val="5B6475"/>
                </a:solidFill>
                <a:latin typeface="Helvetica Neue"/>
                <a:ea typeface="Helvetica Neue"/>
                <a:cs typeface="Helvetica Neue"/>
              </a:defRPr>
            </a:pPr>
            <a:r>
              <a:rPr sz="900" b="0" i="0">
                <a:solidFill>
                  <a:srgbClr val="5B6475"/>
                </a:solidFill>
                <a:latin typeface="Helvetica Neue"/>
                <a:ea typeface="Helvetica Neue"/>
                <a:cs typeface="Helvetica Neue"/>
              </a:rPr>
              <a:t>Finaira sponsorship interview</a:t>
            </a:r>
          </a:p>
        </p:txBody>
      </p:sp>
      <p:sp>
        <p:nvSpPr>
          <p:cNvPr id="22" name="Rectangle 21">
            <a:extLst>
              <a:ext uri="{FF2B5EF4-FFF2-40B4-BE49-F238E27FC236}">
                <a16:creationId xmlns:a16="http://schemas.microsoft.com/office/drawing/2014/main" id="{E0F78428-B08E-4EA3-8213-C4187D8B71F6}"/>
              </a:ext>
            </a:extLst>
          </p:cNvPr>
          <p:cNvSpPr>
            <a:spLocks noGrp="1"/>
          </p:cNvSpPr>
          <p:nvPr/>
        </p:nvSpPr>
        <p:spPr>
          <a:xfrm>
            <a:off x="11096625" y="6553200"/>
            <a:ext cx="409575" cy="171450"/>
          </a:xfrm>
          <a:prstGeom prst="rect">
            <a:avLst/>
          </a:prstGeom>
          <a:noFill/>
          <a:ln w="0">
            <a:noFill/>
          </a:ln>
        </p:spPr>
        <p:txBody>
          <a:bodyPr wrap="square" lIns="0" tIns="0" rIns="0" bIns="0" anchor="t">
            <a:noAutofit/>
          </a:bodyPr>
          <a:lstStyle/>
          <a:p>
            <a:pPr algn="r">
              <a:defRPr sz="900" b="1" i="0">
                <a:solidFill>
                  <a:srgbClr val="5B6475"/>
                </a:solidFill>
                <a:latin typeface="Helvetica Neue"/>
                <a:ea typeface="Helvetica Neue"/>
                <a:cs typeface="Helvetica Neue"/>
              </a:defRPr>
            </a:pPr>
            <a:r>
              <a:rPr sz="900" b="1" i="0">
                <a:solidFill>
                  <a:srgbClr val="5B6475"/>
                </a:solidFill>
                <a:latin typeface="Helvetica Neue"/>
                <a:ea typeface="Helvetica Neue"/>
                <a:cs typeface="Helvetica Neue"/>
              </a:rPr>
              <a:t>06</a:t>
            </a:r>
          </a:p>
        </p:txBody>
      </p:sp>
    </p:spTree>
    <p:extLst>
      <p:ext uri="{BB962C8B-B14F-4D97-AF65-F5344CB8AC3E}">
        <p14:creationId xmlns:p14="http://schemas.microsoft.com/office/powerpoint/2010/main" val="1867182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CE60B708-4D8C-4D49-9C19-D16AAECA6EC0}"/>
              </a:ext>
            </a:extLst>
          </p:cNvPr>
          <p:cNvSpPr>
            <a:spLocks noGrp="1"/>
          </p:cNvSpPr>
          <p:nvPr/>
        </p:nvSpPr>
        <p:spPr>
          <a:xfrm>
            <a:off x="0" y="0"/>
            <a:ext cx="12192000" cy="95250"/>
          </a:xfrm>
          <a:prstGeom prst="rect">
            <a:avLst/>
          </a:prstGeom>
          <a:solidFill>
            <a:srgbClr val="4F46E5"/>
          </a:solidFill>
          <a:ln w="0">
            <a:noFill/>
          </a:ln>
        </p:spPr>
        <p:txBody>
          <a:bodyPr/>
          <a:lstStyle/>
          <a:p>
            <a:endParaRPr lang="en-US"/>
          </a:p>
        </p:txBody>
      </p:sp>
      <p:sp>
        <p:nvSpPr>
          <p:cNvPr id="2" name="Rectangle 1">
            <a:extLst>
              <a:ext uri="{FF2B5EF4-FFF2-40B4-BE49-F238E27FC236}">
                <a16:creationId xmlns:a16="http://schemas.microsoft.com/office/drawing/2014/main" id="{9770A6A9-AB63-4B8A-8DF6-8444BD1AAF53}"/>
              </a:ext>
            </a:extLst>
          </p:cNvPr>
          <p:cNvSpPr>
            <a:spLocks noGrp="1"/>
          </p:cNvSpPr>
          <p:nvPr/>
        </p:nvSpPr>
        <p:spPr>
          <a:xfrm>
            <a:off x="685800" y="361950"/>
            <a:ext cx="3333750" cy="238125"/>
          </a:xfrm>
          <a:prstGeom prst="rect">
            <a:avLst/>
          </a:prstGeom>
          <a:noFill/>
          <a:ln w="0">
            <a:noFill/>
          </a:ln>
        </p:spPr>
        <p:txBody>
          <a:bodyPr wrap="square" lIns="0" tIns="0" rIns="0" bIns="0" anchor="t">
            <a:noAutofit/>
          </a:bodyPr>
          <a:lstStyle/>
          <a:p>
            <a:pPr algn="l">
              <a:defRPr sz="1125" b="1" i="0">
                <a:solidFill>
                  <a:srgbClr val="4F46E5"/>
                </a:solidFill>
                <a:latin typeface="Helvetica Neue"/>
                <a:ea typeface="Helvetica Neue"/>
                <a:cs typeface="Helvetica Neue"/>
              </a:defRPr>
            </a:pPr>
            <a:r>
              <a:rPr sz="1125" b="1" i="0">
                <a:solidFill>
                  <a:srgbClr val="4F46E5"/>
                </a:solidFill>
                <a:latin typeface="Helvetica Neue"/>
                <a:ea typeface="Helvetica Neue"/>
                <a:cs typeface="Helvetica Neue"/>
              </a:rPr>
              <a:t>RESEARCH GAP</a:t>
            </a:r>
          </a:p>
        </p:txBody>
      </p:sp>
      <p:sp>
        <p:nvSpPr>
          <p:cNvPr id="3" name="Rectangle 2">
            <a:extLst>
              <a:ext uri="{FF2B5EF4-FFF2-40B4-BE49-F238E27FC236}">
                <a16:creationId xmlns:a16="http://schemas.microsoft.com/office/drawing/2014/main" id="{AC1889A0-834D-4020-9579-BE8454443E56}"/>
              </a:ext>
            </a:extLst>
          </p:cNvPr>
          <p:cNvSpPr>
            <a:spLocks noGrp="1"/>
          </p:cNvSpPr>
          <p:nvPr/>
        </p:nvSpPr>
        <p:spPr>
          <a:xfrm>
            <a:off x="685800" y="638175"/>
            <a:ext cx="10820400" cy="619125"/>
          </a:xfrm>
          <a:prstGeom prst="rect">
            <a:avLst/>
          </a:prstGeom>
          <a:noFill/>
          <a:ln w="0">
            <a:noFill/>
          </a:ln>
        </p:spPr>
        <p:txBody>
          <a:bodyPr wrap="square" lIns="0" tIns="0" rIns="0" bIns="0" anchor="t">
            <a:noAutofit/>
          </a:bodyPr>
          <a:lstStyle/>
          <a:p>
            <a:pPr algn="l">
              <a:defRPr sz="3150" b="1" i="0">
                <a:solidFill>
                  <a:srgbClr val="172033"/>
                </a:solidFill>
                <a:latin typeface="Helvetica Neue"/>
                <a:ea typeface="Helvetica Neue"/>
                <a:cs typeface="Helvetica Neue"/>
              </a:defRPr>
            </a:pPr>
            <a:r>
              <a:rPr sz="3150" b="1" i="0">
                <a:solidFill>
                  <a:srgbClr val="172033"/>
                </a:solidFill>
                <a:latin typeface="Helvetica Neue"/>
                <a:ea typeface="Helvetica Neue"/>
                <a:cs typeface="Helvetica Neue"/>
              </a:rPr>
              <a:t>What current approaches still miss</a:t>
            </a:r>
          </a:p>
        </p:txBody>
      </p:sp>
      <p:sp>
        <p:nvSpPr>
          <p:cNvPr id="4" name="Rectangle 3">
            <a:extLst>
              <a:ext uri="{FF2B5EF4-FFF2-40B4-BE49-F238E27FC236}">
                <a16:creationId xmlns:a16="http://schemas.microsoft.com/office/drawing/2014/main" id="{B2A3ED4E-0724-4F6A-B79F-1BBBFE07FA35}"/>
              </a:ext>
            </a:extLst>
          </p:cNvPr>
          <p:cNvSpPr>
            <a:spLocks noGrp="1"/>
          </p:cNvSpPr>
          <p:nvPr/>
        </p:nvSpPr>
        <p:spPr>
          <a:xfrm>
            <a:off x="800100" y="1590675"/>
            <a:ext cx="533400" cy="304800"/>
          </a:xfrm>
          <a:prstGeom prst="rect">
            <a:avLst/>
          </a:prstGeom>
          <a:noFill/>
          <a:ln w="0">
            <a:noFill/>
          </a:ln>
        </p:spPr>
        <p:txBody>
          <a:bodyPr wrap="square" lIns="0" tIns="0" rIns="0" bIns="0" anchor="t">
            <a:noAutofit/>
          </a:bodyPr>
          <a:lstStyle/>
          <a:p>
            <a:pPr algn="l">
              <a:defRPr sz="1650" b="1" i="0">
                <a:solidFill>
                  <a:srgbClr val="4F46E5"/>
                </a:solidFill>
                <a:latin typeface="Helvetica Neue"/>
                <a:ea typeface="Helvetica Neue"/>
                <a:cs typeface="Helvetica Neue"/>
              </a:defRPr>
            </a:pPr>
            <a:r>
              <a:rPr sz="1650" b="1" i="0">
                <a:solidFill>
                  <a:srgbClr val="4F46E5"/>
                </a:solidFill>
                <a:latin typeface="Helvetica Neue"/>
                <a:ea typeface="Helvetica Neue"/>
                <a:cs typeface="Helvetica Neue"/>
              </a:rPr>
              <a:t>01</a:t>
            </a:r>
          </a:p>
        </p:txBody>
      </p:sp>
      <p:sp>
        <p:nvSpPr>
          <p:cNvPr id="5" name="Rectangle 4">
            <a:extLst>
              <a:ext uri="{FF2B5EF4-FFF2-40B4-BE49-F238E27FC236}">
                <a16:creationId xmlns:a16="http://schemas.microsoft.com/office/drawing/2014/main" id="{D5899E1C-5758-4317-879A-40A8A90A349C}"/>
              </a:ext>
            </a:extLst>
          </p:cNvPr>
          <p:cNvSpPr>
            <a:spLocks noGrp="1"/>
          </p:cNvSpPr>
          <p:nvPr/>
        </p:nvSpPr>
        <p:spPr>
          <a:xfrm>
            <a:off x="1504950" y="1524000"/>
            <a:ext cx="3381375" cy="304800"/>
          </a:xfrm>
          <a:prstGeom prst="rect">
            <a:avLst/>
          </a:prstGeom>
          <a:noFill/>
          <a:ln w="0">
            <a:noFill/>
          </a:ln>
        </p:spPr>
        <p:txBody>
          <a:bodyPr wrap="square" lIns="0" tIns="0" rIns="0" bIns="0" anchor="t">
            <a:noAutofit/>
          </a:bodyPr>
          <a:lstStyle/>
          <a:p>
            <a:pPr algn="l">
              <a:defRPr sz="1725" b="1" i="0">
                <a:solidFill>
                  <a:srgbClr val="172033"/>
                </a:solidFill>
                <a:latin typeface="Helvetica Neue"/>
                <a:ea typeface="Helvetica Neue"/>
                <a:cs typeface="Helvetica Neue"/>
              </a:defRPr>
            </a:pPr>
            <a:r>
              <a:rPr sz="1725" b="1" i="0">
                <a:solidFill>
                  <a:srgbClr val="172033"/>
                </a:solidFill>
                <a:latin typeface="Helvetica Neue"/>
                <a:ea typeface="Helvetica Neue"/>
                <a:cs typeface="Helvetica Neue"/>
              </a:rPr>
              <a:t>Code switching and OCR noise</a:t>
            </a:r>
          </a:p>
        </p:txBody>
      </p:sp>
      <p:sp>
        <p:nvSpPr>
          <p:cNvPr id="6" name="Rectangle 5">
            <a:extLst>
              <a:ext uri="{FF2B5EF4-FFF2-40B4-BE49-F238E27FC236}">
                <a16:creationId xmlns:a16="http://schemas.microsoft.com/office/drawing/2014/main" id="{AE20FF6E-89CA-4336-9F31-EEA8CFE11811}"/>
              </a:ext>
            </a:extLst>
          </p:cNvPr>
          <p:cNvSpPr>
            <a:spLocks noGrp="1"/>
          </p:cNvSpPr>
          <p:nvPr/>
        </p:nvSpPr>
        <p:spPr>
          <a:xfrm>
            <a:off x="5048250" y="1524000"/>
            <a:ext cx="6191250" cy="552450"/>
          </a:xfrm>
          <a:prstGeom prst="rect">
            <a:avLst/>
          </a:prstGeom>
          <a:noFill/>
          <a:ln w="0">
            <a:noFill/>
          </a:ln>
        </p:spPr>
        <p:txBody>
          <a:bodyPr wrap="square" lIns="0" tIns="0" rIns="0" bIns="0" anchor="t">
            <a:noAutofit/>
          </a:bodyPr>
          <a:lstStyle/>
          <a:p>
            <a:pPr algn="l">
              <a:defRPr sz="1425" b="0" i="0">
                <a:solidFill>
                  <a:srgbClr val="5B6475"/>
                </a:solidFill>
                <a:latin typeface="Helvetica Neue"/>
                <a:ea typeface="Helvetica Neue"/>
                <a:cs typeface="Helvetica Neue"/>
              </a:defRPr>
            </a:pPr>
            <a:r>
              <a:rPr sz="1425" b="0" i="0">
                <a:solidFill>
                  <a:srgbClr val="5B6475"/>
                </a:solidFill>
                <a:latin typeface="Helvetica Neue"/>
                <a:ea typeface="Helvetica Neue"/>
                <a:cs typeface="Helvetica Neue"/>
              </a:rPr>
              <a:t>Arabic, English banking terms, mixed digits, spelling variants, and broken reading order can reduce recall.</a:t>
            </a:r>
          </a:p>
        </p:txBody>
      </p:sp>
      <p:sp>
        <p:nvSpPr>
          <p:cNvPr id="7" name="Straight Connector 6">
            <a:extLst>
              <a:ext uri="{FF2B5EF4-FFF2-40B4-BE49-F238E27FC236}">
                <a16:creationId xmlns:a16="http://schemas.microsoft.com/office/drawing/2014/main" id="{373FE3C2-BC49-4930-9DB6-4EA60EDBDFFF}"/>
              </a:ext>
            </a:extLst>
          </p:cNvPr>
          <p:cNvSpPr>
            <a:spLocks noGrp="1"/>
          </p:cNvSpPr>
          <p:nvPr/>
        </p:nvSpPr>
        <p:spPr>
          <a:xfrm>
            <a:off x="800100" y="2209800"/>
            <a:ext cx="10439400" cy="9525"/>
          </a:xfrm>
          <a:prstGeom prst="line">
            <a:avLst/>
          </a:prstGeom>
          <a:noFill/>
          <a:ln w="9525">
            <a:solidFill>
              <a:srgbClr val="D9DEEA"/>
            </a:solidFill>
          </a:ln>
        </p:spPr>
        <p:txBody>
          <a:bodyPr/>
          <a:lstStyle/>
          <a:p>
            <a:endParaRPr lang="en-US"/>
          </a:p>
        </p:txBody>
      </p:sp>
      <p:sp>
        <p:nvSpPr>
          <p:cNvPr id="8" name="Rectangle 7">
            <a:extLst>
              <a:ext uri="{FF2B5EF4-FFF2-40B4-BE49-F238E27FC236}">
                <a16:creationId xmlns:a16="http://schemas.microsoft.com/office/drawing/2014/main" id="{84D1094F-943D-494A-AACB-488AB6A19680}"/>
              </a:ext>
            </a:extLst>
          </p:cNvPr>
          <p:cNvSpPr>
            <a:spLocks noGrp="1"/>
          </p:cNvSpPr>
          <p:nvPr/>
        </p:nvSpPr>
        <p:spPr>
          <a:xfrm>
            <a:off x="800100" y="2505075"/>
            <a:ext cx="533400" cy="304800"/>
          </a:xfrm>
          <a:prstGeom prst="rect">
            <a:avLst/>
          </a:prstGeom>
          <a:noFill/>
          <a:ln w="0">
            <a:noFill/>
          </a:ln>
        </p:spPr>
        <p:txBody>
          <a:bodyPr wrap="square" lIns="0" tIns="0" rIns="0" bIns="0" anchor="t">
            <a:noAutofit/>
          </a:bodyPr>
          <a:lstStyle/>
          <a:p>
            <a:pPr algn="l">
              <a:defRPr sz="1650" b="1" i="0">
                <a:solidFill>
                  <a:srgbClr val="4F46E5"/>
                </a:solidFill>
                <a:latin typeface="Helvetica Neue"/>
                <a:ea typeface="Helvetica Neue"/>
                <a:cs typeface="Helvetica Neue"/>
              </a:defRPr>
            </a:pPr>
            <a:r>
              <a:rPr sz="1650" b="1" i="0">
                <a:solidFill>
                  <a:srgbClr val="4F46E5"/>
                </a:solidFill>
                <a:latin typeface="Helvetica Neue"/>
                <a:ea typeface="Helvetica Neue"/>
                <a:cs typeface="Helvetica Neue"/>
              </a:rPr>
              <a:t>02</a:t>
            </a:r>
          </a:p>
        </p:txBody>
      </p:sp>
      <p:sp>
        <p:nvSpPr>
          <p:cNvPr id="9" name="Rectangle 8">
            <a:extLst>
              <a:ext uri="{FF2B5EF4-FFF2-40B4-BE49-F238E27FC236}">
                <a16:creationId xmlns:a16="http://schemas.microsoft.com/office/drawing/2014/main" id="{9C224E51-7ED6-45AC-AB50-F6124053B88B}"/>
              </a:ext>
            </a:extLst>
          </p:cNvPr>
          <p:cNvSpPr>
            <a:spLocks noGrp="1"/>
          </p:cNvSpPr>
          <p:nvPr/>
        </p:nvSpPr>
        <p:spPr>
          <a:xfrm>
            <a:off x="1504950" y="2438400"/>
            <a:ext cx="3381375" cy="304800"/>
          </a:xfrm>
          <a:prstGeom prst="rect">
            <a:avLst/>
          </a:prstGeom>
          <a:noFill/>
          <a:ln w="0">
            <a:noFill/>
          </a:ln>
        </p:spPr>
        <p:txBody>
          <a:bodyPr wrap="square" lIns="0" tIns="0" rIns="0" bIns="0" anchor="t">
            <a:noAutofit/>
          </a:bodyPr>
          <a:lstStyle/>
          <a:p>
            <a:pPr algn="l">
              <a:defRPr sz="1725" b="1" i="0">
                <a:solidFill>
                  <a:srgbClr val="172033"/>
                </a:solidFill>
                <a:latin typeface="Helvetica Neue"/>
                <a:ea typeface="Helvetica Neue"/>
                <a:cs typeface="Helvetica Neue"/>
              </a:defRPr>
            </a:pPr>
            <a:r>
              <a:rPr sz="1725" b="1" i="0">
                <a:solidFill>
                  <a:srgbClr val="172033"/>
                </a:solidFill>
                <a:latin typeface="Helvetica Neue"/>
                <a:ea typeface="Helvetica Neue"/>
                <a:cs typeface="Helvetica Neue"/>
              </a:rPr>
              <a:t>Ambiguous financial numbers</a:t>
            </a:r>
          </a:p>
        </p:txBody>
      </p:sp>
      <p:sp>
        <p:nvSpPr>
          <p:cNvPr id="10" name="Rectangle 9">
            <a:extLst>
              <a:ext uri="{FF2B5EF4-FFF2-40B4-BE49-F238E27FC236}">
                <a16:creationId xmlns:a16="http://schemas.microsoft.com/office/drawing/2014/main" id="{A6F34EBF-C63E-4E39-91BA-DA8AD026B03E}"/>
              </a:ext>
            </a:extLst>
          </p:cNvPr>
          <p:cNvSpPr>
            <a:spLocks noGrp="1"/>
          </p:cNvSpPr>
          <p:nvPr/>
        </p:nvSpPr>
        <p:spPr>
          <a:xfrm>
            <a:off x="5048250" y="2438400"/>
            <a:ext cx="6191250" cy="552450"/>
          </a:xfrm>
          <a:prstGeom prst="rect">
            <a:avLst/>
          </a:prstGeom>
          <a:noFill/>
          <a:ln w="0">
            <a:noFill/>
          </a:ln>
        </p:spPr>
        <p:txBody>
          <a:bodyPr wrap="square" lIns="0" tIns="0" rIns="0" bIns="0" anchor="t">
            <a:noAutofit/>
          </a:bodyPr>
          <a:lstStyle/>
          <a:p>
            <a:pPr algn="l">
              <a:defRPr sz="1425" b="0" i="0">
                <a:solidFill>
                  <a:srgbClr val="5B6475"/>
                </a:solidFill>
                <a:latin typeface="Helvetica Neue"/>
                <a:ea typeface="Helvetica Neue"/>
                <a:cs typeface="Helvetica Neue"/>
              </a:defRPr>
            </a:pPr>
            <a:r>
              <a:rPr sz="1425" b="0" i="0">
                <a:solidFill>
                  <a:srgbClr val="5B6475"/>
                </a:solidFill>
                <a:latin typeface="Helvetica Neue"/>
                <a:ea typeface="Helvetica Neue"/>
                <a:cs typeface="Helvetica Neue"/>
              </a:rPr>
              <a:t>A format match cannot always distinguish an identifier from an amount or reference number.</a:t>
            </a:r>
          </a:p>
        </p:txBody>
      </p:sp>
      <p:sp>
        <p:nvSpPr>
          <p:cNvPr id="11" name="Straight Connector 10">
            <a:extLst>
              <a:ext uri="{FF2B5EF4-FFF2-40B4-BE49-F238E27FC236}">
                <a16:creationId xmlns:a16="http://schemas.microsoft.com/office/drawing/2014/main" id="{89F76F88-F2D9-407B-99D0-20E485E0A9FF}"/>
              </a:ext>
            </a:extLst>
          </p:cNvPr>
          <p:cNvSpPr>
            <a:spLocks noGrp="1"/>
          </p:cNvSpPr>
          <p:nvPr/>
        </p:nvSpPr>
        <p:spPr>
          <a:xfrm>
            <a:off x="800100" y="3124200"/>
            <a:ext cx="10439400" cy="9525"/>
          </a:xfrm>
          <a:prstGeom prst="line">
            <a:avLst/>
          </a:prstGeom>
          <a:noFill/>
          <a:ln w="9525">
            <a:solidFill>
              <a:srgbClr val="D9DEEA"/>
            </a:solidFill>
          </a:ln>
        </p:spPr>
        <p:txBody>
          <a:bodyPr/>
          <a:lstStyle/>
          <a:p>
            <a:endParaRPr lang="en-US"/>
          </a:p>
        </p:txBody>
      </p:sp>
      <p:sp>
        <p:nvSpPr>
          <p:cNvPr id="12" name="Rectangle 11">
            <a:extLst>
              <a:ext uri="{FF2B5EF4-FFF2-40B4-BE49-F238E27FC236}">
                <a16:creationId xmlns:a16="http://schemas.microsoft.com/office/drawing/2014/main" id="{FE1492FF-4B18-428E-9C30-DCFD79FE244C}"/>
              </a:ext>
            </a:extLst>
          </p:cNvPr>
          <p:cNvSpPr>
            <a:spLocks noGrp="1"/>
          </p:cNvSpPr>
          <p:nvPr/>
        </p:nvSpPr>
        <p:spPr>
          <a:xfrm>
            <a:off x="800100" y="3419475"/>
            <a:ext cx="533400" cy="304800"/>
          </a:xfrm>
          <a:prstGeom prst="rect">
            <a:avLst/>
          </a:prstGeom>
          <a:noFill/>
          <a:ln w="0">
            <a:noFill/>
          </a:ln>
        </p:spPr>
        <p:txBody>
          <a:bodyPr wrap="square" lIns="0" tIns="0" rIns="0" bIns="0" anchor="t">
            <a:noAutofit/>
          </a:bodyPr>
          <a:lstStyle/>
          <a:p>
            <a:pPr algn="l">
              <a:defRPr sz="1650" b="1" i="0">
                <a:solidFill>
                  <a:srgbClr val="C2415B"/>
                </a:solidFill>
                <a:latin typeface="Helvetica Neue"/>
                <a:ea typeface="Helvetica Neue"/>
                <a:cs typeface="Helvetica Neue"/>
              </a:defRPr>
            </a:pPr>
            <a:r>
              <a:rPr sz="1650" b="1" i="0">
                <a:solidFill>
                  <a:srgbClr val="C2415B"/>
                </a:solidFill>
                <a:latin typeface="Helvetica Neue"/>
                <a:ea typeface="Helvetica Neue"/>
                <a:cs typeface="Helvetica Neue"/>
              </a:rPr>
              <a:t>03</a:t>
            </a:r>
          </a:p>
        </p:txBody>
      </p:sp>
      <p:sp>
        <p:nvSpPr>
          <p:cNvPr id="13" name="Rectangle 12">
            <a:extLst>
              <a:ext uri="{FF2B5EF4-FFF2-40B4-BE49-F238E27FC236}">
                <a16:creationId xmlns:a16="http://schemas.microsoft.com/office/drawing/2014/main" id="{C5D680D2-9C29-4A78-AF50-CD28C4D73B64}"/>
              </a:ext>
            </a:extLst>
          </p:cNvPr>
          <p:cNvSpPr>
            <a:spLocks noGrp="1"/>
          </p:cNvSpPr>
          <p:nvPr/>
        </p:nvSpPr>
        <p:spPr>
          <a:xfrm>
            <a:off x="1504950" y="3352800"/>
            <a:ext cx="3381375" cy="304800"/>
          </a:xfrm>
          <a:prstGeom prst="rect">
            <a:avLst/>
          </a:prstGeom>
          <a:noFill/>
          <a:ln w="0">
            <a:noFill/>
          </a:ln>
        </p:spPr>
        <p:txBody>
          <a:bodyPr wrap="square" lIns="0" tIns="0" rIns="0" bIns="0" anchor="t">
            <a:noAutofit/>
          </a:bodyPr>
          <a:lstStyle/>
          <a:p>
            <a:pPr algn="l">
              <a:defRPr sz="1725" b="1" i="0">
                <a:solidFill>
                  <a:srgbClr val="172033"/>
                </a:solidFill>
                <a:latin typeface="Helvetica Neue"/>
                <a:ea typeface="Helvetica Neue"/>
                <a:cs typeface="Helvetica Neue"/>
              </a:defRPr>
            </a:pPr>
            <a:r>
              <a:rPr sz="1725" b="1" i="0">
                <a:solidFill>
                  <a:srgbClr val="172033"/>
                </a:solidFill>
                <a:latin typeface="Helvetica Neue"/>
                <a:ea typeface="Helvetica Neue"/>
                <a:cs typeface="Helvetica Neue"/>
              </a:rPr>
              <a:t>Contextual disclosure</a:t>
            </a:r>
          </a:p>
        </p:txBody>
      </p:sp>
      <p:sp>
        <p:nvSpPr>
          <p:cNvPr id="14" name="Rectangle 13">
            <a:extLst>
              <a:ext uri="{FF2B5EF4-FFF2-40B4-BE49-F238E27FC236}">
                <a16:creationId xmlns:a16="http://schemas.microsoft.com/office/drawing/2014/main" id="{E0A7C5E0-269B-47E9-8A7B-F6C384AD570D}"/>
              </a:ext>
            </a:extLst>
          </p:cNvPr>
          <p:cNvSpPr>
            <a:spLocks noGrp="1"/>
          </p:cNvSpPr>
          <p:nvPr/>
        </p:nvSpPr>
        <p:spPr>
          <a:xfrm>
            <a:off x="5048250" y="3352800"/>
            <a:ext cx="6191250" cy="552450"/>
          </a:xfrm>
          <a:prstGeom prst="rect">
            <a:avLst/>
          </a:prstGeom>
          <a:noFill/>
          <a:ln w="0">
            <a:noFill/>
          </a:ln>
        </p:spPr>
        <p:txBody>
          <a:bodyPr wrap="square" lIns="0" tIns="0" rIns="0" bIns="0" anchor="t">
            <a:noAutofit/>
          </a:bodyPr>
          <a:lstStyle/>
          <a:p>
            <a:pPr algn="l">
              <a:defRPr sz="1425" b="0" i="0">
                <a:solidFill>
                  <a:srgbClr val="5B6475"/>
                </a:solidFill>
                <a:latin typeface="Helvetica Neue"/>
                <a:ea typeface="Helvetica Neue"/>
                <a:cs typeface="Helvetica Neue"/>
              </a:defRPr>
            </a:pPr>
            <a:r>
              <a:rPr sz="1425" b="0" i="0">
                <a:solidFill>
                  <a:srgbClr val="5B6475"/>
                </a:solidFill>
                <a:latin typeface="Helvetica Neue"/>
                <a:ea typeface="Helvetica Neue"/>
                <a:cs typeface="Helvetica Neue"/>
              </a:rPr>
              <a:t>Removing direct identifiers can still leave combinations of role, organization, location, or transaction context.</a:t>
            </a:r>
          </a:p>
        </p:txBody>
      </p:sp>
      <p:sp>
        <p:nvSpPr>
          <p:cNvPr id="15" name="Straight Connector 14">
            <a:extLst>
              <a:ext uri="{FF2B5EF4-FFF2-40B4-BE49-F238E27FC236}">
                <a16:creationId xmlns:a16="http://schemas.microsoft.com/office/drawing/2014/main" id="{0B37336A-0965-4309-8509-879FCEB0A42A}"/>
              </a:ext>
            </a:extLst>
          </p:cNvPr>
          <p:cNvSpPr>
            <a:spLocks noGrp="1"/>
          </p:cNvSpPr>
          <p:nvPr/>
        </p:nvSpPr>
        <p:spPr>
          <a:xfrm>
            <a:off x="800100" y="4038600"/>
            <a:ext cx="10439400" cy="9525"/>
          </a:xfrm>
          <a:prstGeom prst="line">
            <a:avLst/>
          </a:prstGeom>
          <a:noFill/>
          <a:ln w="9525">
            <a:solidFill>
              <a:srgbClr val="D9DEEA"/>
            </a:solidFill>
          </a:ln>
        </p:spPr>
        <p:txBody>
          <a:bodyPr/>
          <a:lstStyle/>
          <a:p>
            <a:endParaRPr lang="en-US"/>
          </a:p>
        </p:txBody>
      </p:sp>
      <p:sp>
        <p:nvSpPr>
          <p:cNvPr id="16" name="Rectangle 15">
            <a:extLst>
              <a:ext uri="{FF2B5EF4-FFF2-40B4-BE49-F238E27FC236}">
                <a16:creationId xmlns:a16="http://schemas.microsoft.com/office/drawing/2014/main" id="{AA5D6917-0A53-4970-87DB-A163AB67BED3}"/>
              </a:ext>
            </a:extLst>
          </p:cNvPr>
          <p:cNvSpPr>
            <a:spLocks noGrp="1"/>
          </p:cNvSpPr>
          <p:nvPr/>
        </p:nvSpPr>
        <p:spPr>
          <a:xfrm>
            <a:off x="800100" y="4333875"/>
            <a:ext cx="533400" cy="304800"/>
          </a:xfrm>
          <a:prstGeom prst="rect">
            <a:avLst/>
          </a:prstGeom>
          <a:noFill/>
          <a:ln w="0">
            <a:noFill/>
          </a:ln>
        </p:spPr>
        <p:txBody>
          <a:bodyPr wrap="square" lIns="0" tIns="0" rIns="0" bIns="0" anchor="t">
            <a:noAutofit/>
          </a:bodyPr>
          <a:lstStyle/>
          <a:p>
            <a:pPr algn="l">
              <a:defRPr sz="1650" b="1" i="0">
                <a:solidFill>
                  <a:srgbClr val="C2415B"/>
                </a:solidFill>
                <a:latin typeface="Helvetica Neue"/>
                <a:ea typeface="Helvetica Neue"/>
                <a:cs typeface="Helvetica Neue"/>
              </a:defRPr>
            </a:pPr>
            <a:r>
              <a:rPr sz="1650" b="1" i="0">
                <a:solidFill>
                  <a:srgbClr val="C2415B"/>
                </a:solidFill>
                <a:latin typeface="Helvetica Neue"/>
                <a:ea typeface="Helvetica Neue"/>
                <a:cs typeface="Helvetica Neue"/>
              </a:rPr>
              <a:t>04</a:t>
            </a:r>
          </a:p>
        </p:txBody>
      </p:sp>
      <p:sp>
        <p:nvSpPr>
          <p:cNvPr id="17" name="Rectangle 16">
            <a:extLst>
              <a:ext uri="{FF2B5EF4-FFF2-40B4-BE49-F238E27FC236}">
                <a16:creationId xmlns:a16="http://schemas.microsoft.com/office/drawing/2014/main" id="{5002708E-606C-4AB2-AC07-8D186D96B7BD}"/>
              </a:ext>
            </a:extLst>
          </p:cNvPr>
          <p:cNvSpPr>
            <a:spLocks noGrp="1"/>
          </p:cNvSpPr>
          <p:nvPr/>
        </p:nvSpPr>
        <p:spPr>
          <a:xfrm>
            <a:off x="1504950" y="4267200"/>
            <a:ext cx="3381375" cy="304800"/>
          </a:xfrm>
          <a:prstGeom prst="rect">
            <a:avLst/>
          </a:prstGeom>
          <a:noFill/>
          <a:ln w="0">
            <a:noFill/>
          </a:ln>
        </p:spPr>
        <p:txBody>
          <a:bodyPr wrap="square" lIns="0" tIns="0" rIns="0" bIns="0" anchor="t">
            <a:noAutofit/>
          </a:bodyPr>
          <a:lstStyle/>
          <a:p>
            <a:pPr algn="l">
              <a:defRPr sz="1725" b="1" i="0">
                <a:solidFill>
                  <a:srgbClr val="172033"/>
                </a:solidFill>
                <a:latin typeface="Helvetica Neue"/>
                <a:ea typeface="Helvetica Neue"/>
                <a:cs typeface="Helvetica Neue"/>
              </a:defRPr>
            </a:pPr>
            <a:r>
              <a:rPr sz="1725" b="1" i="0">
                <a:solidFill>
                  <a:srgbClr val="172033"/>
                </a:solidFill>
                <a:latin typeface="Helvetica Neue"/>
                <a:ea typeface="Helvetica Neue"/>
                <a:cs typeface="Helvetica Neue"/>
              </a:rPr>
              <a:t>Cloud round-trip failures</a:t>
            </a:r>
          </a:p>
        </p:txBody>
      </p:sp>
      <p:sp>
        <p:nvSpPr>
          <p:cNvPr id="18" name="Rectangle 17">
            <a:extLst>
              <a:ext uri="{FF2B5EF4-FFF2-40B4-BE49-F238E27FC236}">
                <a16:creationId xmlns:a16="http://schemas.microsoft.com/office/drawing/2014/main" id="{B6FF6E84-952F-4110-8E78-24CF687D3D16}"/>
              </a:ext>
            </a:extLst>
          </p:cNvPr>
          <p:cNvSpPr>
            <a:spLocks noGrp="1"/>
          </p:cNvSpPr>
          <p:nvPr/>
        </p:nvSpPr>
        <p:spPr>
          <a:xfrm>
            <a:off x="5048250" y="4267200"/>
            <a:ext cx="6191250" cy="552450"/>
          </a:xfrm>
          <a:prstGeom prst="rect">
            <a:avLst/>
          </a:prstGeom>
          <a:noFill/>
          <a:ln w="0">
            <a:noFill/>
          </a:ln>
        </p:spPr>
        <p:txBody>
          <a:bodyPr wrap="square" lIns="0" tIns="0" rIns="0" bIns="0" anchor="t">
            <a:noAutofit/>
          </a:bodyPr>
          <a:lstStyle/>
          <a:p>
            <a:pPr algn="l">
              <a:defRPr sz="1425" b="0" i="0">
                <a:solidFill>
                  <a:srgbClr val="5B6475"/>
                </a:solidFill>
                <a:latin typeface="Helvetica Neue"/>
                <a:ea typeface="Helvetica Neue"/>
                <a:cs typeface="Helvetica Neue"/>
              </a:defRPr>
            </a:pPr>
            <a:r>
              <a:rPr sz="1425" b="0" i="0">
                <a:solidFill>
                  <a:srgbClr val="5B6475"/>
                </a:solidFill>
                <a:latin typeface="Helvetica Neue"/>
                <a:ea typeface="Helvetica Neue"/>
                <a:cs typeface="Helvetica Neue"/>
              </a:rPr>
              <a:t>A model may translate, alter, invent, or drop placeholders, which can break safe restoration.</a:t>
            </a:r>
          </a:p>
        </p:txBody>
      </p:sp>
      <p:sp>
        <p:nvSpPr>
          <p:cNvPr id="19" name="Straight Connector 18">
            <a:extLst>
              <a:ext uri="{FF2B5EF4-FFF2-40B4-BE49-F238E27FC236}">
                <a16:creationId xmlns:a16="http://schemas.microsoft.com/office/drawing/2014/main" id="{B2D41C65-10E3-479F-9DAC-3014A1AFFB34}"/>
              </a:ext>
            </a:extLst>
          </p:cNvPr>
          <p:cNvSpPr>
            <a:spLocks noGrp="1"/>
          </p:cNvSpPr>
          <p:nvPr/>
        </p:nvSpPr>
        <p:spPr>
          <a:xfrm>
            <a:off x="800100" y="4953000"/>
            <a:ext cx="10439400" cy="9525"/>
          </a:xfrm>
          <a:prstGeom prst="line">
            <a:avLst/>
          </a:prstGeom>
          <a:noFill/>
          <a:ln w="9525">
            <a:solidFill>
              <a:srgbClr val="D9DEEA"/>
            </a:solidFill>
          </a:ln>
        </p:spPr>
        <p:txBody>
          <a:bodyPr/>
          <a:lstStyle/>
          <a:p>
            <a:endParaRPr lang="en-US"/>
          </a:p>
        </p:txBody>
      </p:sp>
      <p:sp>
        <p:nvSpPr>
          <p:cNvPr id="20" name="Rectangle 19">
            <a:extLst>
              <a:ext uri="{FF2B5EF4-FFF2-40B4-BE49-F238E27FC236}">
                <a16:creationId xmlns:a16="http://schemas.microsoft.com/office/drawing/2014/main" id="{12576E39-5BE9-4F06-9315-1C867BDF96BE}"/>
              </a:ext>
            </a:extLst>
          </p:cNvPr>
          <p:cNvSpPr>
            <a:spLocks noGrp="1"/>
          </p:cNvSpPr>
          <p:nvPr/>
        </p:nvSpPr>
        <p:spPr>
          <a:xfrm>
            <a:off x="800100" y="5248275"/>
            <a:ext cx="533400" cy="304800"/>
          </a:xfrm>
          <a:prstGeom prst="rect">
            <a:avLst/>
          </a:prstGeom>
          <a:noFill/>
          <a:ln w="0">
            <a:noFill/>
          </a:ln>
        </p:spPr>
        <p:txBody>
          <a:bodyPr wrap="square" lIns="0" tIns="0" rIns="0" bIns="0" anchor="t">
            <a:noAutofit/>
          </a:bodyPr>
          <a:lstStyle/>
          <a:p>
            <a:pPr algn="l">
              <a:defRPr sz="1650" b="1" i="0">
                <a:solidFill>
                  <a:srgbClr val="C2415B"/>
                </a:solidFill>
                <a:latin typeface="Helvetica Neue"/>
                <a:ea typeface="Helvetica Neue"/>
                <a:cs typeface="Helvetica Neue"/>
              </a:defRPr>
            </a:pPr>
            <a:r>
              <a:rPr sz="1650" b="1" i="0">
                <a:solidFill>
                  <a:srgbClr val="C2415B"/>
                </a:solidFill>
                <a:latin typeface="Helvetica Neue"/>
                <a:ea typeface="Helvetica Neue"/>
                <a:cs typeface="Helvetica Neue"/>
              </a:rPr>
              <a:t>05</a:t>
            </a:r>
          </a:p>
        </p:txBody>
      </p:sp>
      <p:sp>
        <p:nvSpPr>
          <p:cNvPr id="21" name="Rectangle 20">
            <a:extLst>
              <a:ext uri="{FF2B5EF4-FFF2-40B4-BE49-F238E27FC236}">
                <a16:creationId xmlns:a16="http://schemas.microsoft.com/office/drawing/2014/main" id="{901A3B72-182D-492F-A2CA-8285353496D4}"/>
              </a:ext>
            </a:extLst>
          </p:cNvPr>
          <p:cNvSpPr>
            <a:spLocks noGrp="1"/>
          </p:cNvSpPr>
          <p:nvPr/>
        </p:nvSpPr>
        <p:spPr>
          <a:xfrm>
            <a:off x="1504950" y="5181600"/>
            <a:ext cx="3381375" cy="304800"/>
          </a:xfrm>
          <a:prstGeom prst="rect">
            <a:avLst/>
          </a:prstGeom>
          <a:noFill/>
          <a:ln w="0">
            <a:noFill/>
          </a:ln>
        </p:spPr>
        <p:txBody>
          <a:bodyPr wrap="square" lIns="0" tIns="0" rIns="0" bIns="0" anchor="t">
            <a:noAutofit/>
          </a:bodyPr>
          <a:lstStyle/>
          <a:p>
            <a:pPr algn="l">
              <a:defRPr sz="1725" b="1" i="0">
                <a:solidFill>
                  <a:srgbClr val="172033"/>
                </a:solidFill>
                <a:latin typeface="Helvetica Neue"/>
                <a:ea typeface="Helvetica Neue"/>
                <a:cs typeface="Helvetica Neue"/>
              </a:defRPr>
            </a:pPr>
            <a:r>
              <a:rPr sz="1725" b="1" i="0">
                <a:solidFill>
                  <a:srgbClr val="172033"/>
                </a:solidFill>
                <a:latin typeface="Helvetica Neue"/>
                <a:ea typeface="Helvetica Neue"/>
                <a:cs typeface="Helvetica Neue"/>
              </a:rPr>
              <a:t>Privacy versus utility</a:t>
            </a:r>
          </a:p>
        </p:txBody>
      </p:sp>
      <p:sp>
        <p:nvSpPr>
          <p:cNvPr id="22" name="Rectangle 21">
            <a:extLst>
              <a:ext uri="{FF2B5EF4-FFF2-40B4-BE49-F238E27FC236}">
                <a16:creationId xmlns:a16="http://schemas.microsoft.com/office/drawing/2014/main" id="{050BAF2C-BC8D-4A4E-8C52-26C28FFA16A0}"/>
              </a:ext>
            </a:extLst>
          </p:cNvPr>
          <p:cNvSpPr>
            <a:spLocks noGrp="1"/>
          </p:cNvSpPr>
          <p:nvPr/>
        </p:nvSpPr>
        <p:spPr>
          <a:xfrm>
            <a:off x="5048250" y="5181600"/>
            <a:ext cx="6191250" cy="552450"/>
          </a:xfrm>
          <a:prstGeom prst="rect">
            <a:avLst/>
          </a:prstGeom>
          <a:noFill/>
          <a:ln w="0">
            <a:noFill/>
          </a:ln>
        </p:spPr>
        <p:txBody>
          <a:bodyPr wrap="square" lIns="0" tIns="0" rIns="0" bIns="0" anchor="t">
            <a:noAutofit/>
          </a:bodyPr>
          <a:lstStyle/>
          <a:p>
            <a:pPr algn="l">
              <a:defRPr sz="1425" b="0" i="0">
                <a:solidFill>
                  <a:srgbClr val="5B6475"/>
                </a:solidFill>
                <a:latin typeface="Helvetica Neue"/>
                <a:ea typeface="Helvetica Neue"/>
                <a:cs typeface="Helvetica Neue"/>
              </a:defRPr>
            </a:pPr>
            <a:r>
              <a:rPr sz="1425" b="0" i="0">
                <a:solidFill>
                  <a:srgbClr val="5B6475"/>
                </a:solidFill>
                <a:latin typeface="Helvetica Neue"/>
                <a:ea typeface="Helvetica Neue"/>
                <a:cs typeface="Helvetica Neue"/>
              </a:rPr>
              <a:t>Aggressive masking may protect data but make summarization, extraction, or classification unusable.</a:t>
            </a:r>
          </a:p>
        </p:txBody>
      </p:sp>
      <p:sp>
        <p:nvSpPr>
          <p:cNvPr id="23" name="Straight Connector 22">
            <a:extLst>
              <a:ext uri="{FF2B5EF4-FFF2-40B4-BE49-F238E27FC236}">
                <a16:creationId xmlns:a16="http://schemas.microsoft.com/office/drawing/2014/main" id="{3D8FAD3E-AD57-4D8B-BCC8-EF70357B7A95}"/>
              </a:ext>
            </a:extLst>
          </p:cNvPr>
          <p:cNvSpPr>
            <a:spLocks noGrp="1"/>
          </p:cNvSpPr>
          <p:nvPr/>
        </p:nvSpPr>
        <p:spPr>
          <a:xfrm>
            <a:off x="685800" y="6467475"/>
            <a:ext cx="10820400" cy="9525"/>
          </a:xfrm>
          <a:prstGeom prst="line">
            <a:avLst/>
          </a:prstGeom>
          <a:noFill/>
          <a:ln w="9525">
            <a:solidFill>
              <a:srgbClr val="D9DEEA"/>
            </a:solidFill>
          </a:ln>
        </p:spPr>
        <p:txBody>
          <a:bodyPr/>
          <a:lstStyle/>
          <a:p>
            <a:endParaRPr lang="en-US"/>
          </a:p>
        </p:txBody>
      </p:sp>
      <p:sp>
        <p:nvSpPr>
          <p:cNvPr id="24" name="Rectangle 23">
            <a:extLst>
              <a:ext uri="{FF2B5EF4-FFF2-40B4-BE49-F238E27FC236}">
                <a16:creationId xmlns:a16="http://schemas.microsoft.com/office/drawing/2014/main" id="{5607AF0A-C633-46A3-9457-5142A1CE926D}"/>
              </a:ext>
            </a:extLst>
          </p:cNvPr>
          <p:cNvSpPr>
            <a:spLocks noGrp="1"/>
          </p:cNvSpPr>
          <p:nvPr/>
        </p:nvSpPr>
        <p:spPr>
          <a:xfrm>
            <a:off x="685800" y="6553200"/>
            <a:ext cx="4762500" cy="171450"/>
          </a:xfrm>
          <a:prstGeom prst="rect">
            <a:avLst/>
          </a:prstGeom>
          <a:noFill/>
          <a:ln w="0">
            <a:noFill/>
          </a:ln>
        </p:spPr>
        <p:txBody>
          <a:bodyPr wrap="square" lIns="0" tIns="0" rIns="0" bIns="0" anchor="t">
            <a:noAutofit/>
          </a:bodyPr>
          <a:lstStyle/>
          <a:p>
            <a:pPr algn="l">
              <a:defRPr sz="900" b="0" i="0">
                <a:solidFill>
                  <a:srgbClr val="5B6475"/>
                </a:solidFill>
                <a:latin typeface="Helvetica Neue"/>
                <a:ea typeface="Helvetica Neue"/>
                <a:cs typeface="Helvetica Neue"/>
              </a:defRPr>
            </a:pPr>
            <a:r>
              <a:rPr sz="900" b="0" i="0">
                <a:solidFill>
                  <a:srgbClr val="5B6475"/>
                </a:solidFill>
                <a:latin typeface="Helvetica Neue"/>
                <a:ea typeface="Helvetica Neue"/>
                <a:cs typeface="Helvetica Neue"/>
              </a:rPr>
              <a:t>Finaira sponsorship interview</a:t>
            </a:r>
          </a:p>
        </p:txBody>
      </p:sp>
      <p:sp>
        <p:nvSpPr>
          <p:cNvPr id="25" name="Rectangle 24">
            <a:extLst>
              <a:ext uri="{FF2B5EF4-FFF2-40B4-BE49-F238E27FC236}">
                <a16:creationId xmlns:a16="http://schemas.microsoft.com/office/drawing/2014/main" id="{8206D117-EFC1-4049-9A2A-4661D4A7CA9A}"/>
              </a:ext>
            </a:extLst>
          </p:cNvPr>
          <p:cNvSpPr>
            <a:spLocks noGrp="1"/>
          </p:cNvSpPr>
          <p:nvPr/>
        </p:nvSpPr>
        <p:spPr>
          <a:xfrm>
            <a:off x="11096625" y="6553200"/>
            <a:ext cx="409575" cy="171450"/>
          </a:xfrm>
          <a:prstGeom prst="rect">
            <a:avLst/>
          </a:prstGeom>
          <a:noFill/>
          <a:ln w="0">
            <a:noFill/>
          </a:ln>
        </p:spPr>
        <p:txBody>
          <a:bodyPr wrap="square" lIns="0" tIns="0" rIns="0" bIns="0" anchor="t">
            <a:noAutofit/>
          </a:bodyPr>
          <a:lstStyle/>
          <a:p>
            <a:pPr algn="r">
              <a:defRPr sz="900" b="1" i="0">
                <a:solidFill>
                  <a:srgbClr val="5B6475"/>
                </a:solidFill>
                <a:latin typeface="Helvetica Neue"/>
                <a:ea typeface="Helvetica Neue"/>
                <a:cs typeface="Helvetica Neue"/>
              </a:defRPr>
            </a:pPr>
            <a:r>
              <a:rPr sz="900" b="1" i="0">
                <a:solidFill>
                  <a:srgbClr val="5B6475"/>
                </a:solidFill>
                <a:latin typeface="Helvetica Neue"/>
                <a:ea typeface="Helvetica Neue"/>
                <a:cs typeface="Helvetica Neue"/>
              </a:rPr>
              <a:t>07</a:t>
            </a:r>
          </a:p>
        </p:txBody>
      </p:sp>
    </p:spTree>
    <p:extLst>
      <p:ext uri="{BB962C8B-B14F-4D97-AF65-F5344CB8AC3E}">
        <p14:creationId xmlns:p14="http://schemas.microsoft.com/office/powerpoint/2010/main" val="1044954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C0F95DC-9AD1-4622-911F-FBBB910A462E}"/>
              </a:ext>
            </a:extLst>
          </p:cNvPr>
          <p:cNvSpPr>
            <a:spLocks noGrp="1"/>
          </p:cNvSpPr>
          <p:nvPr/>
        </p:nvSpPr>
        <p:spPr>
          <a:xfrm>
            <a:off x="0" y="0"/>
            <a:ext cx="12192000" cy="95250"/>
          </a:xfrm>
          <a:prstGeom prst="rect">
            <a:avLst/>
          </a:prstGeom>
          <a:solidFill>
            <a:srgbClr val="4F46E5"/>
          </a:solidFill>
          <a:ln w="0">
            <a:noFill/>
          </a:ln>
        </p:spPr>
        <p:txBody>
          <a:bodyPr/>
          <a:lstStyle/>
          <a:p>
            <a:endParaRPr lang="en-US"/>
          </a:p>
        </p:txBody>
      </p:sp>
      <p:sp>
        <p:nvSpPr>
          <p:cNvPr id="2" name="Rectangle 1">
            <a:extLst>
              <a:ext uri="{FF2B5EF4-FFF2-40B4-BE49-F238E27FC236}">
                <a16:creationId xmlns:a16="http://schemas.microsoft.com/office/drawing/2014/main" id="{B2086E1D-9501-4B58-AD17-3B05359D8CB7}"/>
              </a:ext>
            </a:extLst>
          </p:cNvPr>
          <p:cNvSpPr>
            <a:spLocks noGrp="1"/>
          </p:cNvSpPr>
          <p:nvPr/>
        </p:nvSpPr>
        <p:spPr>
          <a:xfrm>
            <a:off x="685800" y="361950"/>
            <a:ext cx="3333750" cy="238125"/>
          </a:xfrm>
          <a:prstGeom prst="rect">
            <a:avLst/>
          </a:prstGeom>
          <a:noFill/>
          <a:ln w="0">
            <a:noFill/>
          </a:ln>
        </p:spPr>
        <p:txBody>
          <a:bodyPr wrap="square" lIns="0" tIns="0" rIns="0" bIns="0" anchor="t">
            <a:noAutofit/>
          </a:bodyPr>
          <a:lstStyle/>
          <a:p>
            <a:pPr algn="l">
              <a:defRPr sz="1125" b="1" i="0">
                <a:solidFill>
                  <a:srgbClr val="4F46E5"/>
                </a:solidFill>
                <a:latin typeface="Helvetica Neue"/>
                <a:ea typeface="Helvetica Neue"/>
                <a:cs typeface="Helvetica Neue"/>
              </a:defRPr>
            </a:pPr>
            <a:r>
              <a:rPr sz="1125" b="1" i="0">
                <a:solidFill>
                  <a:srgbClr val="4F46E5"/>
                </a:solidFill>
                <a:latin typeface="Helvetica Neue"/>
                <a:ea typeface="Helvetica Neue"/>
                <a:cs typeface="Helvetica Neue"/>
              </a:rPr>
              <a:t>CORE ARCHITECTURE</a:t>
            </a:r>
          </a:p>
        </p:txBody>
      </p:sp>
      <p:sp>
        <p:nvSpPr>
          <p:cNvPr id="3" name="Rectangle 2">
            <a:extLst>
              <a:ext uri="{FF2B5EF4-FFF2-40B4-BE49-F238E27FC236}">
                <a16:creationId xmlns:a16="http://schemas.microsoft.com/office/drawing/2014/main" id="{9FCBA37A-461A-4EFD-B587-6F5AE641365E}"/>
              </a:ext>
            </a:extLst>
          </p:cNvPr>
          <p:cNvSpPr>
            <a:spLocks noGrp="1"/>
          </p:cNvSpPr>
          <p:nvPr/>
        </p:nvSpPr>
        <p:spPr>
          <a:xfrm>
            <a:off x="685800" y="638175"/>
            <a:ext cx="10820400" cy="619125"/>
          </a:xfrm>
          <a:prstGeom prst="rect">
            <a:avLst/>
          </a:prstGeom>
          <a:noFill/>
          <a:ln w="0">
            <a:noFill/>
          </a:ln>
        </p:spPr>
        <p:txBody>
          <a:bodyPr wrap="square" lIns="0" tIns="0" rIns="0" bIns="0" anchor="t">
            <a:noAutofit/>
          </a:bodyPr>
          <a:lstStyle/>
          <a:p>
            <a:pPr algn="l">
              <a:defRPr sz="3150" b="1" i="0">
                <a:solidFill>
                  <a:srgbClr val="172033"/>
                </a:solidFill>
                <a:latin typeface="Helvetica Neue"/>
                <a:ea typeface="Helvetica Neue"/>
                <a:cs typeface="Helvetica Neue"/>
              </a:defRPr>
            </a:pPr>
            <a:r>
              <a:rPr sz="3150" b="1" i="0">
                <a:solidFill>
                  <a:srgbClr val="172033"/>
                </a:solidFill>
                <a:latin typeface="Helvetica Neue"/>
                <a:ea typeface="Helvetica Neue"/>
                <a:cs typeface="Helvetica Neue"/>
              </a:rPr>
              <a:t>Proposed privacy gateway</a:t>
            </a:r>
          </a:p>
        </p:txBody>
      </p:sp>
      <p:sp>
        <p:nvSpPr>
          <p:cNvPr id="4" name="Rectangle 3">
            <a:extLst>
              <a:ext uri="{FF2B5EF4-FFF2-40B4-BE49-F238E27FC236}">
                <a16:creationId xmlns:a16="http://schemas.microsoft.com/office/drawing/2014/main" id="{E81FC93C-EAC6-40FB-B701-CE9A54576373}"/>
              </a:ext>
            </a:extLst>
          </p:cNvPr>
          <p:cNvSpPr>
            <a:spLocks noGrp="1"/>
          </p:cNvSpPr>
          <p:nvPr/>
        </p:nvSpPr>
        <p:spPr>
          <a:xfrm>
            <a:off x="685800" y="1200150"/>
            <a:ext cx="10820400" cy="361950"/>
          </a:xfrm>
          <a:prstGeom prst="rect">
            <a:avLst/>
          </a:prstGeom>
          <a:noFill/>
          <a:ln w="0">
            <a:noFill/>
          </a:ln>
        </p:spPr>
        <p:txBody>
          <a:bodyPr wrap="square" lIns="0" tIns="0" rIns="0" bIns="0" anchor="t">
            <a:noAutofit/>
          </a:bodyPr>
          <a:lstStyle/>
          <a:p>
            <a:pPr algn="l">
              <a:defRPr sz="1500" b="0" i="0">
                <a:solidFill>
                  <a:srgbClr val="5B6475"/>
                </a:solidFill>
                <a:latin typeface="Helvetica Neue"/>
                <a:ea typeface="Helvetica Neue"/>
                <a:cs typeface="Helvetica Neue"/>
              </a:defRPr>
            </a:pPr>
            <a:r>
              <a:rPr sz="1500" b="0" i="0">
                <a:solidFill>
                  <a:srgbClr val="5B6475"/>
                </a:solidFill>
                <a:latin typeface="Helvetica Neue"/>
                <a:ea typeface="Helvetica Neue"/>
                <a:cs typeface="Helvetica Neue"/>
              </a:rPr>
              <a:t>Deterministic controls make final protection decisions. Models contribute evidence where rules alone are insufficient.</a:t>
            </a:r>
          </a:p>
        </p:txBody>
      </p:sp>
      <p:sp>
        <p:nvSpPr>
          <p:cNvPr id="5" name="Rounded Rectangle 4">
            <a:extLst>
              <a:ext uri="{FF2B5EF4-FFF2-40B4-BE49-F238E27FC236}">
                <a16:creationId xmlns:a16="http://schemas.microsoft.com/office/drawing/2014/main" id="{11633260-E895-4A98-8FAF-E975DC86E825}"/>
              </a:ext>
            </a:extLst>
          </p:cNvPr>
          <p:cNvSpPr>
            <a:spLocks noGrp="1"/>
          </p:cNvSpPr>
          <p:nvPr/>
        </p:nvSpPr>
        <p:spPr>
          <a:xfrm>
            <a:off x="685800" y="1809750"/>
            <a:ext cx="2476500" cy="1428750"/>
          </a:xfrm>
          <a:prstGeom prst="roundRect">
            <a:avLst>
              <a:gd name="adj" fmla="val 5333"/>
            </a:avLst>
          </a:prstGeom>
          <a:solidFill>
            <a:srgbClr val="FFFFFF"/>
          </a:solidFill>
          <a:ln w="9525">
            <a:solidFill>
              <a:srgbClr val="D9DEEA"/>
            </a:solidFill>
          </a:ln>
        </p:spPr>
        <p:txBody>
          <a:bodyPr/>
          <a:lstStyle/>
          <a:p>
            <a:endParaRPr lang="en-US"/>
          </a:p>
        </p:txBody>
      </p:sp>
      <p:sp>
        <p:nvSpPr>
          <p:cNvPr id="6" name="Oval 5">
            <a:extLst>
              <a:ext uri="{FF2B5EF4-FFF2-40B4-BE49-F238E27FC236}">
                <a16:creationId xmlns:a16="http://schemas.microsoft.com/office/drawing/2014/main" id="{6A85556D-EDD4-4AA5-BC9C-C90D48EFE436}"/>
              </a:ext>
            </a:extLst>
          </p:cNvPr>
          <p:cNvSpPr>
            <a:spLocks noGrp="1"/>
          </p:cNvSpPr>
          <p:nvPr/>
        </p:nvSpPr>
        <p:spPr>
          <a:xfrm>
            <a:off x="838200" y="1971675"/>
            <a:ext cx="342900" cy="342900"/>
          </a:xfrm>
          <a:prstGeom prst="ellipse">
            <a:avLst/>
          </a:prstGeom>
          <a:solidFill>
            <a:srgbClr val="06B6D4"/>
          </a:solidFill>
          <a:ln w="0">
            <a:noFill/>
          </a:ln>
        </p:spPr>
        <p:txBody>
          <a:bodyPr/>
          <a:lstStyle/>
          <a:p>
            <a:endParaRPr lang="en-US"/>
          </a:p>
        </p:txBody>
      </p:sp>
      <p:sp>
        <p:nvSpPr>
          <p:cNvPr id="7" name="Rectangle 6">
            <a:extLst>
              <a:ext uri="{FF2B5EF4-FFF2-40B4-BE49-F238E27FC236}">
                <a16:creationId xmlns:a16="http://schemas.microsoft.com/office/drawing/2014/main" id="{8B61E830-6F53-424F-80F0-C7A6BD61A9AB}"/>
              </a:ext>
            </a:extLst>
          </p:cNvPr>
          <p:cNvSpPr>
            <a:spLocks noGrp="1"/>
          </p:cNvSpPr>
          <p:nvPr/>
        </p:nvSpPr>
        <p:spPr>
          <a:xfrm>
            <a:off x="838200" y="1990725"/>
            <a:ext cx="342900" cy="285750"/>
          </a:xfrm>
          <a:prstGeom prst="rect">
            <a:avLst/>
          </a:prstGeom>
          <a:noFill/>
          <a:ln w="0">
            <a:noFill/>
          </a:ln>
        </p:spPr>
        <p:txBody>
          <a:bodyPr wrap="square" lIns="0" tIns="0" rIns="0" bIns="0" anchor="ctr">
            <a:noAutofit/>
          </a:bodyPr>
          <a:lstStyle/>
          <a:p>
            <a:pPr algn="ctr">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1</a:t>
            </a:r>
          </a:p>
        </p:txBody>
      </p:sp>
      <p:sp>
        <p:nvSpPr>
          <p:cNvPr id="8" name="Rectangle 7">
            <a:extLst>
              <a:ext uri="{FF2B5EF4-FFF2-40B4-BE49-F238E27FC236}">
                <a16:creationId xmlns:a16="http://schemas.microsoft.com/office/drawing/2014/main" id="{985B6C6B-C774-4313-89C7-2F0BDF3C1BA5}"/>
              </a:ext>
            </a:extLst>
          </p:cNvPr>
          <p:cNvSpPr>
            <a:spLocks noGrp="1"/>
          </p:cNvSpPr>
          <p:nvPr/>
        </p:nvSpPr>
        <p:spPr>
          <a:xfrm>
            <a:off x="1314450" y="1952625"/>
            <a:ext cx="1695450" cy="285750"/>
          </a:xfrm>
          <a:prstGeom prst="rect">
            <a:avLst/>
          </a:prstGeom>
          <a:noFill/>
          <a:ln w="0">
            <a:noFill/>
          </a:ln>
        </p:spPr>
        <p:txBody>
          <a:bodyPr wrap="square" lIns="0" tIns="0" rIns="0" bIns="0" anchor="t">
            <a:noAutofit/>
          </a:bodyPr>
          <a:lstStyle/>
          <a:p>
            <a:pPr algn="l">
              <a:defRPr sz="1650" b="1" i="0">
                <a:solidFill>
                  <a:srgbClr val="172033"/>
                </a:solidFill>
                <a:latin typeface="Helvetica Neue"/>
                <a:ea typeface="Helvetica Neue"/>
                <a:cs typeface="Helvetica Neue"/>
              </a:defRPr>
            </a:pPr>
            <a:r>
              <a:rPr sz="1650" b="1" i="0">
                <a:solidFill>
                  <a:srgbClr val="172033"/>
                </a:solidFill>
                <a:latin typeface="Helvetica Neue"/>
                <a:ea typeface="Helvetica Neue"/>
                <a:cs typeface="Helvetica Neue"/>
              </a:rPr>
              <a:t>Extract</a:t>
            </a:r>
          </a:p>
        </p:txBody>
      </p:sp>
      <p:sp>
        <p:nvSpPr>
          <p:cNvPr id="9" name="Rectangle 8">
            <a:extLst>
              <a:ext uri="{FF2B5EF4-FFF2-40B4-BE49-F238E27FC236}">
                <a16:creationId xmlns:a16="http://schemas.microsoft.com/office/drawing/2014/main" id="{A00776F5-0E03-45C8-9929-AB4CA81949B6}"/>
              </a:ext>
            </a:extLst>
          </p:cNvPr>
          <p:cNvSpPr>
            <a:spLocks noGrp="1"/>
          </p:cNvSpPr>
          <p:nvPr/>
        </p:nvSpPr>
        <p:spPr>
          <a:xfrm>
            <a:off x="857250" y="2371725"/>
            <a:ext cx="2133600" cy="742950"/>
          </a:xfrm>
          <a:prstGeom prst="rect">
            <a:avLst/>
          </a:prstGeom>
          <a:noFill/>
          <a:ln w="0">
            <a:noFill/>
          </a:ln>
        </p:spPr>
        <p:txBody>
          <a:bodyPr wrap="square" lIns="0" tIns="0" rIns="0" bIns="0" anchor="t">
            <a:noAutofit/>
          </a:bodyPr>
          <a:lstStyle/>
          <a:p>
            <a:pPr algn="l">
              <a:defRPr sz="1275" b="0" i="0">
                <a:solidFill>
                  <a:srgbClr val="5B6475"/>
                </a:solidFill>
                <a:latin typeface="Helvetica Neue"/>
                <a:ea typeface="Helvetica Neue"/>
                <a:cs typeface="Helvetica Neue"/>
              </a:defRPr>
            </a:pPr>
            <a:r>
              <a:rPr sz="1275" b="0" i="0">
                <a:solidFill>
                  <a:srgbClr val="5B6475"/>
                </a:solidFill>
                <a:latin typeface="Helvetica Neue"/>
                <a:ea typeface="Helvetica Neue"/>
                <a:cs typeface="Helvetica Neue"/>
              </a:rPr>
              <a:t>Parse document structure. Run OCR only when needed.</a:t>
            </a:r>
          </a:p>
        </p:txBody>
      </p:sp>
      <p:sp>
        <p:nvSpPr>
          <p:cNvPr id="10" name="Rounded Rectangle 9">
            <a:extLst>
              <a:ext uri="{FF2B5EF4-FFF2-40B4-BE49-F238E27FC236}">
                <a16:creationId xmlns:a16="http://schemas.microsoft.com/office/drawing/2014/main" id="{7C7E4D06-5E53-4C05-82E9-792963E0DDD1}"/>
              </a:ext>
            </a:extLst>
          </p:cNvPr>
          <p:cNvSpPr>
            <a:spLocks noGrp="1"/>
          </p:cNvSpPr>
          <p:nvPr/>
        </p:nvSpPr>
        <p:spPr>
          <a:xfrm>
            <a:off x="3524250" y="1809750"/>
            <a:ext cx="5143500" cy="1428750"/>
          </a:xfrm>
          <a:prstGeom prst="roundRect">
            <a:avLst>
              <a:gd name="adj" fmla="val 5333"/>
            </a:avLst>
          </a:prstGeom>
          <a:solidFill>
            <a:srgbClr val="FFFFFF"/>
          </a:solidFill>
          <a:ln w="9525">
            <a:solidFill>
              <a:srgbClr val="D9DEEA"/>
            </a:solidFill>
          </a:ln>
        </p:spPr>
        <p:txBody>
          <a:bodyPr/>
          <a:lstStyle/>
          <a:p>
            <a:endParaRPr lang="en-US"/>
          </a:p>
        </p:txBody>
      </p:sp>
      <p:sp>
        <p:nvSpPr>
          <p:cNvPr id="11" name="Oval 10">
            <a:extLst>
              <a:ext uri="{FF2B5EF4-FFF2-40B4-BE49-F238E27FC236}">
                <a16:creationId xmlns:a16="http://schemas.microsoft.com/office/drawing/2014/main" id="{C7994C0B-A9DA-4432-BFA2-8155C49BAFEA}"/>
              </a:ext>
            </a:extLst>
          </p:cNvPr>
          <p:cNvSpPr>
            <a:spLocks noGrp="1"/>
          </p:cNvSpPr>
          <p:nvPr/>
        </p:nvSpPr>
        <p:spPr>
          <a:xfrm>
            <a:off x="3676650" y="1971675"/>
            <a:ext cx="342900" cy="342900"/>
          </a:xfrm>
          <a:prstGeom prst="ellipse">
            <a:avLst/>
          </a:prstGeom>
          <a:solidFill>
            <a:srgbClr val="4F46E5"/>
          </a:solidFill>
          <a:ln w="0">
            <a:noFill/>
          </a:ln>
        </p:spPr>
        <p:txBody>
          <a:bodyPr/>
          <a:lstStyle/>
          <a:p>
            <a:endParaRPr lang="en-US"/>
          </a:p>
        </p:txBody>
      </p:sp>
      <p:sp>
        <p:nvSpPr>
          <p:cNvPr id="12" name="Rectangle 11">
            <a:extLst>
              <a:ext uri="{FF2B5EF4-FFF2-40B4-BE49-F238E27FC236}">
                <a16:creationId xmlns:a16="http://schemas.microsoft.com/office/drawing/2014/main" id="{A3F3FE99-84CD-41D1-8C74-ADB1C7BBEA3F}"/>
              </a:ext>
            </a:extLst>
          </p:cNvPr>
          <p:cNvSpPr>
            <a:spLocks noGrp="1"/>
          </p:cNvSpPr>
          <p:nvPr/>
        </p:nvSpPr>
        <p:spPr>
          <a:xfrm>
            <a:off x="3676650" y="1990725"/>
            <a:ext cx="342900" cy="285750"/>
          </a:xfrm>
          <a:prstGeom prst="rect">
            <a:avLst/>
          </a:prstGeom>
          <a:noFill/>
          <a:ln w="0">
            <a:noFill/>
          </a:ln>
        </p:spPr>
        <p:txBody>
          <a:bodyPr wrap="square" lIns="0" tIns="0" rIns="0" bIns="0" anchor="ctr">
            <a:noAutofit/>
          </a:bodyPr>
          <a:lstStyle/>
          <a:p>
            <a:pPr algn="ctr">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2</a:t>
            </a:r>
          </a:p>
        </p:txBody>
      </p:sp>
      <p:sp>
        <p:nvSpPr>
          <p:cNvPr id="13" name="Rectangle 12">
            <a:extLst>
              <a:ext uri="{FF2B5EF4-FFF2-40B4-BE49-F238E27FC236}">
                <a16:creationId xmlns:a16="http://schemas.microsoft.com/office/drawing/2014/main" id="{B94721E0-C231-4D3F-9217-A62F2E2E3729}"/>
              </a:ext>
            </a:extLst>
          </p:cNvPr>
          <p:cNvSpPr>
            <a:spLocks noGrp="1"/>
          </p:cNvSpPr>
          <p:nvPr/>
        </p:nvSpPr>
        <p:spPr>
          <a:xfrm>
            <a:off x="4152900" y="1952625"/>
            <a:ext cx="4362450" cy="285750"/>
          </a:xfrm>
          <a:prstGeom prst="rect">
            <a:avLst/>
          </a:prstGeom>
          <a:noFill/>
          <a:ln w="0">
            <a:noFill/>
          </a:ln>
        </p:spPr>
        <p:txBody>
          <a:bodyPr wrap="square" lIns="0" tIns="0" rIns="0" bIns="0" anchor="t">
            <a:noAutofit/>
          </a:bodyPr>
          <a:lstStyle/>
          <a:p>
            <a:pPr algn="l">
              <a:defRPr sz="1650" b="1" i="0">
                <a:solidFill>
                  <a:srgbClr val="172033"/>
                </a:solidFill>
                <a:latin typeface="Helvetica Neue"/>
                <a:ea typeface="Helvetica Neue"/>
                <a:cs typeface="Helvetica Neue"/>
              </a:defRPr>
            </a:pPr>
            <a:r>
              <a:rPr sz="1650" b="1" i="0">
                <a:solidFill>
                  <a:srgbClr val="172033"/>
                </a:solidFill>
                <a:latin typeface="Helvetica Neue"/>
                <a:ea typeface="Helvetica Neue"/>
                <a:cs typeface="Helvetica Neue"/>
              </a:rPr>
              <a:t>Detect</a:t>
            </a:r>
          </a:p>
        </p:txBody>
      </p:sp>
      <p:sp>
        <p:nvSpPr>
          <p:cNvPr id="14" name="Rectangle 13">
            <a:extLst>
              <a:ext uri="{FF2B5EF4-FFF2-40B4-BE49-F238E27FC236}">
                <a16:creationId xmlns:a16="http://schemas.microsoft.com/office/drawing/2014/main" id="{10E4D679-E1E2-4A87-9664-D59CD2119676}"/>
              </a:ext>
            </a:extLst>
          </p:cNvPr>
          <p:cNvSpPr>
            <a:spLocks noGrp="1"/>
          </p:cNvSpPr>
          <p:nvPr/>
        </p:nvSpPr>
        <p:spPr>
          <a:xfrm>
            <a:off x="3695700" y="2371725"/>
            <a:ext cx="4800600" cy="742950"/>
          </a:xfrm>
          <a:prstGeom prst="rect">
            <a:avLst/>
          </a:prstGeom>
          <a:noFill/>
          <a:ln w="0">
            <a:noFill/>
          </a:ln>
        </p:spPr>
        <p:txBody>
          <a:bodyPr wrap="square" lIns="0" tIns="0" rIns="0" bIns="0" anchor="t">
            <a:noAutofit/>
          </a:bodyPr>
          <a:lstStyle/>
          <a:p>
            <a:pPr algn="l">
              <a:defRPr sz="1275" b="0" i="0">
                <a:solidFill>
                  <a:srgbClr val="5B6475"/>
                </a:solidFill>
                <a:latin typeface="Helvetica Neue"/>
                <a:ea typeface="Helvetica Neue"/>
                <a:cs typeface="Helvetica Neue"/>
              </a:defRPr>
            </a:pPr>
            <a:r>
              <a:rPr sz="1275" b="0" i="0">
                <a:solidFill>
                  <a:srgbClr val="5B6475"/>
                </a:solidFill>
                <a:latin typeface="Helvetica Neue"/>
                <a:ea typeface="Helvetica Neue"/>
                <a:cs typeface="Helvetica Neue"/>
              </a:rPr>
              <a:t>Rules and checksums, Arabic or multilingual NER, plus a local SLM for uncertain cases.</a:t>
            </a:r>
          </a:p>
        </p:txBody>
      </p:sp>
      <p:sp>
        <p:nvSpPr>
          <p:cNvPr id="15" name="Rounded Rectangle 14">
            <a:extLst>
              <a:ext uri="{FF2B5EF4-FFF2-40B4-BE49-F238E27FC236}">
                <a16:creationId xmlns:a16="http://schemas.microsoft.com/office/drawing/2014/main" id="{25043CD1-1549-4931-8F35-294B65902510}"/>
              </a:ext>
            </a:extLst>
          </p:cNvPr>
          <p:cNvSpPr>
            <a:spLocks noGrp="1"/>
          </p:cNvSpPr>
          <p:nvPr/>
        </p:nvSpPr>
        <p:spPr>
          <a:xfrm>
            <a:off x="9029700" y="1809750"/>
            <a:ext cx="2476500" cy="1428750"/>
          </a:xfrm>
          <a:prstGeom prst="roundRect">
            <a:avLst>
              <a:gd name="adj" fmla="val 5333"/>
            </a:avLst>
          </a:prstGeom>
          <a:solidFill>
            <a:srgbClr val="FFFFFF"/>
          </a:solidFill>
          <a:ln w="9525">
            <a:solidFill>
              <a:srgbClr val="D9DEEA"/>
            </a:solidFill>
          </a:ln>
        </p:spPr>
        <p:txBody>
          <a:bodyPr/>
          <a:lstStyle/>
          <a:p>
            <a:endParaRPr lang="en-US"/>
          </a:p>
        </p:txBody>
      </p:sp>
      <p:sp>
        <p:nvSpPr>
          <p:cNvPr id="16" name="Oval 15">
            <a:extLst>
              <a:ext uri="{FF2B5EF4-FFF2-40B4-BE49-F238E27FC236}">
                <a16:creationId xmlns:a16="http://schemas.microsoft.com/office/drawing/2014/main" id="{DFC33E35-B94D-4701-8362-74A54C927959}"/>
              </a:ext>
            </a:extLst>
          </p:cNvPr>
          <p:cNvSpPr>
            <a:spLocks noGrp="1"/>
          </p:cNvSpPr>
          <p:nvPr/>
        </p:nvSpPr>
        <p:spPr>
          <a:xfrm>
            <a:off x="9182100" y="1971675"/>
            <a:ext cx="342900" cy="342900"/>
          </a:xfrm>
          <a:prstGeom prst="ellipse">
            <a:avLst/>
          </a:prstGeom>
          <a:solidFill>
            <a:srgbClr val="06B6D4"/>
          </a:solidFill>
          <a:ln w="0">
            <a:noFill/>
          </a:ln>
        </p:spPr>
        <p:txBody>
          <a:bodyPr/>
          <a:lstStyle/>
          <a:p>
            <a:endParaRPr lang="en-US"/>
          </a:p>
        </p:txBody>
      </p:sp>
      <p:sp>
        <p:nvSpPr>
          <p:cNvPr id="17" name="Rectangle 16">
            <a:extLst>
              <a:ext uri="{FF2B5EF4-FFF2-40B4-BE49-F238E27FC236}">
                <a16:creationId xmlns:a16="http://schemas.microsoft.com/office/drawing/2014/main" id="{5C7368C9-05EB-4AB6-9F17-4F7B82F26B90}"/>
              </a:ext>
            </a:extLst>
          </p:cNvPr>
          <p:cNvSpPr>
            <a:spLocks noGrp="1"/>
          </p:cNvSpPr>
          <p:nvPr/>
        </p:nvSpPr>
        <p:spPr>
          <a:xfrm>
            <a:off x="9182100" y="1990725"/>
            <a:ext cx="342900" cy="285750"/>
          </a:xfrm>
          <a:prstGeom prst="rect">
            <a:avLst/>
          </a:prstGeom>
          <a:noFill/>
          <a:ln w="0">
            <a:noFill/>
          </a:ln>
        </p:spPr>
        <p:txBody>
          <a:bodyPr wrap="square" lIns="0" tIns="0" rIns="0" bIns="0" anchor="ctr">
            <a:noAutofit/>
          </a:bodyPr>
          <a:lstStyle/>
          <a:p>
            <a:pPr algn="ctr">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3</a:t>
            </a:r>
          </a:p>
        </p:txBody>
      </p:sp>
      <p:sp>
        <p:nvSpPr>
          <p:cNvPr id="18" name="Rectangle 17">
            <a:extLst>
              <a:ext uri="{FF2B5EF4-FFF2-40B4-BE49-F238E27FC236}">
                <a16:creationId xmlns:a16="http://schemas.microsoft.com/office/drawing/2014/main" id="{3345E1D6-FD76-4D6A-93F9-27BC757CD3A6}"/>
              </a:ext>
            </a:extLst>
          </p:cNvPr>
          <p:cNvSpPr>
            <a:spLocks noGrp="1"/>
          </p:cNvSpPr>
          <p:nvPr/>
        </p:nvSpPr>
        <p:spPr>
          <a:xfrm>
            <a:off x="9658350" y="1952625"/>
            <a:ext cx="1695450" cy="285750"/>
          </a:xfrm>
          <a:prstGeom prst="rect">
            <a:avLst/>
          </a:prstGeom>
          <a:noFill/>
          <a:ln w="0">
            <a:noFill/>
          </a:ln>
        </p:spPr>
        <p:txBody>
          <a:bodyPr wrap="square" lIns="0" tIns="0" rIns="0" bIns="0" anchor="t">
            <a:noAutofit/>
          </a:bodyPr>
          <a:lstStyle/>
          <a:p>
            <a:pPr algn="l">
              <a:defRPr sz="1650" b="1" i="0">
                <a:solidFill>
                  <a:srgbClr val="172033"/>
                </a:solidFill>
                <a:latin typeface="Helvetica Neue"/>
                <a:ea typeface="Helvetica Neue"/>
                <a:cs typeface="Helvetica Neue"/>
              </a:defRPr>
            </a:pPr>
            <a:r>
              <a:rPr sz="1650" b="1" i="0">
                <a:solidFill>
                  <a:srgbClr val="172033"/>
                </a:solidFill>
                <a:latin typeface="Helvetica Neue"/>
                <a:ea typeface="Helvetica Neue"/>
                <a:cs typeface="Helvetica Neue"/>
              </a:rPr>
              <a:t>Resolve</a:t>
            </a:r>
          </a:p>
        </p:txBody>
      </p:sp>
      <p:sp>
        <p:nvSpPr>
          <p:cNvPr id="19" name="Rectangle 18">
            <a:extLst>
              <a:ext uri="{FF2B5EF4-FFF2-40B4-BE49-F238E27FC236}">
                <a16:creationId xmlns:a16="http://schemas.microsoft.com/office/drawing/2014/main" id="{56DCA8B7-472D-4D07-82CB-3B6E8FC2ECD5}"/>
              </a:ext>
            </a:extLst>
          </p:cNvPr>
          <p:cNvSpPr>
            <a:spLocks noGrp="1"/>
          </p:cNvSpPr>
          <p:nvPr/>
        </p:nvSpPr>
        <p:spPr>
          <a:xfrm>
            <a:off x="9201150" y="2371725"/>
            <a:ext cx="2133600" cy="742950"/>
          </a:xfrm>
          <a:prstGeom prst="rect">
            <a:avLst/>
          </a:prstGeom>
          <a:noFill/>
          <a:ln w="0">
            <a:noFill/>
          </a:ln>
        </p:spPr>
        <p:txBody>
          <a:bodyPr wrap="square" lIns="0" tIns="0" rIns="0" bIns="0" anchor="t">
            <a:noAutofit/>
          </a:bodyPr>
          <a:lstStyle/>
          <a:p>
            <a:pPr algn="l">
              <a:defRPr sz="1275" b="0" i="0">
                <a:solidFill>
                  <a:srgbClr val="5B6475"/>
                </a:solidFill>
                <a:latin typeface="Helvetica Neue"/>
                <a:ea typeface="Helvetica Neue"/>
                <a:cs typeface="Helvetica Neue"/>
              </a:defRPr>
            </a:pPr>
            <a:r>
              <a:rPr sz="1275" b="0" i="0">
                <a:solidFill>
                  <a:srgbClr val="5B6475"/>
                </a:solidFill>
                <a:latin typeface="Helvetica Neue"/>
                <a:ea typeface="Helvetica Neue"/>
                <a:cs typeface="Helvetica Neue"/>
              </a:rPr>
              <a:t>Merge spans, use context, and preserve exact offsets.</a:t>
            </a:r>
          </a:p>
        </p:txBody>
      </p:sp>
      <p:sp>
        <p:nvSpPr>
          <p:cNvPr id="20" name="Straight Connector 19">
            <a:extLst>
              <a:ext uri="{FF2B5EF4-FFF2-40B4-BE49-F238E27FC236}">
                <a16:creationId xmlns:a16="http://schemas.microsoft.com/office/drawing/2014/main" id="{5CD42983-ECCD-4F50-918E-55BC6843A8EB}"/>
              </a:ext>
            </a:extLst>
          </p:cNvPr>
          <p:cNvSpPr>
            <a:spLocks noGrp="1"/>
          </p:cNvSpPr>
          <p:nvPr/>
        </p:nvSpPr>
        <p:spPr>
          <a:xfrm>
            <a:off x="3162300" y="2524125"/>
            <a:ext cx="361950" cy="9525"/>
          </a:xfrm>
          <a:prstGeom prst="line">
            <a:avLst/>
          </a:prstGeom>
          <a:noFill/>
          <a:ln w="19050">
            <a:solidFill>
              <a:srgbClr val="D9DEEA"/>
            </a:solidFill>
          </a:ln>
        </p:spPr>
        <p:txBody>
          <a:bodyPr/>
          <a:lstStyle/>
          <a:p>
            <a:endParaRPr lang="en-US"/>
          </a:p>
        </p:txBody>
      </p:sp>
      <p:sp>
        <p:nvSpPr>
          <p:cNvPr id="21" name="Straight Connector 20">
            <a:extLst>
              <a:ext uri="{FF2B5EF4-FFF2-40B4-BE49-F238E27FC236}">
                <a16:creationId xmlns:a16="http://schemas.microsoft.com/office/drawing/2014/main" id="{AD109A0D-D9BE-4AC5-8646-AD1E88DDF223}"/>
              </a:ext>
            </a:extLst>
          </p:cNvPr>
          <p:cNvSpPr>
            <a:spLocks noGrp="1"/>
          </p:cNvSpPr>
          <p:nvPr/>
        </p:nvSpPr>
        <p:spPr>
          <a:xfrm>
            <a:off x="8667750" y="2524125"/>
            <a:ext cx="361950" cy="9525"/>
          </a:xfrm>
          <a:prstGeom prst="line">
            <a:avLst/>
          </a:prstGeom>
          <a:noFill/>
          <a:ln w="19050">
            <a:solidFill>
              <a:srgbClr val="D9DEEA"/>
            </a:solidFill>
          </a:ln>
        </p:spPr>
        <p:txBody>
          <a:bodyPr/>
          <a:lstStyle/>
          <a:p>
            <a:endParaRPr lang="en-US"/>
          </a:p>
        </p:txBody>
      </p:sp>
      <p:sp>
        <p:nvSpPr>
          <p:cNvPr id="22" name="Rounded Rectangle 21">
            <a:extLst>
              <a:ext uri="{FF2B5EF4-FFF2-40B4-BE49-F238E27FC236}">
                <a16:creationId xmlns:a16="http://schemas.microsoft.com/office/drawing/2014/main" id="{AC8A7D96-B780-414A-83B7-CFCD177FD3D2}"/>
              </a:ext>
            </a:extLst>
          </p:cNvPr>
          <p:cNvSpPr>
            <a:spLocks noGrp="1"/>
          </p:cNvSpPr>
          <p:nvPr/>
        </p:nvSpPr>
        <p:spPr>
          <a:xfrm>
            <a:off x="685800" y="3867150"/>
            <a:ext cx="3143250" cy="1504950"/>
          </a:xfrm>
          <a:prstGeom prst="roundRect">
            <a:avLst>
              <a:gd name="adj" fmla="val 5063"/>
            </a:avLst>
          </a:prstGeom>
          <a:solidFill>
            <a:srgbClr val="FFFFFF"/>
          </a:solidFill>
          <a:ln w="9525">
            <a:solidFill>
              <a:srgbClr val="D9DEEA"/>
            </a:solidFill>
          </a:ln>
        </p:spPr>
        <p:txBody>
          <a:bodyPr/>
          <a:lstStyle/>
          <a:p>
            <a:endParaRPr lang="en-US"/>
          </a:p>
        </p:txBody>
      </p:sp>
      <p:sp>
        <p:nvSpPr>
          <p:cNvPr id="23" name="Oval 22">
            <a:extLst>
              <a:ext uri="{FF2B5EF4-FFF2-40B4-BE49-F238E27FC236}">
                <a16:creationId xmlns:a16="http://schemas.microsoft.com/office/drawing/2014/main" id="{CF31841D-967F-41BD-9A6D-1D2ACD85E5DA}"/>
              </a:ext>
            </a:extLst>
          </p:cNvPr>
          <p:cNvSpPr>
            <a:spLocks noGrp="1"/>
          </p:cNvSpPr>
          <p:nvPr/>
        </p:nvSpPr>
        <p:spPr>
          <a:xfrm>
            <a:off x="838200" y="4029075"/>
            <a:ext cx="342900" cy="342900"/>
          </a:xfrm>
          <a:prstGeom prst="ellipse">
            <a:avLst/>
          </a:prstGeom>
          <a:solidFill>
            <a:srgbClr val="4F46E5"/>
          </a:solidFill>
          <a:ln w="0">
            <a:noFill/>
          </a:ln>
        </p:spPr>
        <p:txBody>
          <a:bodyPr/>
          <a:lstStyle/>
          <a:p>
            <a:endParaRPr lang="en-US"/>
          </a:p>
        </p:txBody>
      </p:sp>
      <p:sp>
        <p:nvSpPr>
          <p:cNvPr id="24" name="Rectangle 23">
            <a:extLst>
              <a:ext uri="{FF2B5EF4-FFF2-40B4-BE49-F238E27FC236}">
                <a16:creationId xmlns:a16="http://schemas.microsoft.com/office/drawing/2014/main" id="{D8576A32-99DF-4C36-851E-2E9AFB0A09CD}"/>
              </a:ext>
            </a:extLst>
          </p:cNvPr>
          <p:cNvSpPr>
            <a:spLocks noGrp="1"/>
          </p:cNvSpPr>
          <p:nvPr/>
        </p:nvSpPr>
        <p:spPr>
          <a:xfrm>
            <a:off x="838200" y="4048125"/>
            <a:ext cx="342900" cy="285750"/>
          </a:xfrm>
          <a:prstGeom prst="rect">
            <a:avLst/>
          </a:prstGeom>
          <a:noFill/>
          <a:ln w="0">
            <a:noFill/>
          </a:ln>
        </p:spPr>
        <p:txBody>
          <a:bodyPr wrap="square" lIns="0" tIns="0" rIns="0" bIns="0" anchor="ctr">
            <a:noAutofit/>
          </a:bodyPr>
          <a:lstStyle/>
          <a:p>
            <a:pPr algn="ctr">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4</a:t>
            </a:r>
          </a:p>
        </p:txBody>
      </p:sp>
      <p:sp>
        <p:nvSpPr>
          <p:cNvPr id="25" name="Rectangle 24">
            <a:extLst>
              <a:ext uri="{FF2B5EF4-FFF2-40B4-BE49-F238E27FC236}">
                <a16:creationId xmlns:a16="http://schemas.microsoft.com/office/drawing/2014/main" id="{C6A771B7-55F7-460B-ACF6-BACE4C9F639E}"/>
              </a:ext>
            </a:extLst>
          </p:cNvPr>
          <p:cNvSpPr>
            <a:spLocks noGrp="1"/>
          </p:cNvSpPr>
          <p:nvPr/>
        </p:nvSpPr>
        <p:spPr>
          <a:xfrm>
            <a:off x="1314450" y="4010025"/>
            <a:ext cx="2362200" cy="285750"/>
          </a:xfrm>
          <a:prstGeom prst="rect">
            <a:avLst/>
          </a:prstGeom>
          <a:noFill/>
          <a:ln w="0">
            <a:noFill/>
          </a:ln>
        </p:spPr>
        <p:txBody>
          <a:bodyPr wrap="square" lIns="0" tIns="0" rIns="0" bIns="0" anchor="t">
            <a:noAutofit/>
          </a:bodyPr>
          <a:lstStyle/>
          <a:p>
            <a:pPr algn="l">
              <a:defRPr sz="1650" b="1" i="0">
                <a:solidFill>
                  <a:srgbClr val="172033"/>
                </a:solidFill>
                <a:latin typeface="Helvetica Neue"/>
                <a:ea typeface="Helvetica Neue"/>
                <a:cs typeface="Helvetica Neue"/>
              </a:defRPr>
            </a:pPr>
            <a:r>
              <a:rPr sz="1650" b="1" i="0">
                <a:solidFill>
                  <a:srgbClr val="172033"/>
                </a:solidFill>
                <a:latin typeface="Helvetica Neue"/>
                <a:ea typeface="Helvetica Neue"/>
                <a:cs typeface="Helvetica Neue"/>
              </a:rPr>
              <a:t>Apply policy</a:t>
            </a:r>
          </a:p>
        </p:txBody>
      </p:sp>
      <p:sp>
        <p:nvSpPr>
          <p:cNvPr id="26" name="Rectangle 25">
            <a:extLst>
              <a:ext uri="{FF2B5EF4-FFF2-40B4-BE49-F238E27FC236}">
                <a16:creationId xmlns:a16="http://schemas.microsoft.com/office/drawing/2014/main" id="{0DBDB207-E505-4774-B822-5DABAA174A26}"/>
              </a:ext>
            </a:extLst>
          </p:cNvPr>
          <p:cNvSpPr>
            <a:spLocks noGrp="1"/>
          </p:cNvSpPr>
          <p:nvPr/>
        </p:nvSpPr>
        <p:spPr>
          <a:xfrm>
            <a:off x="857250" y="4429125"/>
            <a:ext cx="2800350" cy="819150"/>
          </a:xfrm>
          <a:prstGeom prst="rect">
            <a:avLst/>
          </a:prstGeom>
          <a:noFill/>
          <a:ln w="0">
            <a:noFill/>
          </a:ln>
        </p:spPr>
        <p:txBody>
          <a:bodyPr wrap="square" lIns="0" tIns="0" rIns="0" bIns="0" anchor="t">
            <a:noAutofit/>
          </a:bodyPr>
          <a:lstStyle/>
          <a:p>
            <a:pPr algn="l">
              <a:defRPr sz="1275" b="0" i="0">
                <a:solidFill>
                  <a:srgbClr val="5B6475"/>
                </a:solidFill>
                <a:latin typeface="Helvetica Neue"/>
                <a:ea typeface="Helvetica Neue"/>
                <a:cs typeface="Helvetica Neue"/>
              </a:defRPr>
            </a:pPr>
            <a:r>
              <a:rPr sz="1275" b="0" i="0" dirty="0">
                <a:solidFill>
                  <a:srgbClr val="5B6475"/>
                </a:solidFill>
                <a:latin typeface="Helvetica Neue"/>
                <a:ea typeface="Helvetica Neue"/>
                <a:cs typeface="Helvetica Neue"/>
              </a:rPr>
              <a:t>Choose mask, pseudonymize, preserve, or block based on entity type and confidence.</a:t>
            </a:r>
          </a:p>
        </p:txBody>
      </p:sp>
      <p:sp>
        <p:nvSpPr>
          <p:cNvPr id="27" name="Rounded Rectangle 26">
            <a:extLst>
              <a:ext uri="{FF2B5EF4-FFF2-40B4-BE49-F238E27FC236}">
                <a16:creationId xmlns:a16="http://schemas.microsoft.com/office/drawing/2014/main" id="{6DDD99EB-7D50-4D69-A760-088B630BF78C}"/>
              </a:ext>
            </a:extLst>
          </p:cNvPr>
          <p:cNvSpPr>
            <a:spLocks noGrp="1"/>
          </p:cNvSpPr>
          <p:nvPr/>
        </p:nvSpPr>
        <p:spPr>
          <a:xfrm>
            <a:off x="4514850" y="3867150"/>
            <a:ext cx="3143250" cy="1504950"/>
          </a:xfrm>
          <a:prstGeom prst="roundRect">
            <a:avLst>
              <a:gd name="adj" fmla="val 5063"/>
            </a:avLst>
          </a:prstGeom>
          <a:solidFill>
            <a:srgbClr val="FFFFFF"/>
          </a:solidFill>
          <a:ln w="9525">
            <a:solidFill>
              <a:srgbClr val="D9DEEA"/>
            </a:solidFill>
          </a:ln>
        </p:spPr>
        <p:txBody>
          <a:bodyPr/>
          <a:lstStyle/>
          <a:p>
            <a:endParaRPr lang="en-US"/>
          </a:p>
        </p:txBody>
      </p:sp>
      <p:sp>
        <p:nvSpPr>
          <p:cNvPr id="28" name="Oval 27">
            <a:extLst>
              <a:ext uri="{FF2B5EF4-FFF2-40B4-BE49-F238E27FC236}">
                <a16:creationId xmlns:a16="http://schemas.microsoft.com/office/drawing/2014/main" id="{072F134B-98E5-49FE-BD0C-CF744ED245D3}"/>
              </a:ext>
            </a:extLst>
          </p:cNvPr>
          <p:cNvSpPr>
            <a:spLocks noGrp="1"/>
          </p:cNvSpPr>
          <p:nvPr/>
        </p:nvSpPr>
        <p:spPr>
          <a:xfrm>
            <a:off x="4667250" y="4029075"/>
            <a:ext cx="342900" cy="342900"/>
          </a:xfrm>
          <a:prstGeom prst="ellipse">
            <a:avLst/>
          </a:prstGeom>
          <a:solidFill>
            <a:srgbClr val="4F46E5"/>
          </a:solidFill>
          <a:ln w="0">
            <a:noFill/>
          </a:ln>
        </p:spPr>
        <p:txBody>
          <a:bodyPr/>
          <a:lstStyle/>
          <a:p>
            <a:endParaRPr lang="en-US"/>
          </a:p>
        </p:txBody>
      </p:sp>
      <p:sp>
        <p:nvSpPr>
          <p:cNvPr id="29" name="Rectangle 28">
            <a:extLst>
              <a:ext uri="{FF2B5EF4-FFF2-40B4-BE49-F238E27FC236}">
                <a16:creationId xmlns:a16="http://schemas.microsoft.com/office/drawing/2014/main" id="{F2B901BF-7E5E-4938-9E9E-2CCF1C5F61B1}"/>
              </a:ext>
            </a:extLst>
          </p:cNvPr>
          <p:cNvSpPr>
            <a:spLocks noGrp="1"/>
          </p:cNvSpPr>
          <p:nvPr/>
        </p:nvSpPr>
        <p:spPr>
          <a:xfrm>
            <a:off x="4667250" y="4048125"/>
            <a:ext cx="342900" cy="285750"/>
          </a:xfrm>
          <a:prstGeom prst="rect">
            <a:avLst/>
          </a:prstGeom>
          <a:noFill/>
          <a:ln w="0">
            <a:noFill/>
          </a:ln>
        </p:spPr>
        <p:txBody>
          <a:bodyPr wrap="square" lIns="0" tIns="0" rIns="0" bIns="0" anchor="ctr">
            <a:noAutofit/>
          </a:bodyPr>
          <a:lstStyle/>
          <a:p>
            <a:pPr algn="ctr">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5</a:t>
            </a:r>
          </a:p>
        </p:txBody>
      </p:sp>
      <p:sp>
        <p:nvSpPr>
          <p:cNvPr id="30" name="Rectangle 29">
            <a:extLst>
              <a:ext uri="{FF2B5EF4-FFF2-40B4-BE49-F238E27FC236}">
                <a16:creationId xmlns:a16="http://schemas.microsoft.com/office/drawing/2014/main" id="{8D010CB0-0140-4064-9DF8-712F92A7D809}"/>
              </a:ext>
            </a:extLst>
          </p:cNvPr>
          <p:cNvSpPr>
            <a:spLocks noGrp="1"/>
          </p:cNvSpPr>
          <p:nvPr/>
        </p:nvSpPr>
        <p:spPr>
          <a:xfrm>
            <a:off x="5143500" y="4010025"/>
            <a:ext cx="2362200" cy="285750"/>
          </a:xfrm>
          <a:prstGeom prst="rect">
            <a:avLst/>
          </a:prstGeom>
          <a:noFill/>
          <a:ln w="0">
            <a:noFill/>
          </a:ln>
        </p:spPr>
        <p:txBody>
          <a:bodyPr wrap="square" lIns="0" tIns="0" rIns="0" bIns="0" anchor="t">
            <a:noAutofit/>
          </a:bodyPr>
          <a:lstStyle/>
          <a:p>
            <a:pPr algn="l">
              <a:defRPr sz="1650" b="1" i="0">
                <a:solidFill>
                  <a:srgbClr val="172033"/>
                </a:solidFill>
                <a:latin typeface="Helvetica Neue"/>
                <a:ea typeface="Helvetica Neue"/>
                <a:cs typeface="Helvetica Neue"/>
              </a:defRPr>
            </a:pPr>
            <a:r>
              <a:rPr sz="1650" b="1" i="0">
                <a:solidFill>
                  <a:srgbClr val="172033"/>
                </a:solidFill>
                <a:latin typeface="Helvetica Neue"/>
                <a:ea typeface="Helvetica Neue"/>
                <a:cs typeface="Helvetica Neue"/>
              </a:rPr>
              <a:t>Protect and send</a:t>
            </a:r>
          </a:p>
        </p:txBody>
      </p:sp>
      <p:sp>
        <p:nvSpPr>
          <p:cNvPr id="31" name="Rectangle 30">
            <a:extLst>
              <a:ext uri="{FF2B5EF4-FFF2-40B4-BE49-F238E27FC236}">
                <a16:creationId xmlns:a16="http://schemas.microsoft.com/office/drawing/2014/main" id="{6EEE16B0-3022-45AB-B6BE-E9C9C7FD8AF8}"/>
              </a:ext>
            </a:extLst>
          </p:cNvPr>
          <p:cNvSpPr>
            <a:spLocks noGrp="1"/>
          </p:cNvSpPr>
          <p:nvPr/>
        </p:nvSpPr>
        <p:spPr>
          <a:xfrm>
            <a:off x="4686300" y="4429125"/>
            <a:ext cx="2800350" cy="819150"/>
          </a:xfrm>
          <a:prstGeom prst="rect">
            <a:avLst/>
          </a:prstGeom>
          <a:noFill/>
          <a:ln w="0">
            <a:noFill/>
          </a:ln>
        </p:spPr>
        <p:txBody>
          <a:bodyPr wrap="square" lIns="0" tIns="0" rIns="0" bIns="0" anchor="t">
            <a:noAutofit/>
          </a:bodyPr>
          <a:lstStyle/>
          <a:p>
            <a:pPr algn="l">
              <a:defRPr sz="1275" b="0" i="0">
                <a:solidFill>
                  <a:srgbClr val="5B6475"/>
                </a:solidFill>
                <a:latin typeface="Helvetica Neue"/>
                <a:ea typeface="Helvetica Neue"/>
                <a:cs typeface="Helvetica Neue"/>
              </a:defRPr>
            </a:pPr>
            <a:r>
              <a:rPr sz="1275" b="0" i="0">
                <a:solidFill>
                  <a:srgbClr val="5B6475"/>
                </a:solidFill>
                <a:latin typeface="Helvetica Neue"/>
                <a:ea typeface="Helvetica Neue"/>
                <a:cs typeface="Helvetica Neue"/>
              </a:rPr>
              <a:t>Create consistent placeholders. Keep the encrypted restoration mapping local.</a:t>
            </a:r>
          </a:p>
        </p:txBody>
      </p:sp>
      <p:sp>
        <p:nvSpPr>
          <p:cNvPr id="32" name="Rounded Rectangle 31">
            <a:extLst>
              <a:ext uri="{FF2B5EF4-FFF2-40B4-BE49-F238E27FC236}">
                <a16:creationId xmlns:a16="http://schemas.microsoft.com/office/drawing/2014/main" id="{3D53B1AA-4C36-44CF-B2E0-42EC944DE760}"/>
              </a:ext>
            </a:extLst>
          </p:cNvPr>
          <p:cNvSpPr>
            <a:spLocks noGrp="1"/>
          </p:cNvSpPr>
          <p:nvPr/>
        </p:nvSpPr>
        <p:spPr>
          <a:xfrm>
            <a:off x="8343900" y="3867150"/>
            <a:ext cx="3162300" cy="1504950"/>
          </a:xfrm>
          <a:prstGeom prst="roundRect">
            <a:avLst>
              <a:gd name="adj" fmla="val 5063"/>
            </a:avLst>
          </a:prstGeom>
          <a:solidFill>
            <a:srgbClr val="FFFFFF"/>
          </a:solidFill>
          <a:ln w="9525">
            <a:solidFill>
              <a:srgbClr val="D9DEEA"/>
            </a:solidFill>
          </a:ln>
        </p:spPr>
        <p:txBody>
          <a:bodyPr/>
          <a:lstStyle/>
          <a:p>
            <a:endParaRPr lang="en-US"/>
          </a:p>
        </p:txBody>
      </p:sp>
      <p:sp>
        <p:nvSpPr>
          <p:cNvPr id="33" name="Oval 32">
            <a:extLst>
              <a:ext uri="{FF2B5EF4-FFF2-40B4-BE49-F238E27FC236}">
                <a16:creationId xmlns:a16="http://schemas.microsoft.com/office/drawing/2014/main" id="{DE965930-023C-4071-A3E8-7E793265F587}"/>
              </a:ext>
            </a:extLst>
          </p:cNvPr>
          <p:cNvSpPr>
            <a:spLocks noGrp="1"/>
          </p:cNvSpPr>
          <p:nvPr/>
        </p:nvSpPr>
        <p:spPr>
          <a:xfrm>
            <a:off x="8496300" y="4029075"/>
            <a:ext cx="342900" cy="342900"/>
          </a:xfrm>
          <a:prstGeom prst="ellipse">
            <a:avLst/>
          </a:prstGeom>
          <a:solidFill>
            <a:srgbClr val="4F46E5"/>
          </a:solidFill>
          <a:ln w="0">
            <a:noFill/>
          </a:ln>
        </p:spPr>
        <p:txBody>
          <a:bodyPr/>
          <a:lstStyle/>
          <a:p>
            <a:endParaRPr lang="en-US"/>
          </a:p>
        </p:txBody>
      </p:sp>
      <p:sp>
        <p:nvSpPr>
          <p:cNvPr id="34" name="Rectangle 33">
            <a:extLst>
              <a:ext uri="{FF2B5EF4-FFF2-40B4-BE49-F238E27FC236}">
                <a16:creationId xmlns:a16="http://schemas.microsoft.com/office/drawing/2014/main" id="{76B37940-2705-49D4-89DE-E7E576D71721}"/>
              </a:ext>
            </a:extLst>
          </p:cNvPr>
          <p:cNvSpPr>
            <a:spLocks noGrp="1"/>
          </p:cNvSpPr>
          <p:nvPr/>
        </p:nvSpPr>
        <p:spPr>
          <a:xfrm>
            <a:off x="8496300" y="4048125"/>
            <a:ext cx="342900" cy="285750"/>
          </a:xfrm>
          <a:prstGeom prst="rect">
            <a:avLst/>
          </a:prstGeom>
          <a:noFill/>
          <a:ln w="0">
            <a:noFill/>
          </a:ln>
        </p:spPr>
        <p:txBody>
          <a:bodyPr wrap="square" lIns="0" tIns="0" rIns="0" bIns="0" anchor="ctr">
            <a:noAutofit/>
          </a:bodyPr>
          <a:lstStyle/>
          <a:p>
            <a:pPr algn="ctr">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6</a:t>
            </a:r>
          </a:p>
        </p:txBody>
      </p:sp>
      <p:sp>
        <p:nvSpPr>
          <p:cNvPr id="35" name="Rectangle 34">
            <a:extLst>
              <a:ext uri="{FF2B5EF4-FFF2-40B4-BE49-F238E27FC236}">
                <a16:creationId xmlns:a16="http://schemas.microsoft.com/office/drawing/2014/main" id="{CAFB3541-E092-4DBD-A46D-5D9C8FAD304F}"/>
              </a:ext>
            </a:extLst>
          </p:cNvPr>
          <p:cNvSpPr>
            <a:spLocks noGrp="1"/>
          </p:cNvSpPr>
          <p:nvPr/>
        </p:nvSpPr>
        <p:spPr>
          <a:xfrm>
            <a:off x="8972550" y="4010025"/>
            <a:ext cx="2381250" cy="285750"/>
          </a:xfrm>
          <a:prstGeom prst="rect">
            <a:avLst/>
          </a:prstGeom>
          <a:noFill/>
          <a:ln w="0">
            <a:noFill/>
          </a:ln>
        </p:spPr>
        <p:txBody>
          <a:bodyPr wrap="square" lIns="0" tIns="0" rIns="0" bIns="0" anchor="t">
            <a:noAutofit/>
          </a:bodyPr>
          <a:lstStyle/>
          <a:p>
            <a:pPr algn="l">
              <a:defRPr sz="1650" b="1" i="0">
                <a:solidFill>
                  <a:srgbClr val="172033"/>
                </a:solidFill>
                <a:latin typeface="Helvetica Neue"/>
                <a:ea typeface="Helvetica Neue"/>
                <a:cs typeface="Helvetica Neue"/>
              </a:defRPr>
            </a:pPr>
            <a:r>
              <a:rPr sz="1650" b="1" i="0">
                <a:solidFill>
                  <a:srgbClr val="172033"/>
                </a:solidFill>
                <a:latin typeface="Helvetica Neue"/>
                <a:ea typeface="Helvetica Neue"/>
                <a:cs typeface="Helvetica Neue"/>
              </a:rPr>
              <a:t>Validate and restore</a:t>
            </a:r>
          </a:p>
        </p:txBody>
      </p:sp>
      <p:sp>
        <p:nvSpPr>
          <p:cNvPr id="36" name="Rectangle 35">
            <a:extLst>
              <a:ext uri="{FF2B5EF4-FFF2-40B4-BE49-F238E27FC236}">
                <a16:creationId xmlns:a16="http://schemas.microsoft.com/office/drawing/2014/main" id="{F2CD99DD-59BB-4166-A53F-6D225B2D150A}"/>
              </a:ext>
            </a:extLst>
          </p:cNvPr>
          <p:cNvSpPr>
            <a:spLocks noGrp="1"/>
          </p:cNvSpPr>
          <p:nvPr/>
        </p:nvSpPr>
        <p:spPr>
          <a:xfrm>
            <a:off x="8515350" y="4429125"/>
            <a:ext cx="2819400" cy="819150"/>
          </a:xfrm>
          <a:prstGeom prst="rect">
            <a:avLst/>
          </a:prstGeom>
          <a:noFill/>
          <a:ln w="0">
            <a:noFill/>
          </a:ln>
        </p:spPr>
        <p:txBody>
          <a:bodyPr wrap="square" lIns="0" tIns="0" rIns="0" bIns="0" anchor="t">
            <a:noAutofit/>
          </a:bodyPr>
          <a:lstStyle/>
          <a:p>
            <a:pPr algn="l">
              <a:defRPr sz="1275" b="0" i="0">
                <a:solidFill>
                  <a:srgbClr val="5B6475"/>
                </a:solidFill>
                <a:latin typeface="Helvetica Neue"/>
                <a:ea typeface="Helvetica Neue"/>
                <a:cs typeface="Helvetica Neue"/>
              </a:defRPr>
            </a:pPr>
            <a:r>
              <a:rPr sz="1275" b="0" i="0">
                <a:solidFill>
                  <a:srgbClr val="5B6475"/>
                </a:solidFill>
                <a:latin typeface="Helvetica Neue"/>
                <a:ea typeface="Helvetica Neue"/>
                <a:cs typeface="Helvetica Neue"/>
              </a:rPr>
              <a:t>Reject altered placeholders or unexpected sensitive output, then restore only when authorized.</a:t>
            </a:r>
          </a:p>
        </p:txBody>
      </p:sp>
      <p:sp>
        <p:nvSpPr>
          <p:cNvPr id="37" name="Straight Connector 36">
            <a:extLst>
              <a:ext uri="{FF2B5EF4-FFF2-40B4-BE49-F238E27FC236}">
                <a16:creationId xmlns:a16="http://schemas.microsoft.com/office/drawing/2014/main" id="{D5FEA6BC-B54B-4028-A93F-CA9C6EB6B3F5}"/>
              </a:ext>
            </a:extLst>
          </p:cNvPr>
          <p:cNvSpPr>
            <a:spLocks noGrp="1"/>
          </p:cNvSpPr>
          <p:nvPr/>
        </p:nvSpPr>
        <p:spPr>
          <a:xfrm>
            <a:off x="3829050" y="4619625"/>
            <a:ext cx="685800" cy="9525"/>
          </a:xfrm>
          <a:prstGeom prst="line">
            <a:avLst/>
          </a:prstGeom>
          <a:noFill/>
          <a:ln w="19050">
            <a:solidFill>
              <a:srgbClr val="D9DEEA"/>
            </a:solidFill>
          </a:ln>
        </p:spPr>
        <p:txBody>
          <a:bodyPr/>
          <a:lstStyle/>
          <a:p>
            <a:endParaRPr lang="en-US"/>
          </a:p>
        </p:txBody>
      </p:sp>
      <p:sp>
        <p:nvSpPr>
          <p:cNvPr id="38" name="Straight Connector 37">
            <a:extLst>
              <a:ext uri="{FF2B5EF4-FFF2-40B4-BE49-F238E27FC236}">
                <a16:creationId xmlns:a16="http://schemas.microsoft.com/office/drawing/2014/main" id="{2DF72750-0305-4CD8-BCE7-C0697C6E18D9}"/>
              </a:ext>
            </a:extLst>
          </p:cNvPr>
          <p:cNvSpPr>
            <a:spLocks noGrp="1"/>
          </p:cNvSpPr>
          <p:nvPr/>
        </p:nvSpPr>
        <p:spPr>
          <a:xfrm>
            <a:off x="7658100" y="4619625"/>
            <a:ext cx="685800" cy="9525"/>
          </a:xfrm>
          <a:prstGeom prst="line">
            <a:avLst/>
          </a:prstGeom>
          <a:noFill/>
          <a:ln w="19050">
            <a:solidFill>
              <a:srgbClr val="D9DEEA"/>
            </a:solidFill>
          </a:ln>
        </p:spPr>
        <p:txBody>
          <a:bodyPr/>
          <a:lstStyle/>
          <a:p>
            <a:endParaRPr lang="en-US"/>
          </a:p>
        </p:txBody>
      </p:sp>
      <p:sp>
        <p:nvSpPr>
          <p:cNvPr id="39" name="Straight Connector 38">
            <a:extLst>
              <a:ext uri="{FF2B5EF4-FFF2-40B4-BE49-F238E27FC236}">
                <a16:creationId xmlns:a16="http://schemas.microsoft.com/office/drawing/2014/main" id="{C3E6C107-7E13-4226-9EF2-DB22C403080E}"/>
              </a:ext>
            </a:extLst>
          </p:cNvPr>
          <p:cNvSpPr>
            <a:spLocks noGrp="1"/>
          </p:cNvSpPr>
          <p:nvPr/>
        </p:nvSpPr>
        <p:spPr>
          <a:xfrm>
            <a:off x="10267950" y="3238500"/>
            <a:ext cx="9525" cy="438150"/>
          </a:xfrm>
          <a:prstGeom prst="line">
            <a:avLst/>
          </a:prstGeom>
          <a:noFill/>
          <a:ln w="19050">
            <a:solidFill>
              <a:srgbClr val="D9DEEA"/>
            </a:solidFill>
          </a:ln>
        </p:spPr>
        <p:txBody>
          <a:bodyPr/>
          <a:lstStyle/>
          <a:p>
            <a:endParaRPr lang="en-US"/>
          </a:p>
        </p:txBody>
      </p:sp>
      <p:sp>
        <p:nvSpPr>
          <p:cNvPr id="40" name="Straight Connector 39">
            <a:extLst>
              <a:ext uri="{FF2B5EF4-FFF2-40B4-BE49-F238E27FC236}">
                <a16:creationId xmlns:a16="http://schemas.microsoft.com/office/drawing/2014/main" id="{E515D341-2B8C-4D80-A8B5-665DA06904D2}"/>
              </a:ext>
            </a:extLst>
          </p:cNvPr>
          <p:cNvSpPr>
            <a:spLocks noGrp="1"/>
          </p:cNvSpPr>
          <p:nvPr/>
        </p:nvSpPr>
        <p:spPr>
          <a:xfrm>
            <a:off x="2257425" y="3676650"/>
            <a:ext cx="8010525" cy="9525"/>
          </a:xfrm>
          <a:prstGeom prst="line">
            <a:avLst/>
          </a:prstGeom>
          <a:noFill/>
          <a:ln w="19050">
            <a:solidFill>
              <a:srgbClr val="D9DEEA"/>
            </a:solidFill>
          </a:ln>
        </p:spPr>
        <p:txBody>
          <a:bodyPr/>
          <a:lstStyle/>
          <a:p>
            <a:endParaRPr lang="en-US"/>
          </a:p>
        </p:txBody>
      </p:sp>
      <p:sp>
        <p:nvSpPr>
          <p:cNvPr id="41" name="Straight Connector 40">
            <a:extLst>
              <a:ext uri="{FF2B5EF4-FFF2-40B4-BE49-F238E27FC236}">
                <a16:creationId xmlns:a16="http://schemas.microsoft.com/office/drawing/2014/main" id="{75098B04-BC24-4FF1-BA2D-7EC646752899}"/>
              </a:ext>
            </a:extLst>
          </p:cNvPr>
          <p:cNvSpPr>
            <a:spLocks noGrp="1"/>
          </p:cNvSpPr>
          <p:nvPr/>
        </p:nvSpPr>
        <p:spPr>
          <a:xfrm>
            <a:off x="2257425" y="3676650"/>
            <a:ext cx="9525" cy="190500"/>
          </a:xfrm>
          <a:prstGeom prst="line">
            <a:avLst/>
          </a:prstGeom>
          <a:noFill/>
          <a:ln w="19050">
            <a:solidFill>
              <a:srgbClr val="D9DEEA"/>
            </a:solidFill>
          </a:ln>
        </p:spPr>
        <p:txBody>
          <a:bodyPr/>
          <a:lstStyle/>
          <a:p>
            <a:endParaRPr lang="en-US"/>
          </a:p>
        </p:txBody>
      </p:sp>
      <p:sp>
        <p:nvSpPr>
          <p:cNvPr id="42" name="Straight Connector 41">
            <a:extLst>
              <a:ext uri="{FF2B5EF4-FFF2-40B4-BE49-F238E27FC236}">
                <a16:creationId xmlns:a16="http://schemas.microsoft.com/office/drawing/2014/main" id="{0C506D3D-7F84-4D7F-B3D5-4AA9945CE7DC}"/>
              </a:ext>
            </a:extLst>
          </p:cNvPr>
          <p:cNvSpPr>
            <a:spLocks noGrp="1"/>
          </p:cNvSpPr>
          <p:nvPr/>
        </p:nvSpPr>
        <p:spPr>
          <a:xfrm>
            <a:off x="685800" y="6467475"/>
            <a:ext cx="10820400" cy="9525"/>
          </a:xfrm>
          <a:prstGeom prst="line">
            <a:avLst/>
          </a:prstGeom>
          <a:noFill/>
          <a:ln w="9525">
            <a:solidFill>
              <a:srgbClr val="D9DEEA"/>
            </a:solidFill>
          </a:ln>
        </p:spPr>
        <p:txBody>
          <a:bodyPr/>
          <a:lstStyle/>
          <a:p>
            <a:endParaRPr lang="en-US"/>
          </a:p>
        </p:txBody>
      </p:sp>
      <p:sp>
        <p:nvSpPr>
          <p:cNvPr id="43" name="Rectangle 42">
            <a:extLst>
              <a:ext uri="{FF2B5EF4-FFF2-40B4-BE49-F238E27FC236}">
                <a16:creationId xmlns:a16="http://schemas.microsoft.com/office/drawing/2014/main" id="{26DC5F8A-B1C1-474A-9F15-11D1034930CA}"/>
              </a:ext>
            </a:extLst>
          </p:cNvPr>
          <p:cNvSpPr>
            <a:spLocks noGrp="1"/>
          </p:cNvSpPr>
          <p:nvPr/>
        </p:nvSpPr>
        <p:spPr>
          <a:xfrm>
            <a:off x="685800" y="6553200"/>
            <a:ext cx="4762500" cy="171450"/>
          </a:xfrm>
          <a:prstGeom prst="rect">
            <a:avLst/>
          </a:prstGeom>
          <a:noFill/>
          <a:ln w="0">
            <a:noFill/>
          </a:ln>
        </p:spPr>
        <p:txBody>
          <a:bodyPr wrap="square" lIns="0" tIns="0" rIns="0" bIns="0" anchor="t">
            <a:noAutofit/>
          </a:bodyPr>
          <a:lstStyle/>
          <a:p>
            <a:pPr algn="l">
              <a:defRPr sz="900" b="0" i="0">
                <a:solidFill>
                  <a:srgbClr val="5B6475"/>
                </a:solidFill>
                <a:latin typeface="Helvetica Neue"/>
                <a:ea typeface="Helvetica Neue"/>
                <a:cs typeface="Helvetica Neue"/>
              </a:defRPr>
            </a:pPr>
            <a:r>
              <a:rPr sz="900" b="0" i="0">
                <a:solidFill>
                  <a:srgbClr val="5B6475"/>
                </a:solidFill>
                <a:latin typeface="Helvetica Neue"/>
                <a:ea typeface="Helvetica Neue"/>
                <a:cs typeface="Helvetica Neue"/>
              </a:rPr>
              <a:t>Finaira sponsorship interview</a:t>
            </a:r>
          </a:p>
        </p:txBody>
      </p:sp>
      <p:sp>
        <p:nvSpPr>
          <p:cNvPr id="44" name="Rectangle 43">
            <a:extLst>
              <a:ext uri="{FF2B5EF4-FFF2-40B4-BE49-F238E27FC236}">
                <a16:creationId xmlns:a16="http://schemas.microsoft.com/office/drawing/2014/main" id="{044EAE1D-848D-42D6-8A62-BBC2AB5391BE}"/>
              </a:ext>
            </a:extLst>
          </p:cNvPr>
          <p:cNvSpPr>
            <a:spLocks noGrp="1"/>
          </p:cNvSpPr>
          <p:nvPr/>
        </p:nvSpPr>
        <p:spPr>
          <a:xfrm>
            <a:off x="11096625" y="6553200"/>
            <a:ext cx="409575" cy="171450"/>
          </a:xfrm>
          <a:prstGeom prst="rect">
            <a:avLst/>
          </a:prstGeom>
          <a:noFill/>
          <a:ln w="0">
            <a:noFill/>
          </a:ln>
        </p:spPr>
        <p:txBody>
          <a:bodyPr wrap="square" lIns="0" tIns="0" rIns="0" bIns="0" anchor="t">
            <a:noAutofit/>
          </a:bodyPr>
          <a:lstStyle/>
          <a:p>
            <a:pPr algn="r">
              <a:defRPr sz="900" b="1" i="0">
                <a:solidFill>
                  <a:srgbClr val="5B6475"/>
                </a:solidFill>
                <a:latin typeface="Helvetica Neue"/>
                <a:ea typeface="Helvetica Neue"/>
                <a:cs typeface="Helvetica Neue"/>
              </a:defRPr>
            </a:pPr>
            <a:r>
              <a:rPr sz="900" b="1" i="0">
                <a:solidFill>
                  <a:srgbClr val="5B6475"/>
                </a:solidFill>
                <a:latin typeface="Helvetica Neue"/>
                <a:ea typeface="Helvetica Neue"/>
                <a:cs typeface="Helvetica Neue"/>
              </a:rPr>
              <a:t>08</a:t>
            </a:r>
          </a:p>
        </p:txBody>
      </p:sp>
    </p:spTree>
    <p:extLst>
      <p:ext uri="{BB962C8B-B14F-4D97-AF65-F5344CB8AC3E}">
        <p14:creationId xmlns:p14="http://schemas.microsoft.com/office/powerpoint/2010/main" val="554716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5CC34E7-BCE8-45B8-BD66-214D30FC9574}"/>
              </a:ext>
            </a:extLst>
          </p:cNvPr>
          <p:cNvSpPr>
            <a:spLocks noGrp="1"/>
          </p:cNvSpPr>
          <p:nvPr/>
        </p:nvSpPr>
        <p:spPr>
          <a:xfrm>
            <a:off x="0" y="0"/>
            <a:ext cx="12192000" cy="95250"/>
          </a:xfrm>
          <a:prstGeom prst="rect">
            <a:avLst/>
          </a:prstGeom>
          <a:solidFill>
            <a:srgbClr val="4F46E5"/>
          </a:solidFill>
          <a:ln w="0">
            <a:noFill/>
          </a:ln>
        </p:spPr>
        <p:txBody>
          <a:bodyPr/>
          <a:lstStyle/>
          <a:p>
            <a:endParaRPr lang="en-US"/>
          </a:p>
        </p:txBody>
      </p:sp>
      <p:sp>
        <p:nvSpPr>
          <p:cNvPr id="2" name="Rectangle 1">
            <a:extLst>
              <a:ext uri="{FF2B5EF4-FFF2-40B4-BE49-F238E27FC236}">
                <a16:creationId xmlns:a16="http://schemas.microsoft.com/office/drawing/2014/main" id="{F60FCA5C-F96E-45B4-ABD6-E11BFD5DE944}"/>
              </a:ext>
            </a:extLst>
          </p:cNvPr>
          <p:cNvSpPr>
            <a:spLocks noGrp="1"/>
          </p:cNvSpPr>
          <p:nvPr/>
        </p:nvSpPr>
        <p:spPr>
          <a:xfrm>
            <a:off x="685800" y="361950"/>
            <a:ext cx="3333750" cy="238125"/>
          </a:xfrm>
          <a:prstGeom prst="rect">
            <a:avLst/>
          </a:prstGeom>
          <a:noFill/>
          <a:ln w="0">
            <a:noFill/>
          </a:ln>
        </p:spPr>
        <p:txBody>
          <a:bodyPr wrap="square" lIns="0" tIns="0" rIns="0" bIns="0" anchor="t">
            <a:noAutofit/>
          </a:bodyPr>
          <a:lstStyle/>
          <a:p>
            <a:pPr algn="l">
              <a:defRPr sz="1125" b="1" i="0">
                <a:solidFill>
                  <a:srgbClr val="4F46E5"/>
                </a:solidFill>
                <a:latin typeface="Helvetica Neue"/>
                <a:ea typeface="Helvetica Neue"/>
                <a:cs typeface="Helvetica Neue"/>
              </a:defRPr>
            </a:pPr>
            <a:r>
              <a:rPr sz="1125" b="1" i="0">
                <a:solidFill>
                  <a:srgbClr val="4F46E5"/>
                </a:solidFill>
                <a:latin typeface="Helvetica Neue"/>
                <a:ea typeface="Helvetica Neue"/>
                <a:cs typeface="Helvetica Neue"/>
              </a:rPr>
              <a:t>RESEARCH METHOD</a:t>
            </a:r>
          </a:p>
        </p:txBody>
      </p:sp>
      <p:sp>
        <p:nvSpPr>
          <p:cNvPr id="3" name="Rectangle 2">
            <a:extLst>
              <a:ext uri="{FF2B5EF4-FFF2-40B4-BE49-F238E27FC236}">
                <a16:creationId xmlns:a16="http://schemas.microsoft.com/office/drawing/2014/main" id="{2B6A17C6-4912-4DF0-8C38-CFB9AAD70CB4}"/>
              </a:ext>
            </a:extLst>
          </p:cNvPr>
          <p:cNvSpPr>
            <a:spLocks noGrp="1"/>
          </p:cNvSpPr>
          <p:nvPr/>
        </p:nvSpPr>
        <p:spPr>
          <a:xfrm>
            <a:off x="685800" y="638175"/>
            <a:ext cx="10820400" cy="619125"/>
          </a:xfrm>
          <a:prstGeom prst="rect">
            <a:avLst/>
          </a:prstGeom>
          <a:noFill/>
          <a:ln w="0">
            <a:noFill/>
          </a:ln>
        </p:spPr>
        <p:txBody>
          <a:bodyPr wrap="square" lIns="0" tIns="0" rIns="0" bIns="0" anchor="t">
            <a:noAutofit/>
          </a:bodyPr>
          <a:lstStyle/>
          <a:p>
            <a:pPr algn="l">
              <a:defRPr sz="3150" b="1" i="0">
                <a:solidFill>
                  <a:srgbClr val="172033"/>
                </a:solidFill>
                <a:latin typeface="Helvetica Neue"/>
                <a:ea typeface="Helvetica Neue"/>
                <a:cs typeface="Helvetica Neue"/>
              </a:defRPr>
            </a:pPr>
            <a:r>
              <a:rPr sz="3150" b="1" i="0">
                <a:solidFill>
                  <a:srgbClr val="172033"/>
                </a:solidFill>
                <a:latin typeface="Helvetica Neue"/>
                <a:ea typeface="Helvetica Neue"/>
                <a:cs typeface="Helvetica Neue"/>
              </a:rPr>
              <a:t>Offline dataset and evaluation</a:t>
            </a:r>
          </a:p>
        </p:txBody>
      </p:sp>
      <p:sp>
        <p:nvSpPr>
          <p:cNvPr id="4" name="Rectangle 3">
            <a:extLst>
              <a:ext uri="{FF2B5EF4-FFF2-40B4-BE49-F238E27FC236}">
                <a16:creationId xmlns:a16="http://schemas.microsoft.com/office/drawing/2014/main" id="{80587E62-CE2A-42BD-8CF0-3F59467F56F3}"/>
              </a:ext>
            </a:extLst>
          </p:cNvPr>
          <p:cNvSpPr>
            <a:spLocks noGrp="1"/>
          </p:cNvSpPr>
          <p:nvPr/>
        </p:nvSpPr>
        <p:spPr>
          <a:xfrm>
            <a:off x="685800" y="1219200"/>
            <a:ext cx="10820400" cy="381000"/>
          </a:xfrm>
          <a:prstGeom prst="rect">
            <a:avLst/>
          </a:prstGeom>
          <a:noFill/>
          <a:ln w="0">
            <a:noFill/>
          </a:ln>
        </p:spPr>
        <p:txBody>
          <a:bodyPr wrap="square" lIns="0" tIns="0" rIns="0" bIns="0" anchor="t">
            <a:noAutofit/>
          </a:bodyPr>
          <a:lstStyle/>
          <a:p>
            <a:pPr algn="l">
              <a:defRPr sz="1575" b="0" i="0">
                <a:solidFill>
                  <a:srgbClr val="5B6475"/>
                </a:solidFill>
                <a:latin typeface="Helvetica Neue"/>
                <a:ea typeface="Helvetica Neue"/>
                <a:cs typeface="Helvetica Neue"/>
              </a:defRPr>
            </a:pPr>
            <a:r>
              <a:rPr sz="1575" b="0" i="0">
                <a:solidFill>
                  <a:srgbClr val="5B6475"/>
                </a:solidFill>
                <a:latin typeface="Helvetica Neue"/>
                <a:ea typeface="Helvetica Neue"/>
                <a:cs typeface="Helvetica Neue"/>
              </a:rPr>
              <a:t>Build a human-checked benchmark before comparing detectors or making privacy claims.</a:t>
            </a:r>
          </a:p>
        </p:txBody>
      </p:sp>
      <p:sp>
        <p:nvSpPr>
          <p:cNvPr id="5" name="Rounded Rectangle 4">
            <a:extLst>
              <a:ext uri="{FF2B5EF4-FFF2-40B4-BE49-F238E27FC236}">
                <a16:creationId xmlns:a16="http://schemas.microsoft.com/office/drawing/2014/main" id="{ADDA1584-F93D-47B3-BCD9-42859C9DDBA0}"/>
              </a:ext>
            </a:extLst>
          </p:cNvPr>
          <p:cNvSpPr>
            <a:spLocks noGrp="1"/>
          </p:cNvSpPr>
          <p:nvPr/>
        </p:nvSpPr>
        <p:spPr>
          <a:xfrm>
            <a:off x="685800" y="1885950"/>
            <a:ext cx="3381375" cy="2038350"/>
          </a:xfrm>
          <a:prstGeom prst="roundRect">
            <a:avLst>
              <a:gd name="adj" fmla="val 3738"/>
            </a:avLst>
          </a:prstGeom>
          <a:solidFill>
            <a:srgbClr val="FFFFFF"/>
          </a:solidFill>
          <a:ln w="9525">
            <a:solidFill>
              <a:srgbClr val="D9DEEA"/>
            </a:solidFill>
          </a:ln>
        </p:spPr>
        <p:txBody>
          <a:bodyPr/>
          <a:lstStyle/>
          <a:p>
            <a:endParaRPr lang="en-US"/>
          </a:p>
        </p:txBody>
      </p:sp>
      <p:sp>
        <p:nvSpPr>
          <p:cNvPr id="6" name="Rectangle 5">
            <a:extLst>
              <a:ext uri="{FF2B5EF4-FFF2-40B4-BE49-F238E27FC236}">
                <a16:creationId xmlns:a16="http://schemas.microsoft.com/office/drawing/2014/main" id="{F80A178E-F391-43C3-986D-CDE3C0ADB12E}"/>
              </a:ext>
            </a:extLst>
          </p:cNvPr>
          <p:cNvSpPr>
            <a:spLocks noGrp="1"/>
          </p:cNvSpPr>
          <p:nvPr/>
        </p:nvSpPr>
        <p:spPr>
          <a:xfrm>
            <a:off x="895350" y="2066925"/>
            <a:ext cx="361950" cy="381000"/>
          </a:xfrm>
          <a:prstGeom prst="rect">
            <a:avLst/>
          </a:prstGeom>
          <a:noFill/>
          <a:ln w="0">
            <a:noFill/>
          </a:ln>
        </p:spPr>
        <p:txBody>
          <a:bodyPr wrap="square" lIns="0" tIns="0" rIns="0" bIns="0" anchor="t">
            <a:noAutofit/>
          </a:bodyPr>
          <a:lstStyle/>
          <a:p>
            <a:pPr algn="l">
              <a:defRPr sz="2175" b="1" i="0">
                <a:solidFill>
                  <a:srgbClr val="4F46E5"/>
                </a:solidFill>
                <a:latin typeface="Helvetica Neue"/>
                <a:ea typeface="Helvetica Neue"/>
                <a:cs typeface="Helvetica Neue"/>
              </a:defRPr>
            </a:pPr>
            <a:r>
              <a:rPr sz="2175" b="1" i="0">
                <a:solidFill>
                  <a:srgbClr val="4F46E5"/>
                </a:solidFill>
                <a:latin typeface="Helvetica Neue"/>
                <a:ea typeface="Helvetica Neue"/>
                <a:cs typeface="Helvetica Neue"/>
              </a:rPr>
              <a:t>1</a:t>
            </a:r>
          </a:p>
        </p:txBody>
      </p:sp>
      <p:sp>
        <p:nvSpPr>
          <p:cNvPr id="7" name="Rectangle 6">
            <a:extLst>
              <a:ext uri="{FF2B5EF4-FFF2-40B4-BE49-F238E27FC236}">
                <a16:creationId xmlns:a16="http://schemas.microsoft.com/office/drawing/2014/main" id="{92A4BC21-38F1-461C-8802-36634C218A4E}"/>
              </a:ext>
            </a:extLst>
          </p:cNvPr>
          <p:cNvSpPr>
            <a:spLocks noGrp="1"/>
          </p:cNvSpPr>
          <p:nvPr/>
        </p:nvSpPr>
        <p:spPr>
          <a:xfrm>
            <a:off x="1333500" y="2114550"/>
            <a:ext cx="2476500" cy="314325"/>
          </a:xfrm>
          <a:prstGeom prst="rect">
            <a:avLst/>
          </a:prstGeom>
          <a:noFill/>
          <a:ln w="0">
            <a:noFill/>
          </a:ln>
        </p:spPr>
        <p:txBody>
          <a:bodyPr wrap="square" lIns="0" tIns="0" rIns="0" bIns="0" anchor="t">
            <a:noAutofit/>
          </a:bodyPr>
          <a:lstStyle/>
          <a:p>
            <a:pPr algn="l">
              <a:defRPr sz="1800" b="1" i="0">
                <a:solidFill>
                  <a:srgbClr val="172033"/>
                </a:solidFill>
                <a:latin typeface="Helvetica Neue"/>
                <a:ea typeface="Helvetica Neue"/>
                <a:cs typeface="Helvetica Neue"/>
              </a:defRPr>
            </a:pPr>
            <a:r>
              <a:rPr sz="1800" b="1" i="0">
                <a:solidFill>
                  <a:srgbClr val="172033"/>
                </a:solidFill>
                <a:latin typeface="Helvetica Neue"/>
                <a:ea typeface="Helvetica Neue"/>
                <a:cs typeface="Helvetica Neue"/>
              </a:rPr>
              <a:t>Gather examples</a:t>
            </a:r>
          </a:p>
        </p:txBody>
      </p:sp>
      <p:sp>
        <p:nvSpPr>
          <p:cNvPr id="8" name="Rectangle 7">
            <a:extLst>
              <a:ext uri="{FF2B5EF4-FFF2-40B4-BE49-F238E27FC236}">
                <a16:creationId xmlns:a16="http://schemas.microsoft.com/office/drawing/2014/main" id="{9AC5F7B6-670D-4CDC-AD1B-E965F5B7D142}"/>
              </a:ext>
            </a:extLst>
          </p:cNvPr>
          <p:cNvSpPr>
            <a:spLocks noGrp="1"/>
          </p:cNvSpPr>
          <p:nvPr/>
        </p:nvSpPr>
        <p:spPr>
          <a:xfrm>
            <a:off x="895350" y="2619375"/>
            <a:ext cx="2952750" cy="1133475"/>
          </a:xfrm>
          <a:prstGeom prst="rect">
            <a:avLst/>
          </a:prstGeom>
          <a:noFill/>
          <a:ln w="0">
            <a:noFill/>
          </a:ln>
        </p:spPr>
        <p:txBody>
          <a:bodyPr wrap="square" lIns="0" tIns="0" rIns="0" bIns="0" anchor="t">
            <a:noAutofit/>
          </a:bodyPr>
          <a:lstStyle/>
          <a:p>
            <a:pPr algn="l">
              <a:defRPr sz="1425" b="0" i="0">
                <a:solidFill>
                  <a:srgbClr val="5B6475"/>
                </a:solidFill>
                <a:latin typeface="Helvetica Neue"/>
                <a:ea typeface="Helvetica Neue"/>
                <a:cs typeface="Helvetica Neue"/>
              </a:defRPr>
            </a:pPr>
            <a:r>
              <a:rPr sz="1425" b="0" i="0">
                <a:solidFill>
                  <a:srgbClr val="5B6475"/>
                </a:solidFill>
                <a:latin typeface="Helvetica Neue"/>
                <a:ea typeface="Helvetica Neue"/>
                <a:cs typeface="Helvetica Neue"/>
              </a:rPr>
              <a:t>Start with synthetic Arabic-English financial documents and difficult edge cases. Use Finaira-provided document structures if available.</a:t>
            </a:r>
          </a:p>
        </p:txBody>
      </p:sp>
      <p:sp>
        <p:nvSpPr>
          <p:cNvPr id="9" name="Rounded Rectangle 8">
            <a:extLst>
              <a:ext uri="{FF2B5EF4-FFF2-40B4-BE49-F238E27FC236}">
                <a16:creationId xmlns:a16="http://schemas.microsoft.com/office/drawing/2014/main" id="{92547DB8-C0D2-4A98-AB3E-DE8D41FF21E7}"/>
              </a:ext>
            </a:extLst>
          </p:cNvPr>
          <p:cNvSpPr>
            <a:spLocks noGrp="1"/>
          </p:cNvSpPr>
          <p:nvPr/>
        </p:nvSpPr>
        <p:spPr>
          <a:xfrm>
            <a:off x="4381500" y="1885950"/>
            <a:ext cx="3381375" cy="2038350"/>
          </a:xfrm>
          <a:prstGeom prst="roundRect">
            <a:avLst>
              <a:gd name="adj" fmla="val 3738"/>
            </a:avLst>
          </a:prstGeom>
          <a:solidFill>
            <a:srgbClr val="FFFFFF"/>
          </a:solidFill>
          <a:ln w="9525">
            <a:solidFill>
              <a:srgbClr val="D9DEEA"/>
            </a:solidFill>
          </a:ln>
        </p:spPr>
        <p:txBody>
          <a:bodyPr/>
          <a:lstStyle/>
          <a:p>
            <a:endParaRPr lang="en-US"/>
          </a:p>
        </p:txBody>
      </p:sp>
      <p:sp>
        <p:nvSpPr>
          <p:cNvPr id="10" name="Rectangle 9">
            <a:extLst>
              <a:ext uri="{FF2B5EF4-FFF2-40B4-BE49-F238E27FC236}">
                <a16:creationId xmlns:a16="http://schemas.microsoft.com/office/drawing/2014/main" id="{FBC4D268-FEBB-4D28-AE01-E31B47A1E73F}"/>
              </a:ext>
            </a:extLst>
          </p:cNvPr>
          <p:cNvSpPr>
            <a:spLocks noGrp="1"/>
          </p:cNvSpPr>
          <p:nvPr/>
        </p:nvSpPr>
        <p:spPr>
          <a:xfrm>
            <a:off x="4591050" y="2066925"/>
            <a:ext cx="361950" cy="381000"/>
          </a:xfrm>
          <a:prstGeom prst="rect">
            <a:avLst/>
          </a:prstGeom>
          <a:noFill/>
          <a:ln w="0">
            <a:noFill/>
          </a:ln>
        </p:spPr>
        <p:txBody>
          <a:bodyPr wrap="square" lIns="0" tIns="0" rIns="0" bIns="0" anchor="t">
            <a:noAutofit/>
          </a:bodyPr>
          <a:lstStyle/>
          <a:p>
            <a:pPr algn="l">
              <a:defRPr sz="2175" b="1" i="0">
                <a:solidFill>
                  <a:srgbClr val="4F46E5"/>
                </a:solidFill>
                <a:latin typeface="Helvetica Neue"/>
                <a:ea typeface="Helvetica Neue"/>
                <a:cs typeface="Helvetica Neue"/>
              </a:defRPr>
            </a:pPr>
            <a:r>
              <a:rPr sz="2175" b="1" i="0">
                <a:solidFill>
                  <a:srgbClr val="4F46E5"/>
                </a:solidFill>
                <a:latin typeface="Helvetica Neue"/>
                <a:ea typeface="Helvetica Neue"/>
                <a:cs typeface="Helvetica Neue"/>
              </a:rPr>
              <a:t>2</a:t>
            </a:r>
          </a:p>
        </p:txBody>
      </p:sp>
      <p:sp>
        <p:nvSpPr>
          <p:cNvPr id="11" name="Rectangle 10">
            <a:extLst>
              <a:ext uri="{FF2B5EF4-FFF2-40B4-BE49-F238E27FC236}">
                <a16:creationId xmlns:a16="http://schemas.microsoft.com/office/drawing/2014/main" id="{E8C3AEA3-A9C9-42C5-9407-F7C90B6D095D}"/>
              </a:ext>
            </a:extLst>
          </p:cNvPr>
          <p:cNvSpPr>
            <a:spLocks noGrp="1"/>
          </p:cNvSpPr>
          <p:nvPr/>
        </p:nvSpPr>
        <p:spPr>
          <a:xfrm>
            <a:off x="5029200" y="2114550"/>
            <a:ext cx="2476500" cy="314325"/>
          </a:xfrm>
          <a:prstGeom prst="rect">
            <a:avLst/>
          </a:prstGeom>
          <a:noFill/>
          <a:ln w="0">
            <a:noFill/>
          </a:ln>
        </p:spPr>
        <p:txBody>
          <a:bodyPr wrap="square" lIns="0" tIns="0" rIns="0" bIns="0" anchor="t">
            <a:noAutofit/>
          </a:bodyPr>
          <a:lstStyle/>
          <a:p>
            <a:pPr algn="l">
              <a:defRPr sz="1800" b="1" i="0">
                <a:solidFill>
                  <a:srgbClr val="172033"/>
                </a:solidFill>
                <a:latin typeface="Helvetica Neue"/>
                <a:ea typeface="Helvetica Neue"/>
                <a:cs typeface="Helvetica Neue"/>
              </a:defRPr>
            </a:pPr>
            <a:r>
              <a:rPr sz="1800" b="1" i="0">
                <a:solidFill>
                  <a:srgbClr val="172033"/>
                </a:solidFill>
                <a:latin typeface="Helvetica Neue"/>
                <a:ea typeface="Helvetica Neue"/>
                <a:cs typeface="Helvetica Neue"/>
              </a:rPr>
              <a:t>Label and review</a:t>
            </a:r>
          </a:p>
        </p:txBody>
      </p:sp>
      <p:sp>
        <p:nvSpPr>
          <p:cNvPr id="12" name="Rectangle 11">
            <a:extLst>
              <a:ext uri="{FF2B5EF4-FFF2-40B4-BE49-F238E27FC236}">
                <a16:creationId xmlns:a16="http://schemas.microsoft.com/office/drawing/2014/main" id="{81FEBEB6-C98B-45C0-A697-48FD91437D6B}"/>
              </a:ext>
            </a:extLst>
          </p:cNvPr>
          <p:cNvSpPr>
            <a:spLocks noGrp="1"/>
          </p:cNvSpPr>
          <p:nvPr/>
        </p:nvSpPr>
        <p:spPr>
          <a:xfrm>
            <a:off x="4591050" y="2619375"/>
            <a:ext cx="2952750" cy="1133475"/>
          </a:xfrm>
          <a:prstGeom prst="rect">
            <a:avLst/>
          </a:prstGeom>
          <a:noFill/>
          <a:ln w="0">
            <a:noFill/>
          </a:ln>
        </p:spPr>
        <p:txBody>
          <a:bodyPr wrap="square" lIns="0" tIns="0" rIns="0" bIns="0" anchor="t">
            <a:noAutofit/>
          </a:bodyPr>
          <a:lstStyle/>
          <a:p>
            <a:pPr algn="l">
              <a:defRPr sz="1425" b="0" i="0">
                <a:solidFill>
                  <a:srgbClr val="5B6475"/>
                </a:solidFill>
                <a:latin typeface="Helvetica Neue"/>
                <a:ea typeface="Helvetica Neue"/>
                <a:cs typeface="Helvetica Neue"/>
              </a:defRPr>
            </a:pPr>
            <a:r>
              <a:rPr sz="1425" b="0" i="0">
                <a:solidFill>
                  <a:srgbClr val="5B6475"/>
                </a:solidFill>
                <a:latin typeface="Helvetica Neue"/>
                <a:ea typeface="Helvetica Neue"/>
                <a:cs typeface="Helvetica Neue"/>
              </a:rPr>
              <a:t>Mark sensitive spans, entity types, policy actions, and ambiguous context. Human review creates the reference labels.</a:t>
            </a:r>
          </a:p>
        </p:txBody>
      </p:sp>
      <p:sp>
        <p:nvSpPr>
          <p:cNvPr id="13" name="Rounded Rectangle 12">
            <a:extLst>
              <a:ext uri="{FF2B5EF4-FFF2-40B4-BE49-F238E27FC236}">
                <a16:creationId xmlns:a16="http://schemas.microsoft.com/office/drawing/2014/main" id="{FF1E6869-5024-4B4E-97F0-DF718678DFC7}"/>
              </a:ext>
            </a:extLst>
          </p:cNvPr>
          <p:cNvSpPr>
            <a:spLocks noGrp="1"/>
          </p:cNvSpPr>
          <p:nvPr/>
        </p:nvSpPr>
        <p:spPr>
          <a:xfrm>
            <a:off x="8077200" y="1885950"/>
            <a:ext cx="3381375" cy="2038350"/>
          </a:xfrm>
          <a:prstGeom prst="roundRect">
            <a:avLst>
              <a:gd name="adj" fmla="val 3738"/>
            </a:avLst>
          </a:prstGeom>
          <a:solidFill>
            <a:srgbClr val="FFFFFF"/>
          </a:solidFill>
          <a:ln w="9525">
            <a:solidFill>
              <a:srgbClr val="D9DEEA"/>
            </a:solidFill>
          </a:ln>
        </p:spPr>
        <p:txBody>
          <a:bodyPr/>
          <a:lstStyle/>
          <a:p>
            <a:endParaRPr lang="en-US"/>
          </a:p>
        </p:txBody>
      </p:sp>
      <p:sp>
        <p:nvSpPr>
          <p:cNvPr id="14" name="Rectangle 13">
            <a:extLst>
              <a:ext uri="{FF2B5EF4-FFF2-40B4-BE49-F238E27FC236}">
                <a16:creationId xmlns:a16="http://schemas.microsoft.com/office/drawing/2014/main" id="{0DB2A3CD-A152-4C16-83AB-3FAC0D94B52A}"/>
              </a:ext>
            </a:extLst>
          </p:cNvPr>
          <p:cNvSpPr>
            <a:spLocks noGrp="1"/>
          </p:cNvSpPr>
          <p:nvPr/>
        </p:nvSpPr>
        <p:spPr>
          <a:xfrm>
            <a:off x="8286750" y="2066925"/>
            <a:ext cx="361950" cy="381000"/>
          </a:xfrm>
          <a:prstGeom prst="rect">
            <a:avLst/>
          </a:prstGeom>
          <a:noFill/>
          <a:ln w="0">
            <a:noFill/>
          </a:ln>
        </p:spPr>
        <p:txBody>
          <a:bodyPr wrap="square" lIns="0" tIns="0" rIns="0" bIns="0" anchor="t">
            <a:noAutofit/>
          </a:bodyPr>
          <a:lstStyle/>
          <a:p>
            <a:pPr algn="l">
              <a:defRPr sz="2175" b="1" i="0">
                <a:solidFill>
                  <a:srgbClr val="4F46E5"/>
                </a:solidFill>
                <a:latin typeface="Helvetica Neue"/>
                <a:ea typeface="Helvetica Neue"/>
                <a:cs typeface="Helvetica Neue"/>
              </a:defRPr>
            </a:pPr>
            <a:r>
              <a:rPr sz="2175" b="1" i="0">
                <a:solidFill>
                  <a:srgbClr val="4F46E5"/>
                </a:solidFill>
                <a:latin typeface="Helvetica Neue"/>
                <a:ea typeface="Helvetica Neue"/>
                <a:cs typeface="Helvetica Neue"/>
              </a:rPr>
              <a:t>3</a:t>
            </a:r>
          </a:p>
        </p:txBody>
      </p:sp>
      <p:sp>
        <p:nvSpPr>
          <p:cNvPr id="15" name="Rectangle 14">
            <a:extLst>
              <a:ext uri="{FF2B5EF4-FFF2-40B4-BE49-F238E27FC236}">
                <a16:creationId xmlns:a16="http://schemas.microsoft.com/office/drawing/2014/main" id="{613F25EA-CB70-46B6-8875-5CF1DC517261}"/>
              </a:ext>
            </a:extLst>
          </p:cNvPr>
          <p:cNvSpPr>
            <a:spLocks noGrp="1"/>
          </p:cNvSpPr>
          <p:nvPr/>
        </p:nvSpPr>
        <p:spPr>
          <a:xfrm>
            <a:off x="8724900" y="2114550"/>
            <a:ext cx="2476500" cy="314325"/>
          </a:xfrm>
          <a:prstGeom prst="rect">
            <a:avLst/>
          </a:prstGeom>
          <a:noFill/>
          <a:ln w="0">
            <a:noFill/>
          </a:ln>
        </p:spPr>
        <p:txBody>
          <a:bodyPr wrap="square" lIns="0" tIns="0" rIns="0" bIns="0" anchor="t">
            <a:noAutofit/>
          </a:bodyPr>
          <a:lstStyle/>
          <a:p>
            <a:pPr algn="l">
              <a:defRPr sz="1800" b="1" i="0">
                <a:solidFill>
                  <a:srgbClr val="172033"/>
                </a:solidFill>
                <a:latin typeface="Helvetica Neue"/>
                <a:ea typeface="Helvetica Neue"/>
                <a:cs typeface="Helvetica Neue"/>
              </a:defRPr>
            </a:pPr>
            <a:r>
              <a:rPr sz="1800" b="1" i="0">
                <a:solidFill>
                  <a:srgbClr val="172033"/>
                </a:solidFill>
                <a:latin typeface="Helvetica Neue"/>
                <a:ea typeface="Helvetica Neue"/>
                <a:cs typeface="Helvetica Neue"/>
              </a:rPr>
              <a:t>Freeze test cases</a:t>
            </a:r>
          </a:p>
        </p:txBody>
      </p:sp>
      <p:sp>
        <p:nvSpPr>
          <p:cNvPr id="16" name="Rectangle 15">
            <a:extLst>
              <a:ext uri="{FF2B5EF4-FFF2-40B4-BE49-F238E27FC236}">
                <a16:creationId xmlns:a16="http://schemas.microsoft.com/office/drawing/2014/main" id="{F2ADDB81-3AD6-40E3-860C-78ADF17017B6}"/>
              </a:ext>
            </a:extLst>
          </p:cNvPr>
          <p:cNvSpPr>
            <a:spLocks noGrp="1"/>
          </p:cNvSpPr>
          <p:nvPr/>
        </p:nvSpPr>
        <p:spPr>
          <a:xfrm>
            <a:off x="8286750" y="2619375"/>
            <a:ext cx="2952750" cy="1133475"/>
          </a:xfrm>
          <a:prstGeom prst="rect">
            <a:avLst/>
          </a:prstGeom>
          <a:noFill/>
          <a:ln w="0">
            <a:noFill/>
          </a:ln>
        </p:spPr>
        <p:txBody>
          <a:bodyPr wrap="square" lIns="0" tIns="0" rIns="0" bIns="0" anchor="t">
            <a:noAutofit/>
          </a:bodyPr>
          <a:lstStyle/>
          <a:p>
            <a:pPr algn="l">
              <a:defRPr sz="1425" b="0" i="0">
                <a:solidFill>
                  <a:srgbClr val="5B6475"/>
                </a:solidFill>
                <a:latin typeface="Helvetica Neue"/>
                <a:ea typeface="Helvetica Neue"/>
                <a:cs typeface="Helvetica Neue"/>
              </a:defRPr>
            </a:pPr>
            <a:r>
              <a:rPr sz="1425" b="0" i="0">
                <a:solidFill>
                  <a:srgbClr val="5B6475"/>
                </a:solidFill>
                <a:latin typeface="Helvetica Neue"/>
                <a:ea typeface="Helvetica Neue"/>
                <a:cs typeface="Helvetica Neue"/>
              </a:rPr>
              <a:t>Separate development and test sets by document template and scenario so near-duplicates do not inflate results.</a:t>
            </a:r>
          </a:p>
        </p:txBody>
      </p:sp>
      <p:sp>
        <p:nvSpPr>
          <p:cNvPr id="17" name="Rectangle 16">
            <a:extLst>
              <a:ext uri="{FF2B5EF4-FFF2-40B4-BE49-F238E27FC236}">
                <a16:creationId xmlns:a16="http://schemas.microsoft.com/office/drawing/2014/main" id="{17B606DF-1CAB-4AED-A996-954E94582015}"/>
              </a:ext>
            </a:extLst>
          </p:cNvPr>
          <p:cNvSpPr>
            <a:spLocks noGrp="1"/>
          </p:cNvSpPr>
          <p:nvPr/>
        </p:nvSpPr>
        <p:spPr>
          <a:xfrm>
            <a:off x="685800" y="4410075"/>
            <a:ext cx="2381250" cy="257175"/>
          </a:xfrm>
          <a:prstGeom prst="rect">
            <a:avLst/>
          </a:prstGeom>
          <a:noFill/>
          <a:ln w="0">
            <a:noFill/>
          </a:ln>
        </p:spPr>
        <p:txBody>
          <a:bodyPr wrap="square" lIns="0" tIns="0" rIns="0" bIns="0" anchor="t">
            <a:noAutofit/>
          </a:bodyPr>
          <a:lstStyle/>
          <a:p>
            <a:pPr algn="l">
              <a:defRPr sz="1275" b="1" i="0">
                <a:solidFill>
                  <a:srgbClr val="4F46E5"/>
                </a:solidFill>
                <a:latin typeface="Helvetica Neue"/>
                <a:ea typeface="Helvetica Neue"/>
                <a:cs typeface="Helvetica Neue"/>
              </a:defRPr>
            </a:pPr>
            <a:r>
              <a:rPr sz="1275" b="1" i="0">
                <a:solidFill>
                  <a:srgbClr val="4F46E5"/>
                </a:solidFill>
                <a:latin typeface="Helvetica Neue"/>
                <a:ea typeface="Helvetica Neue"/>
                <a:cs typeface="Helvetica Neue"/>
              </a:rPr>
              <a:t>HOW WE USE IT</a:t>
            </a:r>
          </a:p>
        </p:txBody>
      </p:sp>
      <p:sp>
        <p:nvSpPr>
          <p:cNvPr id="18" name="Straight Connector 17">
            <a:extLst>
              <a:ext uri="{FF2B5EF4-FFF2-40B4-BE49-F238E27FC236}">
                <a16:creationId xmlns:a16="http://schemas.microsoft.com/office/drawing/2014/main" id="{D4F4F231-B8D8-4C3A-BDCE-A87AD46E2E31}"/>
              </a:ext>
            </a:extLst>
          </p:cNvPr>
          <p:cNvSpPr>
            <a:spLocks noGrp="1"/>
          </p:cNvSpPr>
          <p:nvPr/>
        </p:nvSpPr>
        <p:spPr>
          <a:xfrm>
            <a:off x="685800" y="4752975"/>
            <a:ext cx="10820400" cy="9525"/>
          </a:xfrm>
          <a:prstGeom prst="line">
            <a:avLst/>
          </a:prstGeom>
          <a:noFill/>
          <a:ln w="19050">
            <a:solidFill>
              <a:srgbClr val="D9DEEA"/>
            </a:solidFill>
          </a:ln>
        </p:spPr>
        <p:txBody>
          <a:bodyPr/>
          <a:lstStyle/>
          <a:p>
            <a:endParaRPr lang="en-US"/>
          </a:p>
        </p:txBody>
      </p:sp>
      <p:sp>
        <p:nvSpPr>
          <p:cNvPr id="19" name="Rectangle 18">
            <a:extLst>
              <a:ext uri="{FF2B5EF4-FFF2-40B4-BE49-F238E27FC236}">
                <a16:creationId xmlns:a16="http://schemas.microsoft.com/office/drawing/2014/main" id="{974669D3-58FF-4C51-990C-B6B9AD2D36C2}"/>
              </a:ext>
            </a:extLst>
          </p:cNvPr>
          <p:cNvSpPr>
            <a:spLocks noGrp="1"/>
          </p:cNvSpPr>
          <p:nvPr/>
        </p:nvSpPr>
        <p:spPr>
          <a:xfrm>
            <a:off x="685800" y="4962525"/>
            <a:ext cx="2400300" cy="266700"/>
          </a:xfrm>
          <a:prstGeom prst="rect">
            <a:avLst/>
          </a:prstGeom>
          <a:noFill/>
          <a:ln w="0">
            <a:noFill/>
          </a:ln>
        </p:spPr>
        <p:txBody>
          <a:bodyPr wrap="square" lIns="0" tIns="0" rIns="0" bIns="0" anchor="t">
            <a:noAutofit/>
          </a:bodyPr>
          <a:lstStyle/>
          <a:p>
            <a:pPr algn="l">
              <a:defRPr sz="1500" b="1" i="0">
                <a:solidFill>
                  <a:srgbClr val="172033"/>
                </a:solidFill>
                <a:latin typeface="Helvetica Neue"/>
                <a:ea typeface="Helvetica Neue"/>
                <a:cs typeface="Helvetica Neue"/>
              </a:defRPr>
            </a:pPr>
            <a:r>
              <a:rPr sz="1500" b="1" i="0">
                <a:solidFill>
                  <a:srgbClr val="172033"/>
                </a:solidFill>
                <a:latin typeface="Helvetica Neue"/>
                <a:ea typeface="Helvetica Neue"/>
                <a:cs typeface="Helvetica Neue"/>
              </a:rPr>
              <a:t>Detection</a:t>
            </a:r>
          </a:p>
        </p:txBody>
      </p:sp>
      <p:sp>
        <p:nvSpPr>
          <p:cNvPr id="20" name="Rectangle 19">
            <a:extLst>
              <a:ext uri="{FF2B5EF4-FFF2-40B4-BE49-F238E27FC236}">
                <a16:creationId xmlns:a16="http://schemas.microsoft.com/office/drawing/2014/main" id="{D4D3128C-FEEE-43B0-8D76-5732E7304FA2}"/>
              </a:ext>
            </a:extLst>
          </p:cNvPr>
          <p:cNvSpPr>
            <a:spLocks noGrp="1"/>
          </p:cNvSpPr>
          <p:nvPr/>
        </p:nvSpPr>
        <p:spPr>
          <a:xfrm>
            <a:off x="685800" y="5295900"/>
            <a:ext cx="2400300" cy="647700"/>
          </a:xfrm>
          <a:prstGeom prst="rect">
            <a:avLst/>
          </a:prstGeom>
          <a:noFill/>
          <a:ln w="0">
            <a:noFill/>
          </a:ln>
        </p:spPr>
        <p:txBody>
          <a:bodyPr wrap="square" lIns="0" tIns="0" rIns="0" bIns="0" anchor="t">
            <a:noAutofit/>
          </a:bodyPr>
          <a:lstStyle/>
          <a:p>
            <a:pPr algn="l">
              <a:defRPr sz="1350" b="0" i="0">
                <a:solidFill>
                  <a:srgbClr val="5B6475"/>
                </a:solidFill>
                <a:latin typeface="Helvetica Neue"/>
                <a:ea typeface="Helvetica Neue"/>
                <a:cs typeface="Helvetica Neue"/>
              </a:defRPr>
            </a:pPr>
            <a:r>
              <a:rPr sz="1350" b="0" i="0">
                <a:solidFill>
                  <a:srgbClr val="5B6475"/>
                </a:solidFill>
                <a:latin typeface="Helvetica Neue"/>
                <a:ea typeface="Helvetica Neue"/>
                <a:cs typeface="Helvetica Neue"/>
              </a:rPr>
              <a:t>Sensitive-entity recall and false positives</a:t>
            </a:r>
          </a:p>
        </p:txBody>
      </p:sp>
      <p:sp>
        <p:nvSpPr>
          <p:cNvPr id="21" name="Rectangle 20">
            <a:extLst>
              <a:ext uri="{FF2B5EF4-FFF2-40B4-BE49-F238E27FC236}">
                <a16:creationId xmlns:a16="http://schemas.microsoft.com/office/drawing/2014/main" id="{915E7DAD-9B39-427A-8678-11BEA358BBBB}"/>
              </a:ext>
            </a:extLst>
          </p:cNvPr>
          <p:cNvSpPr>
            <a:spLocks noGrp="1"/>
          </p:cNvSpPr>
          <p:nvPr/>
        </p:nvSpPr>
        <p:spPr>
          <a:xfrm>
            <a:off x="3457575" y="4962525"/>
            <a:ext cx="2400300" cy="266700"/>
          </a:xfrm>
          <a:prstGeom prst="rect">
            <a:avLst/>
          </a:prstGeom>
          <a:noFill/>
          <a:ln w="0">
            <a:noFill/>
          </a:ln>
        </p:spPr>
        <p:txBody>
          <a:bodyPr wrap="square" lIns="0" tIns="0" rIns="0" bIns="0" anchor="t">
            <a:noAutofit/>
          </a:bodyPr>
          <a:lstStyle/>
          <a:p>
            <a:pPr algn="l">
              <a:defRPr sz="1500" b="1" i="0">
                <a:solidFill>
                  <a:srgbClr val="172033"/>
                </a:solidFill>
                <a:latin typeface="Helvetica Neue"/>
                <a:ea typeface="Helvetica Neue"/>
                <a:cs typeface="Helvetica Neue"/>
              </a:defRPr>
            </a:pPr>
            <a:r>
              <a:rPr sz="1500" b="1" i="0">
                <a:solidFill>
                  <a:srgbClr val="172033"/>
                </a:solidFill>
                <a:latin typeface="Helvetica Neue"/>
                <a:ea typeface="Helvetica Neue"/>
                <a:cs typeface="Helvetica Neue"/>
              </a:rPr>
              <a:t>Privacy</a:t>
            </a:r>
          </a:p>
        </p:txBody>
      </p:sp>
      <p:sp>
        <p:nvSpPr>
          <p:cNvPr id="22" name="Rectangle 21">
            <a:extLst>
              <a:ext uri="{FF2B5EF4-FFF2-40B4-BE49-F238E27FC236}">
                <a16:creationId xmlns:a16="http://schemas.microsoft.com/office/drawing/2014/main" id="{E2D5E772-0C6A-4465-B51A-9A7522101BEE}"/>
              </a:ext>
            </a:extLst>
          </p:cNvPr>
          <p:cNvSpPr>
            <a:spLocks noGrp="1"/>
          </p:cNvSpPr>
          <p:nvPr/>
        </p:nvSpPr>
        <p:spPr>
          <a:xfrm>
            <a:off x="3457575" y="5295900"/>
            <a:ext cx="2400300" cy="647700"/>
          </a:xfrm>
          <a:prstGeom prst="rect">
            <a:avLst/>
          </a:prstGeom>
          <a:noFill/>
          <a:ln w="0">
            <a:noFill/>
          </a:ln>
        </p:spPr>
        <p:txBody>
          <a:bodyPr wrap="square" lIns="0" tIns="0" rIns="0" bIns="0" anchor="t">
            <a:noAutofit/>
          </a:bodyPr>
          <a:lstStyle/>
          <a:p>
            <a:pPr algn="l">
              <a:defRPr sz="1350" b="0" i="0">
                <a:solidFill>
                  <a:srgbClr val="5B6475"/>
                </a:solidFill>
                <a:latin typeface="Helvetica Neue"/>
                <a:ea typeface="Helvetica Neue"/>
                <a:cs typeface="Helvetica Neue"/>
              </a:defRPr>
            </a:pPr>
            <a:r>
              <a:rPr sz="1350" b="0" i="0">
                <a:solidFill>
                  <a:srgbClr val="5B6475"/>
                </a:solidFill>
                <a:latin typeface="Helvetica Neue"/>
                <a:ea typeface="Helvetica Neue"/>
                <a:cs typeface="Helvetica Neue"/>
              </a:rPr>
              <a:t>Raw leakage and placeholder integrity</a:t>
            </a:r>
          </a:p>
        </p:txBody>
      </p:sp>
      <p:sp>
        <p:nvSpPr>
          <p:cNvPr id="23" name="Rectangle 22">
            <a:extLst>
              <a:ext uri="{FF2B5EF4-FFF2-40B4-BE49-F238E27FC236}">
                <a16:creationId xmlns:a16="http://schemas.microsoft.com/office/drawing/2014/main" id="{0402DCA4-EEF3-4114-930C-B143A6A0B62B}"/>
              </a:ext>
            </a:extLst>
          </p:cNvPr>
          <p:cNvSpPr>
            <a:spLocks noGrp="1"/>
          </p:cNvSpPr>
          <p:nvPr/>
        </p:nvSpPr>
        <p:spPr>
          <a:xfrm>
            <a:off x="6229350" y="4962525"/>
            <a:ext cx="2400300" cy="266700"/>
          </a:xfrm>
          <a:prstGeom prst="rect">
            <a:avLst/>
          </a:prstGeom>
          <a:noFill/>
          <a:ln w="0">
            <a:noFill/>
          </a:ln>
        </p:spPr>
        <p:txBody>
          <a:bodyPr wrap="square" lIns="0" tIns="0" rIns="0" bIns="0" anchor="t">
            <a:noAutofit/>
          </a:bodyPr>
          <a:lstStyle/>
          <a:p>
            <a:pPr algn="l">
              <a:defRPr sz="1500" b="1" i="0">
                <a:solidFill>
                  <a:srgbClr val="172033"/>
                </a:solidFill>
                <a:latin typeface="Helvetica Neue"/>
                <a:ea typeface="Helvetica Neue"/>
                <a:cs typeface="Helvetica Neue"/>
              </a:defRPr>
            </a:pPr>
            <a:r>
              <a:rPr sz="1500" b="1" i="0">
                <a:solidFill>
                  <a:srgbClr val="172033"/>
                </a:solidFill>
                <a:latin typeface="Helvetica Neue"/>
                <a:ea typeface="Helvetica Neue"/>
                <a:cs typeface="Helvetica Neue"/>
              </a:rPr>
              <a:t>Utility</a:t>
            </a:r>
          </a:p>
        </p:txBody>
      </p:sp>
      <p:sp>
        <p:nvSpPr>
          <p:cNvPr id="24" name="Rectangle 23">
            <a:extLst>
              <a:ext uri="{FF2B5EF4-FFF2-40B4-BE49-F238E27FC236}">
                <a16:creationId xmlns:a16="http://schemas.microsoft.com/office/drawing/2014/main" id="{546AB862-FA13-4A20-9D99-1F3C57ECEA7F}"/>
              </a:ext>
            </a:extLst>
          </p:cNvPr>
          <p:cNvSpPr>
            <a:spLocks noGrp="1"/>
          </p:cNvSpPr>
          <p:nvPr/>
        </p:nvSpPr>
        <p:spPr>
          <a:xfrm>
            <a:off x="6229350" y="5295900"/>
            <a:ext cx="2400300" cy="647700"/>
          </a:xfrm>
          <a:prstGeom prst="rect">
            <a:avLst/>
          </a:prstGeom>
          <a:noFill/>
          <a:ln w="0">
            <a:noFill/>
          </a:ln>
        </p:spPr>
        <p:txBody>
          <a:bodyPr wrap="square" lIns="0" tIns="0" rIns="0" bIns="0" anchor="t">
            <a:noAutofit/>
          </a:bodyPr>
          <a:lstStyle/>
          <a:p>
            <a:pPr algn="l">
              <a:defRPr sz="1350" b="0" i="0">
                <a:solidFill>
                  <a:srgbClr val="5B6475"/>
                </a:solidFill>
                <a:latin typeface="Helvetica Neue"/>
                <a:ea typeface="Helvetica Neue"/>
                <a:cs typeface="Helvetica Neue"/>
              </a:defRPr>
            </a:pPr>
            <a:r>
              <a:rPr sz="1350" b="0" i="0">
                <a:solidFill>
                  <a:srgbClr val="5B6475"/>
                </a:solidFill>
                <a:latin typeface="Helvetica Neue"/>
                <a:ea typeface="Helvetica Neue"/>
                <a:cs typeface="Helvetica Neue"/>
              </a:rPr>
              <a:t>Quality on selected cloud LLM tasks</a:t>
            </a:r>
          </a:p>
        </p:txBody>
      </p:sp>
      <p:sp>
        <p:nvSpPr>
          <p:cNvPr id="25" name="Rectangle 24">
            <a:extLst>
              <a:ext uri="{FF2B5EF4-FFF2-40B4-BE49-F238E27FC236}">
                <a16:creationId xmlns:a16="http://schemas.microsoft.com/office/drawing/2014/main" id="{13D2210B-58EE-4CE2-ACB8-25A45A38F7C8}"/>
              </a:ext>
            </a:extLst>
          </p:cNvPr>
          <p:cNvSpPr>
            <a:spLocks noGrp="1"/>
          </p:cNvSpPr>
          <p:nvPr/>
        </p:nvSpPr>
        <p:spPr>
          <a:xfrm>
            <a:off x="9001125" y="4962525"/>
            <a:ext cx="2400300" cy="266700"/>
          </a:xfrm>
          <a:prstGeom prst="rect">
            <a:avLst/>
          </a:prstGeom>
          <a:noFill/>
          <a:ln w="0">
            <a:noFill/>
          </a:ln>
        </p:spPr>
        <p:txBody>
          <a:bodyPr wrap="square" lIns="0" tIns="0" rIns="0" bIns="0" anchor="t">
            <a:noAutofit/>
          </a:bodyPr>
          <a:lstStyle/>
          <a:p>
            <a:pPr algn="l">
              <a:defRPr sz="1500" b="1" i="0">
                <a:solidFill>
                  <a:srgbClr val="172033"/>
                </a:solidFill>
                <a:latin typeface="Helvetica Neue"/>
                <a:ea typeface="Helvetica Neue"/>
                <a:cs typeface="Helvetica Neue"/>
              </a:defRPr>
            </a:pPr>
            <a:r>
              <a:rPr sz="1500" b="1" i="0">
                <a:solidFill>
                  <a:srgbClr val="172033"/>
                </a:solidFill>
                <a:latin typeface="Helvetica Neue"/>
                <a:ea typeface="Helvetica Neue"/>
                <a:cs typeface="Helvetica Neue"/>
              </a:rPr>
              <a:t>System</a:t>
            </a:r>
          </a:p>
        </p:txBody>
      </p:sp>
      <p:sp>
        <p:nvSpPr>
          <p:cNvPr id="26" name="Rectangle 25">
            <a:extLst>
              <a:ext uri="{FF2B5EF4-FFF2-40B4-BE49-F238E27FC236}">
                <a16:creationId xmlns:a16="http://schemas.microsoft.com/office/drawing/2014/main" id="{E75DAF06-04B3-49D7-8A4C-98FD87257C54}"/>
              </a:ext>
            </a:extLst>
          </p:cNvPr>
          <p:cNvSpPr>
            <a:spLocks noGrp="1"/>
          </p:cNvSpPr>
          <p:nvPr/>
        </p:nvSpPr>
        <p:spPr>
          <a:xfrm>
            <a:off x="9001125" y="5295900"/>
            <a:ext cx="2400300" cy="647700"/>
          </a:xfrm>
          <a:prstGeom prst="rect">
            <a:avLst/>
          </a:prstGeom>
          <a:noFill/>
          <a:ln w="0">
            <a:noFill/>
          </a:ln>
        </p:spPr>
        <p:txBody>
          <a:bodyPr wrap="square" lIns="0" tIns="0" rIns="0" bIns="0" anchor="t">
            <a:noAutofit/>
          </a:bodyPr>
          <a:lstStyle/>
          <a:p>
            <a:pPr algn="l">
              <a:defRPr sz="1350" b="0" i="0">
                <a:solidFill>
                  <a:srgbClr val="5B6475"/>
                </a:solidFill>
                <a:latin typeface="Helvetica Neue"/>
                <a:ea typeface="Helvetica Neue"/>
                <a:cs typeface="Helvetica Neue"/>
              </a:defRPr>
            </a:pPr>
            <a:r>
              <a:rPr sz="1350" b="0" i="0">
                <a:solidFill>
                  <a:srgbClr val="5B6475"/>
                </a:solidFill>
                <a:latin typeface="Helvetica Neue"/>
                <a:ea typeface="Helvetica Neue"/>
                <a:cs typeface="Helvetica Neue"/>
              </a:rPr>
              <a:t>Restoration accuracy, latency, failures</a:t>
            </a:r>
          </a:p>
        </p:txBody>
      </p:sp>
      <p:sp>
        <p:nvSpPr>
          <p:cNvPr id="27" name="Straight Connector 26">
            <a:extLst>
              <a:ext uri="{FF2B5EF4-FFF2-40B4-BE49-F238E27FC236}">
                <a16:creationId xmlns:a16="http://schemas.microsoft.com/office/drawing/2014/main" id="{E61B0189-00C2-4434-9946-437D6DF27A70}"/>
              </a:ext>
            </a:extLst>
          </p:cNvPr>
          <p:cNvSpPr>
            <a:spLocks noGrp="1"/>
          </p:cNvSpPr>
          <p:nvPr/>
        </p:nvSpPr>
        <p:spPr>
          <a:xfrm>
            <a:off x="685800" y="6467475"/>
            <a:ext cx="10820400" cy="9525"/>
          </a:xfrm>
          <a:prstGeom prst="line">
            <a:avLst/>
          </a:prstGeom>
          <a:noFill/>
          <a:ln w="9525">
            <a:solidFill>
              <a:srgbClr val="D9DEEA"/>
            </a:solidFill>
          </a:ln>
        </p:spPr>
        <p:txBody>
          <a:bodyPr/>
          <a:lstStyle/>
          <a:p>
            <a:endParaRPr lang="en-US"/>
          </a:p>
        </p:txBody>
      </p:sp>
      <p:sp>
        <p:nvSpPr>
          <p:cNvPr id="28" name="Rectangle 27">
            <a:extLst>
              <a:ext uri="{FF2B5EF4-FFF2-40B4-BE49-F238E27FC236}">
                <a16:creationId xmlns:a16="http://schemas.microsoft.com/office/drawing/2014/main" id="{7156856B-D40D-4E65-B139-9C5380C4E6AE}"/>
              </a:ext>
            </a:extLst>
          </p:cNvPr>
          <p:cNvSpPr>
            <a:spLocks noGrp="1"/>
          </p:cNvSpPr>
          <p:nvPr/>
        </p:nvSpPr>
        <p:spPr>
          <a:xfrm>
            <a:off x="685800" y="6553200"/>
            <a:ext cx="4762500" cy="171450"/>
          </a:xfrm>
          <a:prstGeom prst="rect">
            <a:avLst/>
          </a:prstGeom>
          <a:noFill/>
          <a:ln w="0">
            <a:noFill/>
          </a:ln>
        </p:spPr>
        <p:txBody>
          <a:bodyPr wrap="square" lIns="0" tIns="0" rIns="0" bIns="0" anchor="t">
            <a:noAutofit/>
          </a:bodyPr>
          <a:lstStyle/>
          <a:p>
            <a:pPr algn="l">
              <a:defRPr sz="900" b="0" i="0">
                <a:solidFill>
                  <a:srgbClr val="5B6475"/>
                </a:solidFill>
                <a:latin typeface="Helvetica Neue"/>
                <a:ea typeface="Helvetica Neue"/>
                <a:cs typeface="Helvetica Neue"/>
              </a:defRPr>
            </a:pPr>
            <a:r>
              <a:rPr sz="900" b="0" i="0">
                <a:solidFill>
                  <a:srgbClr val="5B6475"/>
                </a:solidFill>
                <a:latin typeface="Helvetica Neue"/>
                <a:ea typeface="Helvetica Neue"/>
                <a:cs typeface="Helvetica Neue"/>
              </a:rPr>
              <a:t>Finaira sponsorship interview</a:t>
            </a:r>
          </a:p>
        </p:txBody>
      </p:sp>
      <p:sp>
        <p:nvSpPr>
          <p:cNvPr id="29" name="Rectangle 28">
            <a:extLst>
              <a:ext uri="{FF2B5EF4-FFF2-40B4-BE49-F238E27FC236}">
                <a16:creationId xmlns:a16="http://schemas.microsoft.com/office/drawing/2014/main" id="{6FAB1AE4-3499-4D68-A6B0-EEAAC9D24F7E}"/>
              </a:ext>
            </a:extLst>
          </p:cNvPr>
          <p:cNvSpPr>
            <a:spLocks noGrp="1"/>
          </p:cNvSpPr>
          <p:nvPr/>
        </p:nvSpPr>
        <p:spPr>
          <a:xfrm>
            <a:off x="11096625" y="6553200"/>
            <a:ext cx="409575" cy="171450"/>
          </a:xfrm>
          <a:prstGeom prst="rect">
            <a:avLst/>
          </a:prstGeom>
          <a:noFill/>
          <a:ln w="0">
            <a:noFill/>
          </a:ln>
        </p:spPr>
        <p:txBody>
          <a:bodyPr wrap="square" lIns="0" tIns="0" rIns="0" bIns="0" anchor="t">
            <a:noAutofit/>
          </a:bodyPr>
          <a:lstStyle/>
          <a:p>
            <a:pPr algn="r">
              <a:defRPr sz="900" b="1" i="0">
                <a:solidFill>
                  <a:srgbClr val="5B6475"/>
                </a:solidFill>
                <a:latin typeface="Helvetica Neue"/>
                <a:ea typeface="Helvetica Neue"/>
                <a:cs typeface="Helvetica Neue"/>
              </a:defRPr>
            </a:pPr>
            <a:r>
              <a:rPr sz="900" b="1" i="0">
                <a:solidFill>
                  <a:srgbClr val="5B6475"/>
                </a:solidFill>
                <a:latin typeface="Helvetica Neue"/>
                <a:ea typeface="Helvetica Neue"/>
                <a:cs typeface="Helvetica Neue"/>
              </a:rPr>
              <a:t>09</a:t>
            </a:r>
          </a:p>
        </p:txBody>
      </p:sp>
    </p:spTree>
    <p:extLst>
      <p:ext uri="{BB962C8B-B14F-4D97-AF65-F5344CB8AC3E}">
        <p14:creationId xmlns:p14="http://schemas.microsoft.com/office/powerpoint/2010/main" val="1798694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F978A7D-40B5-4127-B9A1-E8E73E2EBB12}"/>
              </a:ext>
            </a:extLst>
          </p:cNvPr>
          <p:cNvSpPr>
            <a:spLocks noGrp="1"/>
          </p:cNvSpPr>
          <p:nvPr/>
        </p:nvSpPr>
        <p:spPr>
          <a:xfrm>
            <a:off x="0" y="0"/>
            <a:ext cx="12192000" cy="95250"/>
          </a:xfrm>
          <a:prstGeom prst="rect">
            <a:avLst/>
          </a:prstGeom>
          <a:solidFill>
            <a:srgbClr val="4F46E5"/>
          </a:solidFill>
          <a:ln w="0">
            <a:noFill/>
          </a:ln>
        </p:spPr>
        <p:txBody>
          <a:bodyPr/>
          <a:lstStyle/>
          <a:p>
            <a:endParaRPr lang="en-US"/>
          </a:p>
        </p:txBody>
      </p:sp>
      <p:sp>
        <p:nvSpPr>
          <p:cNvPr id="2" name="Rectangle 1">
            <a:extLst>
              <a:ext uri="{FF2B5EF4-FFF2-40B4-BE49-F238E27FC236}">
                <a16:creationId xmlns:a16="http://schemas.microsoft.com/office/drawing/2014/main" id="{28C08E5B-6477-425A-AA09-DA23D75040E5}"/>
              </a:ext>
            </a:extLst>
          </p:cNvPr>
          <p:cNvSpPr>
            <a:spLocks noGrp="1"/>
          </p:cNvSpPr>
          <p:nvPr/>
        </p:nvSpPr>
        <p:spPr>
          <a:xfrm>
            <a:off x="685800" y="361950"/>
            <a:ext cx="3333750" cy="238125"/>
          </a:xfrm>
          <a:prstGeom prst="rect">
            <a:avLst/>
          </a:prstGeom>
          <a:noFill/>
          <a:ln w="0">
            <a:noFill/>
          </a:ln>
        </p:spPr>
        <p:txBody>
          <a:bodyPr wrap="square" lIns="0" tIns="0" rIns="0" bIns="0" anchor="t">
            <a:noAutofit/>
          </a:bodyPr>
          <a:lstStyle/>
          <a:p>
            <a:pPr algn="l">
              <a:defRPr sz="1125" b="1" i="0">
                <a:solidFill>
                  <a:srgbClr val="4F46E5"/>
                </a:solidFill>
                <a:latin typeface="Helvetica Neue"/>
                <a:ea typeface="Helvetica Neue"/>
                <a:cs typeface="Helvetica Neue"/>
              </a:defRPr>
            </a:pPr>
            <a:r>
              <a:rPr sz="1125" b="1" i="0">
                <a:solidFill>
                  <a:srgbClr val="4F46E5"/>
                </a:solidFill>
                <a:latin typeface="Helvetica Neue"/>
                <a:ea typeface="Helvetica Neue"/>
                <a:cs typeface="Helvetica Neue"/>
              </a:rPr>
              <a:t>EVALUATION</a:t>
            </a:r>
          </a:p>
        </p:txBody>
      </p:sp>
      <p:sp>
        <p:nvSpPr>
          <p:cNvPr id="3" name="Rectangle 2">
            <a:extLst>
              <a:ext uri="{FF2B5EF4-FFF2-40B4-BE49-F238E27FC236}">
                <a16:creationId xmlns:a16="http://schemas.microsoft.com/office/drawing/2014/main" id="{B203D574-8DDC-4071-98B3-68D71F5CC36C}"/>
              </a:ext>
            </a:extLst>
          </p:cNvPr>
          <p:cNvSpPr>
            <a:spLocks noGrp="1"/>
          </p:cNvSpPr>
          <p:nvPr/>
        </p:nvSpPr>
        <p:spPr>
          <a:xfrm>
            <a:off x="685800" y="638175"/>
            <a:ext cx="10820400" cy="619125"/>
          </a:xfrm>
          <a:prstGeom prst="rect">
            <a:avLst/>
          </a:prstGeom>
          <a:noFill/>
          <a:ln w="0">
            <a:noFill/>
          </a:ln>
        </p:spPr>
        <p:txBody>
          <a:bodyPr wrap="square" lIns="0" tIns="0" rIns="0" bIns="0" anchor="t">
            <a:noAutofit/>
          </a:bodyPr>
          <a:lstStyle/>
          <a:p>
            <a:pPr algn="l">
              <a:defRPr sz="3150" b="1" i="0">
                <a:solidFill>
                  <a:srgbClr val="172033"/>
                </a:solidFill>
                <a:latin typeface="Helvetica Neue"/>
                <a:ea typeface="Helvetica Neue"/>
                <a:cs typeface="Helvetica Neue"/>
              </a:defRPr>
            </a:pPr>
            <a:r>
              <a:rPr sz="3150" b="1" i="0">
                <a:solidFill>
                  <a:srgbClr val="172033"/>
                </a:solidFill>
                <a:latin typeface="Helvetica Neue"/>
                <a:ea typeface="Helvetica Neue"/>
                <a:cs typeface="Helvetica Neue"/>
              </a:rPr>
              <a:t>How we will measure success</a:t>
            </a:r>
          </a:p>
        </p:txBody>
      </p:sp>
      <p:sp>
        <p:nvSpPr>
          <p:cNvPr id="4" name="Rectangle 3">
            <a:extLst>
              <a:ext uri="{FF2B5EF4-FFF2-40B4-BE49-F238E27FC236}">
                <a16:creationId xmlns:a16="http://schemas.microsoft.com/office/drawing/2014/main" id="{AE49C0D8-E765-4947-B694-A3D0888FFAEC}"/>
              </a:ext>
            </a:extLst>
          </p:cNvPr>
          <p:cNvSpPr>
            <a:spLocks noGrp="1"/>
          </p:cNvSpPr>
          <p:nvPr/>
        </p:nvSpPr>
        <p:spPr>
          <a:xfrm>
            <a:off x="685800" y="1200150"/>
            <a:ext cx="10820400" cy="381000"/>
          </a:xfrm>
          <a:prstGeom prst="rect">
            <a:avLst/>
          </a:prstGeom>
          <a:noFill/>
          <a:ln w="0">
            <a:noFill/>
          </a:ln>
        </p:spPr>
        <p:txBody>
          <a:bodyPr wrap="square" lIns="0" tIns="0" rIns="0" bIns="0" anchor="t">
            <a:noAutofit/>
          </a:bodyPr>
          <a:lstStyle/>
          <a:p>
            <a:pPr algn="l">
              <a:defRPr sz="1575" b="0" i="0">
                <a:solidFill>
                  <a:srgbClr val="5B6475"/>
                </a:solidFill>
                <a:latin typeface="Helvetica Neue"/>
                <a:ea typeface="Helvetica Neue"/>
                <a:cs typeface="Helvetica Neue"/>
              </a:defRPr>
            </a:pPr>
            <a:r>
              <a:rPr sz="1575" b="0" i="0">
                <a:solidFill>
                  <a:srgbClr val="5B6475"/>
                </a:solidFill>
                <a:latin typeface="Helvetica Neue"/>
                <a:ea typeface="Helvetica Neue"/>
                <a:cs typeface="Helvetica Neue"/>
              </a:rPr>
              <a:t>One score cannot show whether the gateway protects data and still supports the intended task.</a:t>
            </a:r>
          </a:p>
        </p:txBody>
      </p:sp>
      <p:sp>
        <p:nvSpPr>
          <p:cNvPr id="5" name="Straight Connector 4">
            <a:extLst>
              <a:ext uri="{FF2B5EF4-FFF2-40B4-BE49-F238E27FC236}">
                <a16:creationId xmlns:a16="http://schemas.microsoft.com/office/drawing/2014/main" id="{54EAA317-D7A6-46DF-9D0F-A751E73BFEC3}"/>
              </a:ext>
            </a:extLst>
          </p:cNvPr>
          <p:cNvSpPr>
            <a:spLocks noGrp="1"/>
          </p:cNvSpPr>
          <p:nvPr/>
        </p:nvSpPr>
        <p:spPr>
          <a:xfrm>
            <a:off x="6096000" y="1809750"/>
            <a:ext cx="9525" cy="3714750"/>
          </a:xfrm>
          <a:prstGeom prst="line">
            <a:avLst/>
          </a:prstGeom>
          <a:noFill/>
          <a:ln w="19050">
            <a:solidFill>
              <a:srgbClr val="D9DEEA"/>
            </a:solidFill>
          </a:ln>
        </p:spPr>
        <p:txBody>
          <a:bodyPr/>
          <a:lstStyle/>
          <a:p>
            <a:endParaRPr lang="en-US"/>
          </a:p>
        </p:txBody>
      </p:sp>
      <p:sp>
        <p:nvSpPr>
          <p:cNvPr id="6" name="Straight Connector 5">
            <a:extLst>
              <a:ext uri="{FF2B5EF4-FFF2-40B4-BE49-F238E27FC236}">
                <a16:creationId xmlns:a16="http://schemas.microsoft.com/office/drawing/2014/main" id="{BCA529D2-A51C-4F7F-9891-3AE09F4288BB}"/>
              </a:ext>
            </a:extLst>
          </p:cNvPr>
          <p:cNvSpPr>
            <a:spLocks noGrp="1"/>
          </p:cNvSpPr>
          <p:nvPr/>
        </p:nvSpPr>
        <p:spPr>
          <a:xfrm>
            <a:off x="1047750" y="3657600"/>
            <a:ext cx="10096500" cy="9525"/>
          </a:xfrm>
          <a:prstGeom prst="line">
            <a:avLst/>
          </a:prstGeom>
          <a:noFill/>
          <a:ln w="19050">
            <a:solidFill>
              <a:srgbClr val="D9DEEA"/>
            </a:solidFill>
          </a:ln>
        </p:spPr>
        <p:txBody>
          <a:bodyPr/>
          <a:lstStyle/>
          <a:p>
            <a:endParaRPr lang="en-US"/>
          </a:p>
        </p:txBody>
      </p:sp>
      <p:sp>
        <p:nvSpPr>
          <p:cNvPr id="7" name="Rectangle 6">
            <a:extLst>
              <a:ext uri="{FF2B5EF4-FFF2-40B4-BE49-F238E27FC236}">
                <a16:creationId xmlns:a16="http://schemas.microsoft.com/office/drawing/2014/main" id="{EB68C750-0F7B-48B8-9A0A-100A5633840D}"/>
              </a:ext>
            </a:extLst>
          </p:cNvPr>
          <p:cNvSpPr>
            <a:spLocks noGrp="1"/>
          </p:cNvSpPr>
          <p:nvPr/>
        </p:nvSpPr>
        <p:spPr>
          <a:xfrm>
            <a:off x="1047750" y="1952625"/>
            <a:ext cx="4095750" cy="238125"/>
          </a:xfrm>
          <a:prstGeom prst="rect">
            <a:avLst/>
          </a:prstGeom>
          <a:noFill/>
          <a:ln w="0">
            <a:noFill/>
          </a:ln>
        </p:spPr>
        <p:txBody>
          <a:bodyPr wrap="square" lIns="0" tIns="0" rIns="0" bIns="0" anchor="t">
            <a:noAutofit/>
          </a:bodyPr>
          <a:lstStyle/>
          <a:p>
            <a:pPr algn="l">
              <a:defRPr sz="1200" b="1" i="0">
                <a:solidFill>
                  <a:srgbClr val="4F46E5"/>
                </a:solidFill>
                <a:latin typeface="Helvetica Neue"/>
                <a:ea typeface="Helvetica Neue"/>
                <a:cs typeface="Helvetica Neue"/>
              </a:defRPr>
            </a:pPr>
            <a:r>
              <a:rPr sz="1200" b="1" i="0">
                <a:solidFill>
                  <a:srgbClr val="4F46E5"/>
                </a:solidFill>
                <a:latin typeface="Helvetica Neue"/>
                <a:ea typeface="Helvetica Neue"/>
                <a:cs typeface="Helvetica Neue"/>
              </a:rPr>
              <a:t>DETECTION</a:t>
            </a:r>
          </a:p>
        </p:txBody>
      </p:sp>
      <p:sp>
        <p:nvSpPr>
          <p:cNvPr id="8" name="Rectangle 7">
            <a:extLst>
              <a:ext uri="{FF2B5EF4-FFF2-40B4-BE49-F238E27FC236}">
                <a16:creationId xmlns:a16="http://schemas.microsoft.com/office/drawing/2014/main" id="{85C8DA4E-C68D-439A-88F4-216807E7994D}"/>
              </a:ext>
            </a:extLst>
          </p:cNvPr>
          <p:cNvSpPr>
            <a:spLocks noGrp="1"/>
          </p:cNvSpPr>
          <p:nvPr/>
        </p:nvSpPr>
        <p:spPr>
          <a:xfrm>
            <a:off x="1047750" y="2343150"/>
            <a:ext cx="4095750" cy="1047750"/>
          </a:xfrm>
          <a:prstGeom prst="rect">
            <a:avLst/>
          </a:prstGeom>
          <a:noFill/>
          <a:ln w="0">
            <a:noFill/>
          </a:ln>
        </p:spPr>
        <p:txBody>
          <a:bodyPr wrap="square" lIns="0" tIns="0" rIns="0" bIns="0" anchor="t">
            <a:noAutofit/>
          </a:bodyPr>
          <a:lstStyle/>
          <a:p>
            <a:pPr algn="l">
              <a:defRPr sz="1800" b="0" i="0">
                <a:solidFill>
                  <a:srgbClr val="172033"/>
                </a:solidFill>
                <a:latin typeface="Helvetica Neue"/>
                <a:ea typeface="Helvetica Neue"/>
                <a:cs typeface="Helvetica Neue"/>
              </a:defRPr>
            </a:pPr>
            <a:r>
              <a:rPr sz="1800" b="0" i="0">
                <a:solidFill>
                  <a:srgbClr val="172033"/>
                </a:solidFill>
                <a:latin typeface="Helvetica Neue"/>
                <a:ea typeface="Helvetica Neue"/>
                <a:cs typeface="Helvetica Neue"/>
              </a:rPr>
              <a:t>Precision, recall, F1</a:t>
            </a:r>
          </a:p>
          <a:p>
            <a:pPr algn="l">
              <a:defRPr sz="1800" b="0" i="0">
                <a:solidFill>
                  <a:srgbClr val="172033"/>
                </a:solidFill>
                <a:latin typeface="Helvetica Neue"/>
                <a:ea typeface="Helvetica Neue"/>
                <a:cs typeface="Helvetica Neue"/>
              </a:defRPr>
            </a:pPr>
            <a:r>
              <a:rPr sz="1800" b="0" i="0">
                <a:solidFill>
                  <a:srgbClr val="172033"/>
                </a:solidFill>
                <a:latin typeface="Helvetica Neue"/>
                <a:ea typeface="Helvetica Neue"/>
                <a:cs typeface="Helvetica Neue"/>
              </a:rPr>
              <a:t>Sensitive-entity recall</a:t>
            </a:r>
          </a:p>
          <a:p>
            <a:pPr algn="l">
              <a:defRPr sz="1800" b="0" i="0">
                <a:solidFill>
                  <a:srgbClr val="172033"/>
                </a:solidFill>
                <a:latin typeface="Helvetica Neue"/>
                <a:ea typeface="Helvetica Neue"/>
                <a:cs typeface="Helvetica Neue"/>
              </a:defRPr>
            </a:pPr>
            <a:r>
              <a:rPr sz="1800" b="0" i="0">
                <a:solidFill>
                  <a:srgbClr val="172033"/>
                </a:solidFill>
                <a:latin typeface="Helvetica Neue"/>
                <a:ea typeface="Helvetica Neue"/>
                <a:cs typeface="Helvetica Neue"/>
              </a:rPr>
              <a:t>False positives</a:t>
            </a:r>
          </a:p>
        </p:txBody>
      </p:sp>
      <p:sp>
        <p:nvSpPr>
          <p:cNvPr id="9" name="Rectangle 8">
            <a:extLst>
              <a:ext uri="{FF2B5EF4-FFF2-40B4-BE49-F238E27FC236}">
                <a16:creationId xmlns:a16="http://schemas.microsoft.com/office/drawing/2014/main" id="{6D27C5C2-B301-4B2D-B8D7-987C2D752A5A}"/>
              </a:ext>
            </a:extLst>
          </p:cNvPr>
          <p:cNvSpPr>
            <a:spLocks noGrp="1"/>
          </p:cNvSpPr>
          <p:nvPr/>
        </p:nvSpPr>
        <p:spPr>
          <a:xfrm>
            <a:off x="6667500" y="1952625"/>
            <a:ext cx="4095750" cy="238125"/>
          </a:xfrm>
          <a:prstGeom prst="rect">
            <a:avLst/>
          </a:prstGeom>
          <a:noFill/>
          <a:ln w="0">
            <a:noFill/>
          </a:ln>
        </p:spPr>
        <p:txBody>
          <a:bodyPr wrap="square" lIns="0" tIns="0" rIns="0" bIns="0" anchor="t">
            <a:noAutofit/>
          </a:bodyPr>
          <a:lstStyle/>
          <a:p>
            <a:pPr algn="l">
              <a:defRPr sz="1200" b="1" i="0">
                <a:solidFill>
                  <a:srgbClr val="C2415B"/>
                </a:solidFill>
                <a:latin typeface="Helvetica Neue"/>
                <a:ea typeface="Helvetica Neue"/>
                <a:cs typeface="Helvetica Neue"/>
              </a:defRPr>
            </a:pPr>
            <a:r>
              <a:rPr sz="1200" b="1" i="0">
                <a:solidFill>
                  <a:srgbClr val="C2415B"/>
                </a:solidFill>
                <a:latin typeface="Helvetica Neue"/>
                <a:ea typeface="Helvetica Neue"/>
                <a:cs typeface="Helvetica Neue"/>
              </a:rPr>
              <a:t>PRIVACY</a:t>
            </a:r>
          </a:p>
        </p:txBody>
      </p:sp>
      <p:sp>
        <p:nvSpPr>
          <p:cNvPr id="10" name="Rectangle 9">
            <a:extLst>
              <a:ext uri="{FF2B5EF4-FFF2-40B4-BE49-F238E27FC236}">
                <a16:creationId xmlns:a16="http://schemas.microsoft.com/office/drawing/2014/main" id="{561FCB51-8D04-4CBC-A635-2016A7FC8C30}"/>
              </a:ext>
            </a:extLst>
          </p:cNvPr>
          <p:cNvSpPr>
            <a:spLocks noGrp="1"/>
          </p:cNvSpPr>
          <p:nvPr/>
        </p:nvSpPr>
        <p:spPr>
          <a:xfrm>
            <a:off x="6667500" y="2343150"/>
            <a:ext cx="4095750" cy="1143000"/>
          </a:xfrm>
          <a:prstGeom prst="rect">
            <a:avLst/>
          </a:prstGeom>
          <a:noFill/>
          <a:ln w="0">
            <a:noFill/>
          </a:ln>
        </p:spPr>
        <p:txBody>
          <a:bodyPr wrap="square" lIns="0" tIns="0" rIns="0" bIns="0" anchor="t">
            <a:noAutofit/>
          </a:bodyPr>
          <a:lstStyle/>
          <a:p>
            <a:pPr algn="l">
              <a:defRPr sz="1725" b="0" i="0">
                <a:solidFill>
                  <a:srgbClr val="172033"/>
                </a:solidFill>
                <a:latin typeface="Helvetica Neue"/>
                <a:ea typeface="Helvetica Neue"/>
                <a:cs typeface="Helvetica Neue"/>
              </a:defRPr>
            </a:pPr>
            <a:r>
              <a:rPr sz="1725" b="0" i="0" dirty="0">
                <a:solidFill>
                  <a:srgbClr val="172033"/>
                </a:solidFill>
                <a:latin typeface="Helvetica Neue"/>
                <a:ea typeface="Helvetica Neue"/>
                <a:cs typeface="Helvetica Neue"/>
              </a:rPr>
              <a:t>Raw PII leakage</a:t>
            </a:r>
          </a:p>
          <a:p>
            <a:pPr algn="l">
              <a:defRPr sz="1725" b="0" i="0">
                <a:solidFill>
                  <a:srgbClr val="172033"/>
                </a:solidFill>
                <a:latin typeface="Helvetica Neue"/>
                <a:ea typeface="Helvetica Neue"/>
                <a:cs typeface="Helvetica Neue"/>
              </a:defRPr>
            </a:pPr>
            <a:r>
              <a:rPr sz="1725" b="0" i="0" dirty="0">
                <a:solidFill>
                  <a:srgbClr val="172033"/>
                </a:solidFill>
                <a:latin typeface="Helvetica Neue"/>
                <a:ea typeface="Helvetica Neue"/>
                <a:cs typeface="Helvetica Neue"/>
              </a:rPr>
              <a:t>Unexpected sensitive output</a:t>
            </a:r>
          </a:p>
          <a:p>
            <a:pPr algn="l">
              <a:defRPr sz="1725" b="0" i="0">
                <a:solidFill>
                  <a:srgbClr val="172033"/>
                </a:solidFill>
                <a:latin typeface="Helvetica Neue"/>
                <a:ea typeface="Helvetica Neue"/>
                <a:cs typeface="Helvetica Neue"/>
              </a:defRPr>
            </a:pPr>
            <a:r>
              <a:rPr sz="1725" b="0" i="0" dirty="0">
                <a:solidFill>
                  <a:srgbClr val="172033"/>
                </a:solidFill>
                <a:latin typeface="Helvetica Neue"/>
                <a:ea typeface="Helvetica Neue"/>
                <a:cs typeface="Helvetica Neue"/>
              </a:rPr>
              <a:t>Placeholder integrity</a:t>
            </a:r>
          </a:p>
        </p:txBody>
      </p:sp>
      <p:sp>
        <p:nvSpPr>
          <p:cNvPr id="11" name="Rectangle 10">
            <a:extLst>
              <a:ext uri="{FF2B5EF4-FFF2-40B4-BE49-F238E27FC236}">
                <a16:creationId xmlns:a16="http://schemas.microsoft.com/office/drawing/2014/main" id="{5F45C18E-315C-45FB-B6F6-D4AA5B7ECD41}"/>
              </a:ext>
            </a:extLst>
          </p:cNvPr>
          <p:cNvSpPr>
            <a:spLocks noGrp="1"/>
          </p:cNvSpPr>
          <p:nvPr/>
        </p:nvSpPr>
        <p:spPr>
          <a:xfrm>
            <a:off x="1047750" y="3952875"/>
            <a:ext cx="4095750" cy="238125"/>
          </a:xfrm>
          <a:prstGeom prst="rect">
            <a:avLst/>
          </a:prstGeom>
          <a:noFill/>
          <a:ln w="0">
            <a:noFill/>
          </a:ln>
        </p:spPr>
        <p:txBody>
          <a:bodyPr wrap="square" lIns="0" tIns="0" rIns="0" bIns="0" anchor="t">
            <a:noAutofit/>
          </a:bodyPr>
          <a:lstStyle/>
          <a:p>
            <a:pPr algn="l">
              <a:defRPr sz="1200" b="1" i="0">
                <a:solidFill>
                  <a:srgbClr val="15803D"/>
                </a:solidFill>
                <a:latin typeface="Helvetica Neue"/>
                <a:ea typeface="Helvetica Neue"/>
                <a:cs typeface="Helvetica Neue"/>
              </a:defRPr>
            </a:pPr>
            <a:r>
              <a:rPr sz="1200" b="1" i="0">
                <a:solidFill>
                  <a:srgbClr val="15803D"/>
                </a:solidFill>
                <a:latin typeface="Helvetica Neue"/>
                <a:ea typeface="Helvetica Neue"/>
                <a:cs typeface="Helvetica Neue"/>
              </a:rPr>
              <a:t>UTILITY</a:t>
            </a:r>
          </a:p>
        </p:txBody>
      </p:sp>
      <p:sp>
        <p:nvSpPr>
          <p:cNvPr id="12" name="Rectangle 11">
            <a:extLst>
              <a:ext uri="{FF2B5EF4-FFF2-40B4-BE49-F238E27FC236}">
                <a16:creationId xmlns:a16="http://schemas.microsoft.com/office/drawing/2014/main" id="{8C6BDB45-029E-45AC-B2A3-E4B0FE8BD08F}"/>
              </a:ext>
            </a:extLst>
          </p:cNvPr>
          <p:cNvSpPr>
            <a:spLocks noGrp="1"/>
          </p:cNvSpPr>
          <p:nvPr/>
        </p:nvSpPr>
        <p:spPr>
          <a:xfrm>
            <a:off x="1047750" y="4343400"/>
            <a:ext cx="4095750" cy="1047750"/>
          </a:xfrm>
          <a:prstGeom prst="rect">
            <a:avLst/>
          </a:prstGeom>
          <a:noFill/>
          <a:ln w="0">
            <a:noFill/>
          </a:ln>
        </p:spPr>
        <p:txBody>
          <a:bodyPr wrap="square" lIns="0" tIns="0" rIns="0" bIns="0" anchor="t">
            <a:noAutofit/>
          </a:bodyPr>
          <a:lstStyle/>
          <a:p>
            <a:pPr algn="l">
              <a:defRPr sz="1800" b="0" i="0">
                <a:solidFill>
                  <a:srgbClr val="172033"/>
                </a:solidFill>
                <a:latin typeface="Helvetica Neue"/>
                <a:ea typeface="Helvetica Neue"/>
                <a:cs typeface="Helvetica Neue"/>
              </a:defRPr>
            </a:pPr>
            <a:r>
              <a:rPr sz="1800" b="0" i="0">
                <a:solidFill>
                  <a:srgbClr val="172033"/>
                </a:solidFill>
                <a:latin typeface="Helvetica Neue"/>
                <a:ea typeface="Helvetica Neue"/>
                <a:cs typeface="Helvetica Neue"/>
              </a:rPr>
              <a:t>Task accuracy or quality</a:t>
            </a:r>
          </a:p>
          <a:p>
            <a:pPr algn="l">
              <a:defRPr sz="1800" b="0" i="0">
                <a:solidFill>
                  <a:srgbClr val="172033"/>
                </a:solidFill>
                <a:latin typeface="Helvetica Neue"/>
                <a:ea typeface="Helvetica Neue"/>
                <a:cs typeface="Helvetica Neue"/>
              </a:defRPr>
            </a:pPr>
            <a:r>
              <a:rPr sz="1800" b="0" i="0">
                <a:solidFill>
                  <a:srgbClr val="172033"/>
                </a:solidFill>
                <a:latin typeface="Helvetica Neue"/>
                <a:ea typeface="Helvetica Neue"/>
                <a:cs typeface="Helvetica Neue"/>
              </a:rPr>
              <a:t>Semantic preservation</a:t>
            </a:r>
          </a:p>
          <a:p>
            <a:pPr algn="l">
              <a:defRPr sz="1800" b="0" i="0">
                <a:solidFill>
                  <a:srgbClr val="172033"/>
                </a:solidFill>
                <a:latin typeface="Helvetica Neue"/>
                <a:ea typeface="Helvetica Neue"/>
                <a:cs typeface="Helvetica Neue"/>
              </a:defRPr>
            </a:pPr>
            <a:r>
              <a:rPr sz="1800" b="0" i="0">
                <a:solidFill>
                  <a:srgbClr val="172033"/>
                </a:solidFill>
                <a:latin typeface="Helvetica Neue"/>
                <a:ea typeface="Helvetica Neue"/>
                <a:cs typeface="Helvetica Neue"/>
              </a:rPr>
              <a:t>Masking impact by policy</a:t>
            </a:r>
          </a:p>
        </p:txBody>
      </p:sp>
      <p:sp>
        <p:nvSpPr>
          <p:cNvPr id="13" name="Rectangle 12">
            <a:extLst>
              <a:ext uri="{FF2B5EF4-FFF2-40B4-BE49-F238E27FC236}">
                <a16:creationId xmlns:a16="http://schemas.microsoft.com/office/drawing/2014/main" id="{87B74967-A992-4992-B07D-3A34154411C4}"/>
              </a:ext>
            </a:extLst>
          </p:cNvPr>
          <p:cNvSpPr>
            <a:spLocks noGrp="1"/>
          </p:cNvSpPr>
          <p:nvPr/>
        </p:nvSpPr>
        <p:spPr>
          <a:xfrm>
            <a:off x="6667500" y="3952875"/>
            <a:ext cx="4095750" cy="238125"/>
          </a:xfrm>
          <a:prstGeom prst="rect">
            <a:avLst/>
          </a:prstGeom>
          <a:noFill/>
          <a:ln w="0">
            <a:noFill/>
          </a:ln>
        </p:spPr>
        <p:txBody>
          <a:bodyPr wrap="square" lIns="0" tIns="0" rIns="0" bIns="0" anchor="t">
            <a:noAutofit/>
          </a:bodyPr>
          <a:lstStyle/>
          <a:p>
            <a:pPr algn="l">
              <a:defRPr sz="1200" b="1" i="0">
                <a:solidFill>
                  <a:srgbClr val="06B6D4"/>
                </a:solidFill>
                <a:latin typeface="Helvetica Neue"/>
                <a:ea typeface="Helvetica Neue"/>
                <a:cs typeface="Helvetica Neue"/>
              </a:defRPr>
            </a:pPr>
            <a:r>
              <a:rPr sz="1200" b="1" i="0">
                <a:solidFill>
                  <a:srgbClr val="06B6D4"/>
                </a:solidFill>
                <a:latin typeface="Helvetica Neue"/>
                <a:ea typeface="Helvetica Neue"/>
                <a:cs typeface="Helvetica Neue"/>
              </a:rPr>
              <a:t>SYSTEM</a:t>
            </a:r>
          </a:p>
        </p:txBody>
      </p:sp>
      <p:sp>
        <p:nvSpPr>
          <p:cNvPr id="14" name="Rectangle 13">
            <a:extLst>
              <a:ext uri="{FF2B5EF4-FFF2-40B4-BE49-F238E27FC236}">
                <a16:creationId xmlns:a16="http://schemas.microsoft.com/office/drawing/2014/main" id="{2DA74657-D9D5-41A5-B447-F91CF8AC6440}"/>
              </a:ext>
            </a:extLst>
          </p:cNvPr>
          <p:cNvSpPr>
            <a:spLocks noGrp="1"/>
          </p:cNvSpPr>
          <p:nvPr/>
        </p:nvSpPr>
        <p:spPr>
          <a:xfrm>
            <a:off x="6667500" y="4343400"/>
            <a:ext cx="4095750" cy="1047750"/>
          </a:xfrm>
          <a:prstGeom prst="rect">
            <a:avLst/>
          </a:prstGeom>
          <a:noFill/>
          <a:ln w="0">
            <a:noFill/>
          </a:ln>
        </p:spPr>
        <p:txBody>
          <a:bodyPr wrap="square" lIns="0" tIns="0" rIns="0" bIns="0" anchor="t">
            <a:noAutofit/>
          </a:bodyPr>
          <a:lstStyle/>
          <a:p>
            <a:pPr algn="l">
              <a:defRPr sz="1800" b="0" i="0">
                <a:solidFill>
                  <a:srgbClr val="172033"/>
                </a:solidFill>
                <a:latin typeface="Helvetica Neue"/>
                <a:ea typeface="Helvetica Neue"/>
                <a:cs typeface="Helvetica Neue"/>
              </a:defRPr>
            </a:pPr>
            <a:r>
              <a:rPr sz="1800" b="0" i="0">
                <a:solidFill>
                  <a:srgbClr val="172033"/>
                </a:solidFill>
                <a:latin typeface="Helvetica Neue"/>
                <a:ea typeface="Helvetica Neue"/>
                <a:cs typeface="Helvetica Neue"/>
              </a:rPr>
              <a:t>Reconstruction accuracy</a:t>
            </a:r>
          </a:p>
          <a:p>
            <a:pPr algn="l">
              <a:defRPr sz="1800" b="0" i="0">
                <a:solidFill>
                  <a:srgbClr val="172033"/>
                </a:solidFill>
                <a:latin typeface="Helvetica Neue"/>
                <a:ea typeface="Helvetica Neue"/>
                <a:cs typeface="Helvetica Neue"/>
              </a:defRPr>
            </a:pPr>
            <a:r>
              <a:rPr sz="1800" b="0" i="0">
                <a:solidFill>
                  <a:srgbClr val="172033"/>
                </a:solidFill>
                <a:latin typeface="Helvetica Neue"/>
                <a:ea typeface="Helvetica Neue"/>
                <a:cs typeface="Helvetica Neue"/>
              </a:rPr>
              <a:t>Latency</a:t>
            </a:r>
          </a:p>
          <a:p>
            <a:pPr algn="l">
              <a:defRPr sz="1800" b="0" i="0">
                <a:solidFill>
                  <a:srgbClr val="172033"/>
                </a:solidFill>
                <a:latin typeface="Helvetica Neue"/>
                <a:ea typeface="Helvetica Neue"/>
                <a:cs typeface="Helvetica Neue"/>
              </a:defRPr>
            </a:pPr>
            <a:r>
              <a:rPr sz="1800" b="0" i="0">
                <a:solidFill>
                  <a:srgbClr val="172033"/>
                </a:solidFill>
                <a:latin typeface="Helvetica Neue"/>
                <a:ea typeface="Helvetica Neue"/>
                <a:cs typeface="Helvetica Neue"/>
              </a:rPr>
              <a:t>Failure rate</a:t>
            </a:r>
          </a:p>
        </p:txBody>
      </p:sp>
      <p:sp>
        <p:nvSpPr>
          <p:cNvPr id="15" name="Rectangle 14">
            <a:extLst>
              <a:ext uri="{FF2B5EF4-FFF2-40B4-BE49-F238E27FC236}">
                <a16:creationId xmlns:a16="http://schemas.microsoft.com/office/drawing/2014/main" id="{9367DD24-4664-4CDC-B90F-B3E2104EE2BC}"/>
              </a:ext>
            </a:extLst>
          </p:cNvPr>
          <p:cNvSpPr>
            <a:spLocks noGrp="1"/>
          </p:cNvSpPr>
          <p:nvPr/>
        </p:nvSpPr>
        <p:spPr>
          <a:xfrm>
            <a:off x="1047750" y="5810250"/>
            <a:ext cx="10096500" cy="323850"/>
          </a:xfrm>
          <a:prstGeom prst="rect">
            <a:avLst/>
          </a:prstGeom>
          <a:noFill/>
          <a:ln w="0">
            <a:noFill/>
          </a:ln>
        </p:spPr>
        <p:txBody>
          <a:bodyPr wrap="square" lIns="0" tIns="0" rIns="0" bIns="0" anchor="t">
            <a:noAutofit/>
          </a:bodyPr>
          <a:lstStyle/>
          <a:p>
            <a:pPr algn="ctr">
              <a:defRPr sz="1800" b="1" i="0">
                <a:solidFill>
                  <a:srgbClr val="3730A3"/>
                </a:solidFill>
                <a:latin typeface="Helvetica Neue"/>
                <a:ea typeface="Helvetica Neue"/>
                <a:cs typeface="Helvetica Neue"/>
              </a:defRPr>
            </a:pPr>
            <a:r>
              <a:rPr sz="1800" b="1" i="0">
                <a:solidFill>
                  <a:srgbClr val="3730A3"/>
                </a:solidFill>
                <a:latin typeface="Helvetica Neue"/>
                <a:ea typeface="Helvetica Neue"/>
                <a:cs typeface="Helvetica Neue"/>
              </a:rPr>
              <a:t>Key principle: high entity F1 alone does not prove privacy.</a:t>
            </a:r>
          </a:p>
        </p:txBody>
      </p:sp>
      <p:sp>
        <p:nvSpPr>
          <p:cNvPr id="16" name="Straight Connector 15">
            <a:extLst>
              <a:ext uri="{FF2B5EF4-FFF2-40B4-BE49-F238E27FC236}">
                <a16:creationId xmlns:a16="http://schemas.microsoft.com/office/drawing/2014/main" id="{8C1477D3-EB8F-499E-8BB4-F890560316B4}"/>
              </a:ext>
            </a:extLst>
          </p:cNvPr>
          <p:cNvSpPr>
            <a:spLocks noGrp="1"/>
          </p:cNvSpPr>
          <p:nvPr/>
        </p:nvSpPr>
        <p:spPr>
          <a:xfrm>
            <a:off x="685800" y="6467475"/>
            <a:ext cx="10820400" cy="9525"/>
          </a:xfrm>
          <a:prstGeom prst="line">
            <a:avLst/>
          </a:prstGeom>
          <a:noFill/>
          <a:ln w="9525">
            <a:solidFill>
              <a:srgbClr val="D9DEEA"/>
            </a:solidFill>
          </a:ln>
        </p:spPr>
        <p:txBody>
          <a:bodyPr/>
          <a:lstStyle/>
          <a:p>
            <a:endParaRPr lang="en-US"/>
          </a:p>
        </p:txBody>
      </p:sp>
      <p:sp>
        <p:nvSpPr>
          <p:cNvPr id="17" name="Rectangle 16">
            <a:extLst>
              <a:ext uri="{FF2B5EF4-FFF2-40B4-BE49-F238E27FC236}">
                <a16:creationId xmlns:a16="http://schemas.microsoft.com/office/drawing/2014/main" id="{584A1197-FB5B-443D-996C-79EAEC96E8F1}"/>
              </a:ext>
            </a:extLst>
          </p:cNvPr>
          <p:cNvSpPr>
            <a:spLocks noGrp="1"/>
          </p:cNvSpPr>
          <p:nvPr/>
        </p:nvSpPr>
        <p:spPr>
          <a:xfrm>
            <a:off x="685800" y="6553200"/>
            <a:ext cx="4762500" cy="171450"/>
          </a:xfrm>
          <a:prstGeom prst="rect">
            <a:avLst/>
          </a:prstGeom>
          <a:noFill/>
          <a:ln w="0">
            <a:noFill/>
          </a:ln>
        </p:spPr>
        <p:txBody>
          <a:bodyPr wrap="square" lIns="0" tIns="0" rIns="0" bIns="0" anchor="t">
            <a:noAutofit/>
          </a:bodyPr>
          <a:lstStyle/>
          <a:p>
            <a:pPr algn="l">
              <a:defRPr sz="900" b="0" i="0">
                <a:solidFill>
                  <a:srgbClr val="5B6475"/>
                </a:solidFill>
                <a:latin typeface="Helvetica Neue"/>
                <a:ea typeface="Helvetica Neue"/>
                <a:cs typeface="Helvetica Neue"/>
              </a:defRPr>
            </a:pPr>
            <a:r>
              <a:rPr sz="900" b="0" i="0">
                <a:solidFill>
                  <a:srgbClr val="5B6475"/>
                </a:solidFill>
                <a:latin typeface="Helvetica Neue"/>
                <a:ea typeface="Helvetica Neue"/>
                <a:cs typeface="Helvetica Neue"/>
              </a:rPr>
              <a:t>Finaira sponsorship interview</a:t>
            </a:r>
          </a:p>
        </p:txBody>
      </p:sp>
      <p:sp>
        <p:nvSpPr>
          <p:cNvPr id="18" name="Rectangle 17">
            <a:extLst>
              <a:ext uri="{FF2B5EF4-FFF2-40B4-BE49-F238E27FC236}">
                <a16:creationId xmlns:a16="http://schemas.microsoft.com/office/drawing/2014/main" id="{E3B8EA8D-AE0E-4830-9CA9-4B53D37B3FF6}"/>
              </a:ext>
            </a:extLst>
          </p:cNvPr>
          <p:cNvSpPr>
            <a:spLocks noGrp="1"/>
          </p:cNvSpPr>
          <p:nvPr/>
        </p:nvSpPr>
        <p:spPr>
          <a:xfrm>
            <a:off x="11096625" y="6553200"/>
            <a:ext cx="409575" cy="171450"/>
          </a:xfrm>
          <a:prstGeom prst="rect">
            <a:avLst/>
          </a:prstGeom>
          <a:noFill/>
          <a:ln w="0">
            <a:noFill/>
          </a:ln>
        </p:spPr>
        <p:txBody>
          <a:bodyPr wrap="square" lIns="0" tIns="0" rIns="0" bIns="0" anchor="t">
            <a:noAutofit/>
          </a:bodyPr>
          <a:lstStyle/>
          <a:p>
            <a:pPr algn="r">
              <a:defRPr sz="900" b="1" i="0">
                <a:solidFill>
                  <a:srgbClr val="5B6475"/>
                </a:solidFill>
                <a:latin typeface="Helvetica Neue"/>
                <a:ea typeface="Helvetica Neue"/>
                <a:cs typeface="Helvetica Neue"/>
              </a:defRPr>
            </a:pPr>
            <a:r>
              <a:rPr sz="900" b="1" i="0">
                <a:solidFill>
                  <a:srgbClr val="5B6475"/>
                </a:solidFill>
                <a:latin typeface="Helvetica Neue"/>
                <a:ea typeface="Helvetica Neue"/>
                <a:cs typeface="Helvetica Neue"/>
              </a:rPr>
              <a:t>11</a:t>
            </a:r>
          </a:p>
        </p:txBody>
      </p:sp>
    </p:spTree>
    <p:extLst>
      <p:ext uri="{BB962C8B-B14F-4D97-AF65-F5344CB8AC3E}">
        <p14:creationId xmlns:p14="http://schemas.microsoft.com/office/powerpoint/2010/main" val="361587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AB541532-2107-41C3-A537-5B58EBF2FFE4}"/>
              </a:ext>
            </a:extLst>
          </p:cNvPr>
          <p:cNvSpPr>
            <a:spLocks noGrp="1"/>
          </p:cNvSpPr>
          <p:nvPr/>
        </p:nvSpPr>
        <p:spPr>
          <a:xfrm>
            <a:off x="0" y="0"/>
            <a:ext cx="12192000" cy="95250"/>
          </a:xfrm>
          <a:prstGeom prst="rect">
            <a:avLst/>
          </a:prstGeom>
          <a:solidFill>
            <a:srgbClr val="4F46E5"/>
          </a:solidFill>
          <a:ln w="0">
            <a:noFill/>
          </a:ln>
        </p:spPr>
        <p:txBody>
          <a:bodyPr/>
          <a:lstStyle/>
          <a:p>
            <a:endParaRPr lang="en-US"/>
          </a:p>
        </p:txBody>
      </p:sp>
      <p:sp>
        <p:nvSpPr>
          <p:cNvPr id="2" name="Rectangle 1">
            <a:extLst>
              <a:ext uri="{FF2B5EF4-FFF2-40B4-BE49-F238E27FC236}">
                <a16:creationId xmlns:a16="http://schemas.microsoft.com/office/drawing/2014/main" id="{7A86CA0F-325D-423F-8086-11003953C96B}"/>
              </a:ext>
            </a:extLst>
          </p:cNvPr>
          <p:cNvSpPr>
            <a:spLocks noGrp="1"/>
          </p:cNvSpPr>
          <p:nvPr/>
        </p:nvSpPr>
        <p:spPr>
          <a:xfrm>
            <a:off x="685800" y="361950"/>
            <a:ext cx="3333750" cy="238125"/>
          </a:xfrm>
          <a:prstGeom prst="rect">
            <a:avLst/>
          </a:prstGeom>
          <a:noFill/>
          <a:ln w="0">
            <a:noFill/>
          </a:ln>
        </p:spPr>
        <p:txBody>
          <a:bodyPr wrap="square" lIns="0" tIns="0" rIns="0" bIns="0" anchor="t">
            <a:noAutofit/>
          </a:bodyPr>
          <a:lstStyle/>
          <a:p>
            <a:pPr algn="l">
              <a:defRPr sz="1125" b="1" i="0">
                <a:solidFill>
                  <a:srgbClr val="4F46E5"/>
                </a:solidFill>
                <a:latin typeface="Helvetica Neue"/>
                <a:ea typeface="Helvetica Neue"/>
                <a:cs typeface="Helvetica Neue"/>
              </a:defRPr>
            </a:pPr>
            <a:r>
              <a:rPr sz="1125" b="1" i="0">
                <a:solidFill>
                  <a:srgbClr val="4F46E5"/>
                </a:solidFill>
                <a:latin typeface="Helvetica Neue"/>
                <a:ea typeface="Helvetica Neue"/>
                <a:cs typeface="Helvetica Neue"/>
              </a:rPr>
              <a:t>RISK MANAGEMENT</a:t>
            </a:r>
          </a:p>
        </p:txBody>
      </p:sp>
      <p:sp>
        <p:nvSpPr>
          <p:cNvPr id="3" name="Rectangle 2">
            <a:extLst>
              <a:ext uri="{FF2B5EF4-FFF2-40B4-BE49-F238E27FC236}">
                <a16:creationId xmlns:a16="http://schemas.microsoft.com/office/drawing/2014/main" id="{DB7B5D4D-3123-425F-8CD9-5A645A2D668B}"/>
              </a:ext>
            </a:extLst>
          </p:cNvPr>
          <p:cNvSpPr>
            <a:spLocks noGrp="1"/>
          </p:cNvSpPr>
          <p:nvPr/>
        </p:nvSpPr>
        <p:spPr>
          <a:xfrm>
            <a:off x="685800" y="638175"/>
            <a:ext cx="10820400" cy="619125"/>
          </a:xfrm>
          <a:prstGeom prst="rect">
            <a:avLst/>
          </a:prstGeom>
          <a:noFill/>
          <a:ln w="0">
            <a:noFill/>
          </a:ln>
        </p:spPr>
        <p:txBody>
          <a:bodyPr wrap="square" lIns="0" tIns="0" rIns="0" bIns="0" anchor="t">
            <a:noAutofit/>
          </a:bodyPr>
          <a:lstStyle/>
          <a:p>
            <a:pPr algn="l">
              <a:defRPr sz="3150" b="1" i="0">
                <a:solidFill>
                  <a:srgbClr val="172033"/>
                </a:solidFill>
                <a:latin typeface="Helvetica Neue"/>
                <a:ea typeface="Helvetica Neue"/>
                <a:cs typeface="Helvetica Neue"/>
              </a:defRPr>
            </a:pPr>
            <a:r>
              <a:rPr sz="3150" b="1" i="0">
                <a:solidFill>
                  <a:srgbClr val="172033"/>
                </a:solidFill>
                <a:latin typeface="Helvetica Neue"/>
                <a:ea typeface="Helvetica Neue"/>
                <a:cs typeface="Helvetica Neue"/>
              </a:rPr>
              <a:t>Main technical risks</a:t>
            </a:r>
          </a:p>
        </p:txBody>
      </p:sp>
      <p:sp>
        <p:nvSpPr>
          <p:cNvPr id="4" name="Rectangle 3">
            <a:extLst>
              <a:ext uri="{FF2B5EF4-FFF2-40B4-BE49-F238E27FC236}">
                <a16:creationId xmlns:a16="http://schemas.microsoft.com/office/drawing/2014/main" id="{0F7FAA38-DD68-4756-8468-072E13EFDC3B}"/>
              </a:ext>
            </a:extLst>
          </p:cNvPr>
          <p:cNvSpPr>
            <a:spLocks noGrp="1"/>
          </p:cNvSpPr>
          <p:nvPr/>
        </p:nvSpPr>
        <p:spPr>
          <a:xfrm>
            <a:off x="800100" y="1457325"/>
            <a:ext cx="2857500" cy="228600"/>
          </a:xfrm>
          <a:prstGeom prst="rect">
            <a:avLst/>
          </a:prstGeom>
          <a:noFill/>
          <a:ln w="0">
            <a:noFill/>
          </a:ln>
        </p:spPr>
        <p:txBody>
          <a:bodyPr wrap="square" lIns="0" tIns="0" rIns="0" bIns="0" anchor="t">
            <a:noAutofit/>
          </a:bodyPr>
          <a:lstStyle/>
          <a:p>
            <a:pPr algn="l">
              <a:defRPr sz="1050" b="1" i="0">
                <a:solidFill>
                  <a:srgbClr val="5B6475"/>
                </a:solidFill>
                <a:latin typeface="Helvetica Neue"/>
                <a:ea typeface="Helvetica Neue"/>
                <a:cs typeface="Helvetica Neue"/>
              </a:defRPr>
            </a:pPr>
            <a:r>
              <a:rPr sz="1050" b="1" i="0">
                <a:solidFill>
                  <a:srgbClr val="5B6475"/>
                </a:solidFill>
                <a:latin typeface="Helvetica Neue"/>
                <a:ea typeface="Helvetica Neue"/>
                <a:cs typeface="Helvetica Neue"/>
              </a:rPr>
              <a:t>RISK</a:t>
            </a:r>
          </a:p>
        </p:txBody>
      </p:sp>
      <p:sp>
        <p:nvSpPr>
          <p:cNvPr id="5" name="Rectangle 4">
            <a:extLst>
              <a:ext uri="{FF2B5EF4-FFF2-40B4-BE49-F238E27FC236}">
                <a16:creationId xmlns:a16="http://schemas.microsoft.com/office/drawing/2014/main" id="{D738BB63-07F8-4EFC-921F-F6003A1F9654}"/>
              </a:ext>
            </a:extLst>
          </p:cNvPr>
          <p:cNvSpPr>
            <a:spLocks noGrp="1"/>
          </p:cNvSpPr>
          <p:nvPr/>
        </p:nvSpPr>
        <p:spPr>
          <a:xfrm>
            <a:off x="4552950" y="1457325"/>
            <a:ext cx="6667500" cy="228600"/>
          </a:xfrm>
          <a:prstGeom prst="rect">
            <a:avLst/>
          </a:prstGeom>
          <a:noFill/>
          <a:ln w="0">
            <a:noFill/>
          </a:ln>
        </p:spPr>
        <p:txBody>
          <a:bodyPr wrap="square" lIns="0" tIns="0" rIns="0" bIns="0" anchor="t">
            <a:noAutofit/>
          </a:bodyPr>
          <a:lstStyle/>
          <a:p>
            <a:pPr algn="l">
              <a:defRPr sz="1050" b="1" i="0">
                <a:solidFill>
                  <a:srgbClr val="5B6475"/>
                </a:solidFill>
                <a:latin typeface="Helvetica Neue"/>
                <a:ea typeface="Helvetica Neue"/>
                <a:cs typeface="Helvetica Neue"/>
              </a:defRPr>
            </a:pPr>
            <a:r>
              <a:rPr sz="1050" b="1" i="0">
                <a:solidFill>
                  <a:srgbClr val="5B6475"/>
                </a:solidFill>
                <a:latin typeface="Helvetica Neue"/>
                <a:ea typeface="Helvetica Neue"/>
                <a:cs typeface="Helvetica Neue"/>
              </a:rPr>
              <a:t>PLANNED RESPONSE</a:t>
            </a:r>
          </a:p>
        </p:txBody>
      </p:sp>
      <p:sp>
        <p:nvSpPr>
          <p:cNvPr id="6" name="Straight Connector 5">
            <a:extLst>
              <a:ext uri="{FF2B5EF4-FFF2-40B4-BE49-F238E27FC236}">
                <a16:creationId xmlns:a16="http://schemas.microsoft.com/office/drawing/2014/main" id="{52438261-E660-4215-A10F-A39F7E0B4560}"/>
              </a:ext>
            </a:extLst>
          </p:cNvPr>
          <p:cNvSpPr>
            <a:spLocks noGrp="1"/>
          </p:cNvSpPr>
          <p:nvPr/>
        </p:nvSpPr>
        <p:spPr>
          <a:xfrm>
            <a:off x="800100" y="1752600"/>
            <a:ext cx="10420350" cy="9525"/>
          </a:xfrm>
          <a:prstGeom prst="line">
            <a:avLst/>
          </a:prstGeom>
          <a:noFill/>
          <a:ln w="19050">
            <a:solidFill>
              <a:srgbClr val="D9DEEA"/>
            </a:solidFill>
          </a:ln>
        </p:spPr>
        <p:txBody>
          <a:bodyPr/>
          <a:lstStyle/>
          <a:p>
            <a:endParaRPr lang="en-US"/>
          </a:p>
        </p:txBody>
      </p:sp>
      <p:sp>
        <p:nvSpPr>
          <p:cNvPr id="7" name="Rectangle 6">
            <a:extLst>
              <a:ext uri="{FF2B5EF4-FFF2-40B4-BE49-F238E27FC236}">
                <a16:creationId xmlns:a16="http://schemas.microsoft.com/office/drawing/2014/main" id="{A8FF7977-CDA8-475C-8363-DBE615A6B7A7}"/>
              </a:ext>
            </a:extLst>
          </p:cNvPr>
          <p:cNvSpPr>
            <a:spLocks noGrp="1"/>
          </p:cNvSpPr>
          <p:nvPr/>
        </p:nvSpPr>
        <p:spPr>
          <a:xfrm>
            <a:off x="800100" y="2009775"/>
            <a:ext cx="3143250" cy="361950"/>
          </a:xfrm>
          <a:prstGeom prst="rect">
            <a:avLst/>
          </a:prstGeom>
          <a:noFill/>
          <a:ln w="0">
            <a:noFill/>
          </a:ln>
        </p:spPr>
        <p:txBody>
          <a:bodyPr wrap="square" lIns="0" tIns="0" rIns="0" bIns="0" anchor="t">
            <a:noAutofit/>
          </a:bodyPr>
          <a:lstStyle/>
          <a:p>
            <a:pPr algn="l">
              <a:defRPr sz="1650" b="1" i="0">
                <a:solidFill>
                  <a:srgbClr val="172033"/>
                </a:solidFill>
                <a:latin typeface="Helvetica Neue"/>
                <a:ea typeface="Helvetica Neue"/>
                <a:cs typeface="Helvetica Neue"/>
              </a:defRPr>
            </a:pPr>
            <a:r>
              <a:rPr sz="1650" b="1" i="0">
                <a:solidFill>
                  <a:srgbClr val="172033"/>
                </a:solidFill>
                <a:latin typeface="Helvetica Neue"/>
                <a:ea typeface="Helvetica Neue"/>
                <a:cs typeface="Helvetica Neue"/>
              </a:rPr>
              <a:t>Missed sensitive data</a:t>
            </a:r>
          </a:p>
        </p:txBody>
      </p:sp>
      <p:sp>
        <p:nvSpPr>
          <p:cNvPr id="8" name="Rectangle 7">
            <a:extLst>
              <a:ext uri="{FF2B5EF4-FFF2-40B4-BE49-F238E27FC236}">
                <a16:creationId xmlns:a16="http://schemas.microsoft.com/office/drawing/2014/main" id="{9D1F9D41-AEC0-4C01-B9C3-66FA269DD406}"/>
              </a:ext>
            </a:extLst>
          </p:cNvPr>
          <p:cNvSpPr>
            <a:spLocks noGrp="1"/>
          </p:cNvSpPr>
          <p:nvPr/>
        </p:nvSpPr>
        <p:spPr>
          <a:xfrm>
            <a:off x="4552950" y="2009775"/>
            <a:ext cx="6667500" cy="476250"/>
          </a:xfrm>
          <a:prstGeom prst="rect">
            <a:avLst/>
          </a:prstGeom>
          <a:noFill/>
          <a:ln w="0">
            <a:noFill/>
          </a:ln>
        </p:spPr>
        <p:txBody>
          <a:bodyPr wrap="square" lIns="0" tIns="0" rIns="0" bIns="0" anchor="t">
            <a:noAutofit/>
          </a:bodyPr>
          <a:lstStyle/>
          <a:p>
            <a:pPr algn="l">
              <a:defRPr sz="1500" b="0" i="0">
                <a:solidFill>
                  <a:srgbClr val="5B6475"/>
                </a:solidFill>
                <a:latin typeface="Helvetica Neue"/>
                <a:ea typeface="Helvetica Neue"/>
                <a:cs typeface="Helvetica Neue"/>
              </a:defRPr>
            </a:pPr>
            <a:r>
              <a:rPr sz="1500" b="0" i="0" dirty="0">
                <a:solidFill>
                  <a:srgbClr val="5B6475"/>
                </a:solidFill>
                <a:latin typeface="Helvetica Neue"/>
                <a:ea typeface="Helvetica Neue"/>
                <a:cs typeface="Helvetica Neue"/>
              </a:rPr>
              <a:t>Combine d</a:t>
            </a:r>
            <a:r>
              <a:rPr lang="en-US" sz="1500" b="0" i="0" dirty="0">
                <a:solidFill>
                  <a:srgbClr val="5B6475"/>
                </a:solidFill>
                <a:latin typeface="Helvetica Neue"/>
                <a:ea typeface="Helvetica Neue"/>
                <a:cs typeface="Helvetica Neue"/>
              </a:rPr>
              <a:t>ifferent detection methods, including Regex, Checksum, NER models, and small local LLMs.</a:t>
            </a:r>
            <a:endParaRPr sz="1500" b="0" i="0" dirty="0">
              <a:solidFill>
                <a:srgbClr val="5B6475"/>
              </a:solidFill>
              <a:latin typeface="Helvetica Neue"/>
              <a:ea typeface="Helvetica Neue"/>
              <a:cs typeface="Helvetica Neue"/>
            </a:endParaRPr>
          </a:p>
        </p:txBody>
      </p:sp>
      <p:sp>
        <p:nvSpPr>
          <p:cNvPr id="9" name="Straight Connector 8">
            <a:extLst>
              <a:ext uri="{FF2B5EF4-FFF2-40B4-BE49-F238E27FC236}">
                <a16:creationId xmlns:a16="http://schemas.microsoft.com/office/drawing/2014/main" id="{145B2039-3C5B-4DE8-95F1-B428BDB0713A}"/>
              </a:ext>
            </a:extLst>
          </p:cNvPr>
          <p:cNvSpPr>
            <a:spLocks noGrp="1"/>
          </p:cNvSpPr>
          <p:nvPr/>
        </p:nvSpPr>
        <p:spPr>
          <a:xfrm>
            <a:off x="800100" y="2590800"/>
            <a:ext cx="10420350" cy="9525"/>
          </a:xfrm>
          <a:prstGeom prst="line">
            <a:avLst/>
          </a:prstGeom>
          <a:noFill/>
          <a:ln w="9525">
            <a:solidFill>
              <a:srgbClr val="D9DEEA"/>
            </a:solidFill>
          </a:ln>
        </p:spPr>
        <p:txBody>
          <a:bodyPr/>
          <a:lstStyle/>
          <a:p>
            <a:endParaRPr lang="en-US"/>
          </a:p>
        </p:txBody>
      </p:sp>
      <p:sp>
        <p:nvSpPr>
          <p:cNvPr id="10" name="Rectangle 9">
            <a:extLst>
              <a:ext uri="{FF2B5EF4-FFF2-40B4-BE49-F238E27FC236}">
                <a16:creationId xmlns:a16="http://schemas.microsoft.com/office/drawing/2014/main" id="{0CAD4004-C0D2-4D5E-A3FD-C34D31CD228E}"/>
              </a:ext>
            </a:extLst>
          </p:cNvPr>
          <p:cNvSpPr>
            <a:spLocks noGrp="1"/>
          </p:cNvSpPr>
          <p:nvPr/>
        </p:nvSpPr>
        <p:spPr>
          <a:xfrm>
            <a:off x="800100" y="2809875"/>
            <a:ext cx="3143250" cy="361950"/>
          </a:xfrm>
          <a:prstGeom prst="rect">
            <a:avLst/>
          </a:prstGeom>
          <a:noFill/>
          <a:ln w="0">
            <a:noFill/>
          </a:ln>
        </p:spPr>
        <p:txBody>
          <a:bodyPr wrap="square" lIns="0" tIns="0" rIns="0" bIns="0" anchor="t">
            <a:noAutofit/>
          </a:bodyPr>
          <a:lstStyle/>
          <a:p>
            <a:pPr algn="l">
              <a:defRPr sz="1650" b="1" i="0">
                <a:solidFill>
                  <a:srgbClr val="172033"/>
                </a:solidFill>
                <a:latin typeface="Helvetica Neue"/>
                <a:ea typeface="Helvetica Neue"/>
                <a:cs typeface="Helvetica Neue"/>
              </a:defRPr>
            </a:pPr>
            <a:r>
              <a:rPr sz="1650" b="1" i="0">
                <a:solidFill>
                  <a:srgbClr val="172033"/>
                </a:solidFill>
                <a:latin typeface="Helvetica Neue"/>
                <a:ea typeface="Helvetica Neue"/>
                <a:cs typeface="Helvetica Neue"/>
              </a:rPr>
              <a:t>Too much masking</a:t>
            </a:r>
          </a:p>
        </p:txBody>
      </p:sp>
      <p:sp>
        <p:nvSpPr>
          <p:cNvPr id="11" name="Rectangle 10">
            <a:extLst>
              <a:ext uri="{FF2B5EF4-FFF2-40B4-BE49-F238E27FC236}">
                <a16:creationId xmlns:a16="http://schemas.microsoft.com/office/drawing/2014/main" id="{39D25ABE-FF20-4E8E-9F97-DD90E33490DA}"/>
              </a:ext>
            </a:extLst>
          </p:cNvPr>
          <p:cNvSpPr>
            <a:spLocks noGrp="1"/>
          </p:cNvSpPr>
          <p:nvPr/>
        </p:nvSpPr>
        <p:spPr>
          <a:xfrm>
            <a:off x="4552950" y="2809875"/>
            <a:ext cx="6667500" cy="476250"/>
          </a:xfrm>
          <a:prstGeom prst="rect">
            <a:avLst/>
          </a:prstGeom>
          <a:noFill/>
          <a:ln w="0">
            <a:noFill/>
          </a:ln>
        </p:spPr>
        <p:txBody>
          <a:bodyPr wrap="square" lIns="0" tIns="0" rIns="0" bIns="0" anchor="t">
            <a:noAutofit/>
          </a:bodyPr>
          <a:lstStyle/>
          <a:p>
            <a:pPr algn="l">
              <a:defRPr sz="1500" b="0" i="0">
                <a:solidFill>
                  <a:srgbClr val="5B6475"/>
                </a:solidFill>
                <a:latin typeface="Helvetica Neue"/>
                <a:ea typeface="Helvetica Neue"/>
                <a:cs typeface="Helvetica Neue"/>
              </a:defRPr>
            </a:pPr>
            <a:r>
              <a:rPr sz="1500" b="0" i="0">
                <a:solidFill>
                  <a:srgbClr val="5B6475"/>
                </a:solidFill>
                <a:latin typeface="Helvetica Neue"/>
                <a:ea typeface="Helvetica Neue"/>
                <a:cs typeface="Helvetica Neue"/>
              </a:rPr>
              <a:t>Evaluate privacy and task utility together rather than maximizing redaction.</a:t>
            </a:r>
          </a:p>
        </p:txBody>
      </p:sp>
      <p:sp>
        <p:nvSpPr>
          <p:cNvPr id="12" name="Straight Connector 11">
            <a:extLst>
              <a:ext uri="{FF2B5EF4-FFF2-40B4-BE49-F238E27FC236}">
                <a16:creationId xmlns:a16="http://schemas.microsoft.com/office/drawing/2014/main" id="{098ECA57-8B91-48DA-A76B-93C40556DD38}"/>
              </a:ext>
            </a:extLst>
          </p:cNvPr>
          <p:cNvSpPr>
            <a:spLocks noGrp="1"/>
          </p:cNvSpPr>
          <p:nvPr/>
        </p:nvSpPr>
        <p:spPr>
          <a:xfrm>
            <a:off x="800100" y="3390900"/>
            <a:ext cx="10420350" cy="9525"/>
          </a:xfrm>
          <a:prstGeom prst="line">
            <a:avLst/>
          </a:prstGeom>
          <a:noFill/>
          <a:ln w="9525">
            <a:solidFill>
              <a:srgbClr val="D9DEEA"/>
            </a:solidFill>
          </a:ln>
        </p:spPr>
        <p:txBody>
          <a:bodyPr/>
          <a:lstStyle/>
          <a:p>
            <a:endParaRPr lang="en-US"/>
          </a:p>
        </p:txBody>
      </p:sp>
      <p:sp>
        <p:nvSpPr>
          <p:cNvPr id="13" name="Rectangle 12">
            <a:extLst>
              <a:ext uri="{FF2B5EF4-FFF2-40B4-BE49-F238E27FC236}">
                <a16:creationId xmlns:a16="http://schemas.microsoft.com/office/drawing/2014/main" id="{D1F6321B-F4F0-4025-B8F6-D480DBD8346F}"/>
              </a:ext>
            </a:extLst>
          </p:cNvPr>
          <p:cNvSpPr>
            <a:spLocks noGrp="1"/>
          </p:cNvSpPr>
          <p:nvPr/>
        </p:nvSpPr>
        <p:spPr>
          <a:xfrm>
            <a:off x="800100" y="3609975"/>
            <a:ext cx="3143250" cy="361950"/>
          </a:xfrm>
          <a:prstGeom prst="rect">
            <a:avLst/>
          </a:prstGeom>
          <a:noFill/>
          <a:ln w="0">
            <a:noFill/>
          </a:ln>
        </p:spPr>
        <p:txBody>
          <a:bodyPr wrap="square" lIns="0" tIns="0" rIns="0" bIns="0" anchor="t">
            <a:noAutofit/>
          </a:bodyPr>
          <a:lstStyle/>
          <a:p>
            <a:pPr algn="l">
              <a:defRPr sz="1650" b="1" i="0">
                <a:solidFill>
                  <a:srgbClr val="172033"/>
                </a:solidFill>
                <a:latin typeface="Helvetica Neue"/>
                <a:ea typeface="Helvetica Neue"/>
                <a:cs typeface="Helvetica Neue"/>
              </a:defRPr>
            </a:pPr>
            <a:r>
              <a:rPr sz="1650" b="1" i="0">
                <a:solidFill>
                  <a:srgbClr val="172033"/>
                </a:solidFill>
                <a:latin typeface="Helvetica Neue"/>
                <a:ea typeface="Helvetica Neue"/>
                <a:cs typeface="Helvetica Neue"/>
              </a:rPr>
              <a:t>Local SLM errors</a:t>
            </a:r>
          </a:p>
        </p:txBody>
      </p:sp>
      <p:sp>
        <p:nvSpPr>
          <p:cNvPr id="14" name="Rectangle 13">
            <a:extLst>
              <a:ext uri="{FF2B5EF4-FFF2-40B4-BE49-F238E27FC236}">
                <a16:creationId xmlns:a16="http://schemas.microsoft.com/office/drawing/2014/main" id="{5E175B2B-8DCC-4D77-9239-83CCA37F80BA}"/>
              </a:ext>
            </a:extLst>
          </p:cNvPr>
          <p:cNvSpPr>
            <a:spLocks noGrp="1"/>
          </p:cNvSpPr>
          <p:nvPr/>
        </p:nvSpPr>
        <p:spPr>
          <a:xfrm>
            <a:off x="4552950" y="3609975"/>
            <a:ext cx="6667500" cy="476250"/>
          </a:xfrm>
          <a:prstGeom prst="rect">
            <a:avLst/>
          </a:prstGeom>
          <a:noFill/>
          <a:ln w="0">
            <a:noFill/>
          </a:ln>
        </p:spPr>
        <p:txBody>
          <a:bodyPr wrap="square" lIns="0" tIns="0" rIns="0" bIns="0" anchor="t">
            <a:noAutofit/>
          </a:bodyPr>
          <a:lstStyle/>
          <a:p>
            <a:pPr algn="l">
              <a:defRPr sz="1500" b="0" i="0">
                <a:solidFill>
                  <a:srgbClr val="5B6475"/>
                </a:solidFill>
                <a:latin typeface="Helvetica Neue"/>
                <a:ea typeface="Helvetica Neue"/>
                <a:cs typeface="Helvetica Neue"/>
              </a:defRPr>
            </a:pPr>
            <a:r>
              <a:rPr sz="1500" b="0" i="0">
                <a:solidFill>
                  <a:srgbClr val="5B6475"/>
                </a:solidFill>
                <a:latin typeface="Helvetica Neue"/>
                <a:ea typeface="Helvetica Neue"/>
                <a:cs typeface="Helvetica Neue"/>
              </a:rPr>
              <a:t>Treat the model as evidence. Keep policy and restoration deterministic.</a:t>
            </a:r>
          </a:p>
        </p:txBody>
      </p:sp>
      <p:sp>
        <p:nvSpPr>
          <p:cNvPr id="15" name="Straight Connector 14">
            <a:extLst>
              <a:ext uri="{FF2B5EF4-FFF2-40B4-BE49-F238E27FC236}">
                <a16:creationId xmlns:a16="http://schemas.microsoft.com/office/drawing/2014/main" id="{808F14BA-C58B-4446-8B64-7B2F0E855074}"/>
              </a:ext>
            </a:extLst>
          </p:cNvPr>
          <p:cNvSpPr>
            <a:spLocks noGrp="1"/>
          </p:cNvSpPr>
          <p:nvPr/>
        </p:nvSpPr>
        <p:spPr>
          <a:xfrm>
            <a:off x="800100" y="4191000"/>
            <a:ext cx="10420350" cy="9525"/>
          </a:xfrm>
          <a:prstGeom prst="line">
            <a:avLst/>
          </a:prstGeom>
          <a:noFill/>
          <a:ln w="9525">
            <a:solidFill>
              <a:srgbClr val="D9DEEA"/>
            </a:solidFill>
          </a:ln>
        </p:spPr>
        <p:txBody>
          <a:bodyPr/>
          <a:lstStyle/>
          <a:p>
            <a:endParaRPr lang="en-US"/>
          </a:p>
        </p:txBody>
      </p:sp>
      <p:sp>
        <p:nvSpPr>
          <p:cNvPr id="16" name="Rectangle 15">
            <a:extLst>
              <a:ext uri="{FF2B5EF4-FFF2-40B4-BE49-F238E27FC236}">
                <a16:creationId xmlns:a16="http://schemas.microsoft.com/office/drawing/2014/main" id="{E1745FE9-C123-453D-80E4-74F09BD1E68C}"/>
              </a:ext>
            </a:extLst>
          </p:cNvPr>
          <p:cNvSpPr>
            <a:spLocks noGrp="1"/>
          </p:cNvSpPr>
          <p:nvPr/>
        </p:nvSpPr>
        <p:spPr>
          <a:xfrm>
            <a:off x="800100" y="4410075"/>
            <a:ext cx="3143250" cy="361950"/>
          </a:xfrm>
          <a:prstGeom prst="rect">
            <a:avLst/>
          </a:prstGeom>
          <a:noFill/>
          <a:ln w="0">
            <a:noFill/>
          </a:ln>
        </p:spPr>
        <p:txBody>
          <a:bodyPr wrap="square" lIns="0" tIns="0" rIns="0" bIns="0" anchor="t">
            <a:noAutofit/>
          </a:bodyPr>
          <a:lstStyle/>
          <a:p>
            <a:pPr algn="l">
              <a:defRPr sz="1650" b="1" i="0">
                <a:solidFill>
                  <a:srgbClr val="172033"/>
                </a:solidFill>
                <a:latin typeface="Helvetica Neue"/>
                <a:ea typeface="Helvetica Neue"/>
                <a:cs typeface="Helvetica Neue"/>
              </a:defRPr>
            </a:pPr>
            <a:r>
              <a:rPr sz="1650" b="1" i="0">
                <a:solidFill>
                  <a:srgbClr val="172033"/>
                </a:solidFill>
                <a:latin typeface="Helvetica Neue"/>
                <a:ea typeface="Helvetica Neue"/>
                <a:cs typeface="Helvetica Neue"/>
              </a:rPr>
              <a:t>Unrealistic benchmark</a:t>
            </a:r>
          </a:p>
        </p:txBody>
      </p:sp>
      <p:sp>
        <p:nvSpPr>
          <p:cNvPr id="17" name="Rectangle 16">
            <a:extLst>
              <a:ext uri="{FF2B5EF4-FFF2-40B4-BE49-F238E27FC236}">
                <a16:creationId xmlns:a16="http://schemas.microsoft.com/office/drawing/2014/main" id="{D2D57C0B-BAF2-4509-B52D-5F4C212715A0}"/>
              </a:ext>
            </a:extLst>
          </p:cNvPr>
          <p:cNvSpPr>
            <a:spLocks noGrp="1"/>
          </p:cNvSpPr>
          <p:nvPr/>
        </p:nvSpPr>
        <p:spPr>
          <a:xfrm>
            <a:off x="4552950" y="4410075"/>
            <a:ext cx="6667500" cy="476250"/>
          </a:xfrm>
          <a:prstGeom prst="rect">
            <a:avLst/>
          </a:prstGeom>
          <a:noFill/>
          <a:ln w="0">
            <a:noFill/>
          </a:ln>
        </p:spPr>
        <p:txBody>
          <a:bodyPr wrap="square" lIns="0" tIns="0" rIns="0" bIns="0" anchor="t">
            <a:noAutofit/>
          </a:bodyPr>
          <a:lstStyle/>
          <a:p>
            <a:pPr algn="l">
              <a:defRPr sz="1500" b="0" i="0">
                <a:solidFill>
                  <a:srgbClr val="5B6475"/>
                </a:solidFill>
                <a:latin typeface="Helvetica Neue"/>
                <a:ea typeface="Helvetica Neue"/>
                <a:cs typeface="Helvetica Neue"/>
              </a:defRPr>
            </a:pPr>
            <a:r>
              <a:rPr sz="1500" b="0" i="0" dirty="0">
                <a:solidFill>
                  <a:srgbClr val="5B6475"/>
                </a:solidFill>
                <a:latin typeface="Helvetica Neue"/>
                <a:ea typeface="Helvetica Neue"/>
                <a:cs typeface="Helvetica Neue"/>
              </a:rPr>
              <a:t>Use difficult synthetic documents, human verification, and domain review.</a:t>
            </a:r>
          </a:p>
        </p:txBody>
      </p:sp>
      <p:sp>
        <p:nvSpPr>
          <p:cNvPr id="23" name="Straight Connector 22">
            <a:extLst>
              <a:ext uri="{FF2B5EF4-FFF2-40B4-BE49-F238E27FC236}">
                <a16:creationId xmlns:a16="http://schemas.microsoft.com/office/drawing/2014/main" id="{FD50C389-3F0A-4308-9E6A-27CFDD039148}"/>
              </a:ext>
            </a:extLst>
          </p:cNvPr>
          <p:cNvSpPr>
            <a:spLocks noGrp="1"/>
          </p:cNvSpPr>
          <p:nvPr/>
        </p:nvSpPr>
        <p:spPr>
          <a:xfrm>
            <a:off x="800100" y="4900612"/>
            <a:ext cx="10820400" cy="9525"/>
          </a:xfrm>
          <a:prstGeom prst="line">
            <a:avLst/>
          </a:prstGeom>
          <a:noFill/>
          <a:ln w="9525">
            <a:solidFill>
              <a:srgbClr val="D9DEEA"/>
            </a:solidFill>
          </a:ln>
        </p:spPr>
        <p:txBody>
          <a:bodyPr/>
          <a:lstStyle/>
          <a:p>
            <a:endParaRPr lang="en-US"/>
          </a:p>
        </p:txBody>
      </p:sp>
      <p:sp>
        <p:nvSpPr>
          <p:cNvPr id="24" name="Rectangle 23">
            <a:extLst>
              <a:ext uri="{FF2B5EF4-FFF2-40B4-BE49-F238E27FC236}">
                <a16:creationId xmlns:a16="http://schemas.microsoft.com/office/drawing/2014/main" id="{F7CDACBC-2A13-4F57-9BA8-D34A6C61AD7E}"/>
              </a:ext>
            </a:extLst>
          </p:cNvPr>
          <p:cNvSpPr>
            <a:spLocks noGrp="1"/>
          </p:cNvSpPr>
          <p:nvPr/>
        </p:nvSpPr>
        <p:spPr>
          <a:xfrm>
            <a:off x="666750" y="6619875"/>
            <a:ext cx="4762500" cy="171450"/>
          </a:xfrm>
          <a:prstGeom prst="rect">
            <a:avLst/>
          </a:prstGeom>
          <a:noFill/>
          <a:ln w="0">
            <a:noFill/>
          </a:ln>
        </p:spPr>
        <p:txBody>
          <a:bodyPr wrap="square" lIns="0" tIns="0" rIns="0" bIns="0" anchor="t">
            <a:noAutofit/>
          </a:bodyPr>
          <a:lstStyle/>
          <a:p>
            <a:pPr algn="l">
              <a:defRPr sz="900" b="0" i="0">
                <a:solidFill>
                  <a:srgbClr val="5B6475"/>
                </a:solidFill>
                <a:latin typeface="Helvetica Neue"/>
                <a:ea typeface="Helvetica Neue"/>
                <a:cs typeface="Helvetica Neue"/>
              </a:defRPr>
            </a:pPr>
            <a:r>
              <a:rPr sz="900" b="0" i="0" dirty="0" err="1">
                <a:solidFill>
                  <a:srgbClr val="5B6475"/>
                </a:solidFill>
                <a:latin typeface="Helvetica Neue"/>
                <a:ea typeface="Helvetica Neue"/>
                <a:cs typeface="Helvetica Neue"/>
              </a:rPr>
              <a:t>Finaira</a:t>
            </a:r>
            <a:r>
              <a:rPr sz="900" b="0" i="0" dirty="0">
                <a:solidFill>
                  <a:srgbClr val="5B6475"/>
                </a:solidFill>
                <a:latin typeface="Helvetica Neue"/>
                <a:ea typeface="Helvetica Neue"/>
                <a:cs typeface="Helvetica Neue"/>
              </a:rPr>
              <a:t> sponsorship interview</a:t>
            </a:r>
          </a:p>
        </p:txBody>
      </p:sp>
      <p:sp>
        <p:nvSpPr>
          <p:cNvPr id="25" name="Rectangle 24">
            <a:extLst>
              <a:ext uri="{FF2B5EF4-FFF2-40B4-BE49-F238E27FC236}">
                <a16:creationId xmlns:a16="http://schemas.microsoft.com/office/drawing/2014/main" id="{30BC1E95-7743-4DD4-A6D6-64B0E8123B53}"/>
              </a:ext>
            </a:extLst>
          </p:cNvPr>
          <p:cNvSpPr>
            <a:spLocks noGrp="1"/>
          </p:cNvSpPr>
          <p:nvPr/>
        </p:nvSpPr>
        <p:spPr>
          <a:xfrm>
            <a:off x="11096625" y="6553200"/>
            <a:ext cx="409575" cy="171450"/>
          </a:xfrm>
          <a:prstGeom prst="rect">
            <a:avLst/>
          </a:prstGeom>
          <a:noFill/>
          <a:ln w="0">
            <a:noFill/>
          </a:ln>
        </p:spPr>
        <p:txBody>
          <a:bodyPr wrap="square" lIns="0" tIns="0" rIns="0" bIns="0" anchor="t">
            <a:noAutofit/>
          </a:bodyPr>
          <a:lstStyle/>
          <a:p>
            <a:pPr algn="r">
              <a:defRPr sz="900" b="1" i="0">
                <a:solidFill>
                  <a:srgbClr val="5B6475"/>
                </a:solidFill>
                <a:latin typeface="Helvetica Neue"/>
                <a:ea typeface="Helvetica Neue"/>
                <a:cs typeface="Helvetica Neue"/>
              </a:defRPr>
            </a:pPr>
            <a:r>
              <a:rPr sz="900" b="1" i="0">
                <a:solidFill>
                  <a:srgbClr val="5B6475"/>
                </a:solidFill>
                <a:latin typeface="Helvetica Neue"/>
                <a:ea typeface="Helvetica Neue"/>
                <a:cs typeface="Helvetica Neue"/>
              </a:rPr>
              <a:t>12</a:t>
            </a:r>
          </a:p>
        </p:txBody>
      </p:sp>
      <p:sp>
        <p:nvSpPr>
          <p:cNvPr id="29" name="Straight Connector 28">
            <a:extLst>
              <a:ext uri="{FF2B5EF4-FFF2-40B4-BE49-F238E27FC236}">
                <a16:creationId xmlns:a16="http://schemas.microsoft.com/office/drawing/2014/main" id="{548AE3DD-4145-F83E-7855-31CDF39F041A}"/>
              </a:ext>
            </a:extLst>
          </p:cNvPr>
          <p:cNvSpPr>
            <a:spLocks noGrp="1"/>
          </p:cNvSpPr>
          <p:nvPr/>
        </p:nvSpPr>
        <p:spPr>
          <a:xfrm>
            <a:off x="685800" y="6543675"/>
            <a:ext cx="10820400" cy="9525"/>
          </a:xfrm>
          <a:prstGeom prst="line">
            <a:avLst/>
          </a:prstGeom>
          <a:noFill/>
          <a:ln w="9525">
            <a:solidFill>
              <a:srgbClr val="D9DEEA"/>
            </a:solidFill>
          </a:ln>
        </p:spPr>
        <p:txBody>
          <a:bodyPr/>
          <a:lstStyle/>
          <a:p>
            <a:endParaRPr lang="en-US"/>
          </a:p>
        </p:txBody>
      </p:sp>
    </p:spTree>
    <p:extLst>
      <p:ext uri="{BB962C8B-B14F-4D97-AF65-F5344CB8AC3E}">
        <p14:creationId xmlns:p14="http://schemas.microsoft.com/office/powerpoint/2010/main" val="284032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D6D6A82-D63D-4E8D-AEEB-7E29D385F5CB}"/>
              </a:ext>
            </a:extLst>
          </p:cNvPr>
          <p:cNvSpPr>
            <a:spLocks noGrp="1"/>
          </p:cNvSpPr>
          <p:nvPr/>
        </p:nvSpPr>
        <p:spPr>
          <a:xfrm>
            <a:off x="0" y="0"/>
            <a:ext cx="171450" cy="6858000"/>
          </a:xfrm>
          <a:prstGeom prst="rect">
            <a:avLst/>
          </a:prstGeom>
          <a:solidFill>
            <a:srgbClr val="4F46E5"/>
          </a:solidFill>
          <a:ln w="0">
            <a:noFill/>
          </a:ln>
        </p:spPr>
        <p:txBody>
          <a:bodyPr/>
          <a:lstStyle/>
          <a:p>
            <a:endParaRPr lang="en-US"/>
          </a:p>
        </p:txBody>
      </p:sp>
      <p:sp>
        <p:nvSpPr>
          <p:cNvPr id="2" name="Rectangle 1">
            <a:extLst>
              <a:ext uri="{FF2B5EF4-FFF2-40B4-BE49-F238E27FC236}">
                <a16:creationId xmlns:a16="http://schemas.microsoft.com/office/drawing/2014/main" id="{454EDAC2-5BCF-456E-A294-5C33B652E173}"/>
              </a:ext>
            </a:extLst>
          </p:cNvPr>
          <p:cNvSpPr>
            <a:spLocks noGrp="1"/>
          </p:cNvSpPr>
          <p:nvPr/>
        </p:nvSpPr>
        <p:spPr>
          <a:xfrm>
            <a:off x="742950" y="476250"/>
            <a:ext cx="1524000" cy="238125"/>
          </a:xfrm>
          <a:prstGeom prst="rect">
            <a:avLst/>
          </a:prstGeom>
          <a:noFill/>
          <a:ln w="0">
            <a:noFill/>
          </a:ln>
        </p:spPr>
        <p:txBody>
          <a:bodyPr wrap="square" lIns="0" tIns="0" rIns="0" bIns="0" anchor="t">
            <a:noAutofit/>
          </a:bodyPr>
          <a:lstStyle/>
          <a:p>
            <a:pPr algn="l">
              <a:defRPr sz="1125" b="1" i="0">
                <a:solidFill>
                  <a:srgbClr val="06B6D4"/>
                </a:solidFill>
                <a:latin typeface="Helvetica Neue"/>
                <a:ea typeface="Helvetica Neue"/>
                <a:cs typeface="Helvetica Neue"/>
              </a:defRPr>
            </a:pPr>
            <a:r>
              <a:rPr sz="1125" b="1" i="0">
                <a:solidFill>
                  <a:srgbClr val="06B6D4"/>
                </a:solidFill>
                <a:latin typeface="Helvetica Neue"/>
                <a:ea typeface="Helvetica Neue"/>
                <a:cs typeface="Helvetica Neue"/>
              </a:rPr>
              <a:t>PART 4</a:t>
            </a:r>
          </a:p>
        </p:txBody>
      </p:sp>
      <p:sp>
        <p:nvSpPr>
          <p:cNvPr id="3" name="Rectangle 2">
            <a:extLst>
              <a:ext uri="{FF2B5EF4-FFF2-40B4-BE49-F238E27FC236}">
                <a16:creationId xmlns:a16="http://schemas.microsoft.com/office/drawing/2014/main" id="{B881B304-F48D-4771-BA1C-4131C250D780}"/>
              </a:ext>
            </a:extLst>
          </p:cNvPr>
          <p:cNvSpPr>
            <a:spLocks noGrp="1"/>
          </p:cNvSpPr>
          <p:nvPr/>
        </p:nvSpPr>
        <p:spPr>
          <a:xfrm>
            <a:off x="742950" y="800100"/>
            <a:ext cx="9810750" cy="590550"/>
          </a:xfrm>
          <a:prstGeom prst="rect">
            <a:avLst/>
          </a:prstGeom>
          <a:noFill/>
          <a:ln w="0">
            <a:noFill/>
          </a:ln>
        </p:spPr>
        <p:txBody>
          <a:bodyPr wrap="square" lIns="0" tIns="0" rIns="0" bIns="0" anchor="t">
            <a:noAutofit/>
          </a:bodyPr>
          <a:lstStyle/>
          <a:p>
            <a:pPr algn="l">
              <a:defRPr sz="3450" b="1" i="0">
                <a:solidFill>
                  <a:srgbClr val="FFFFFF"/>
                </a:solidFill>
                <a:latin typeface="Helvetica Neue"/>
                <a:ea typeface="Helvetica Neue"/>
                <a:cs typeface="Helvetica Neue"/>
              </a:defRPr>
            </a:pPr>
            <a:r>
              <a:rPr sz="3450" b="1" i="0">
                <a:solidFill>
                  <a:srgbClr val="FFFFFF"/>
                </a:solidFill>
                <a:latin typeface="Helvetica Neue"/>
                <a:ea typeface="Helvetica Neue"/>
                <a:cs typeface="Helvetica Neue"/>
              </a:rPr>
              <a:t>How Finaira can guide the project</a:t>
            </a:r>
          </a:p>
        </p:txBody>
      </p:sp>
      <p:sp>
        <p:nvSpPr>
          <p:cNvPr id="4" name="Rectangle 3">
            <a:extLst>
              <a:ext uri="{FF2B5EF4-FFF2-40B4-BE49-F238E27FC236}">
                <a16:creationId xmlns:a16="http://schemas.microsoft.com/office/drawing/2014/main" id="{20FB748C-4FD4-4717-BB6B-D7252D2C7B04}"/>
              </a:ext>
            </a:extLst>
          </p:cNvPr>
          <p:cNvSpPr>
            <a:spLocks noGrp="1"/>
          </p:cNvSpPr>
          <p:nvPr/>
        </p:nvSpPr>
        <p:spPr>
          <a:xfrm>
            <a:off x="781050" y="1809750"/>
            <a:ext cx="4000500" cy="238125"/>
          </a:xfrm>
          <a:prstGeom prst="rect">
            <a:avLst/>
          </a:prstGeom>
          <a:noFill/>
          <a:ln w="0">
            <a:noFill/>
          </a:ln>
        </p:spPr>
        <p:txBody>
          <a:bodyPr wrap="square" lIns="0" tIns="0" rIns="0" bIns="0" anchor="t">
            <a:noAutofit/>
          </a:bodyPr>
          <a:lstStyle/>
          <a:p>
            <a:pPr algn="l">
              <a:defRPr sz="1200" b="1" i="0">
                <a:solidFill>
                  <a:srgbClr val="AEB6C8"/>
                </a:solidFill>
                <a:latin typeface="Helvetica Neue"/>
                <a:ea typeface="Helvetica Neue"/>
                <a:cs typeface="Helvetica Neue"/>
              </a:defRPr>
            </a:pPr>
            <a:r>
              <a:rPr sz="1200" b="1" i="0">
                <a:solidFill>
                  <a:srgbClr val="AEB6C8"/>
                </a:solidFill>
                <a:latin typeface="Helvetica Neue"/>
                <a:ea typeface="Helvetica Neue"/>
                <a:cs typeface="Helvetica Neue"/>
              </a:rPr>
              <a:t>THE TEAM WILL OWN</a:t>
            </a:r>
          </a:p>
        </p:txBody>
      </p:sp>
      <p:sp>
        <p:nvSpPr>
          <p:cNvPr id="5" name="Rectangle 4">
            <a:extLst>
              <a:ext uri="{FF2B5EF4-FFF2-40B4-BE49-F238E27FC236}">
                <a16:creationId xmlns:a16="http://schemas.microsoft.com/office/drawing/2014/main" id="{AC4D684F-CD90-4A55-98A0-FBEE6E255C15}"/>
              </a:ext>
            </a:extLst>
          </p:cNvPr>
          <p:cNvSpPr>
            <a:spLocks noGrp="1"/>
          </p:cNvSpPr>
          <p:nvPr/>
        </p:nvSpPr>
        <p:spPr>
          <a:xfrm>
            <a:off x="781050" y="2190750"/>
            <a:ext cx="4476750" cy="1428750"/>
          </a:xfrm>
          <a:prstGeom prst="rect">
            <a:avLst/>
          </a:prstGeom>
          <a:noFill/>
          <a:ln w="0">
            <a:noFill/>
          </a:ln>
        </p:spPr>
        <p:txBody>
          <a:bodyPr wrap="square" lIns="0" tIns="0" rIns="0" bIns="0" anchor="t">
            <a:noAutofit/>
          </a:bodyPr>
          <a:lstStyle/>
          <a:p>
            <a:pPr algn="l">
              <a:defRPr sz="1725" b="0" i="0">
                <a:solidFill>
                  <a:srgbClr val="FFFFFF"/>
                </a:solidFill>
                <a:latin typeface="Helvetica Neue"/>
                <a:ea typeface="Helvetica Neue"/>
                <a:cs typeface="Helvetica Neue"/>
              </a:defRPr>
            </a:pPr>
            <a:r>
              <a:rPr sz="1725" b="0" i="0">
                <a:solidFill>
                  <a:srgbClr val="FFFFFF"/>
                </a:solidFill>
                <a:latin typeface="Helvetica Neue"/>
                <a:ea typeface="Helvetica Neue"/>
                <a:cs typeface="Helvetica Neue"/>
              </a:rPr>
              <a:t>Implementation and integration</a:t>
            </a:r>
          </a:p>
          <a:p>
            <a:pPr algn="l">
              <a:defRPr sz="1725" b="0" i="0">
                <a:solidFill>
                  <a:srgbClr val="FFFFFF"/>
                </a:solidFill>
                <a:latin typeface="Helvetica Neue"/>
                <a:ea typeface="Helvetica Neue"/>
                <a:cs typeface="Helvetica Neue"/>
              </a:defRPr>
            </a:pPr>
            <a:r>
              <a:rPr sz="1725" b="0" i="0">
                <a:solidFill>
                  <a:srgbClr val="FFFFFF"/>
                </a:solidFill>
                <a:latin typeface="Helvetica Neue"/>
                <a:ea typeface="Helvetica Neue"/>
                <a:cs typeface="Helvetica Neue"/>
              </a:rPr>
              <a:t>Dataset and experiments</a:t>
            </a:r>
          </a:p>
          <a:p>
            <a:pPr algn="l">
              <a:defRPr sz="1725" b="0" i="0">
                <a:solidFill>
                  <a:srgbClr val="FFFFFF"/>
                </a:solidFill>
                <a:latin typeface="Helvetica Neue"/>
                <a:ea typeface="Helvetica Neue"/>
                <a:cs typeface="Helvetica Neue"/>
              </a:defRPr>
            </a:pPr>
            <a:r>
              <a:rPr sz="1725" b="0" i="0">
                <a:solidFill>
                  <a:srgbClr val="FFFFFF"/>
                </a:solidFill>
                <a:latin typeface="Helvetica Neue"/>
                <a:ea typeface="Helvetica Neue"/>
                <a:cs typeface="Helvetica Neue"/>
              </a:rPr>
              <a:t>Testing, deployment, and documentation</a:t>
            </a:r>
          </a:p>
        </p:txBody>
      </p:sp>
      <p:sp>
        <p:nvSpPr>
          <p:cNvPr id="6" name="Straight Connector 5">
            <a:extLst>
              <a:ext uri="{FF2B5EF4-FFF2-40B4-BE49-F238E27FC236}">
                <a16:creationId xmlns:a16="http://schemas.microsoft.com/office/drawing/2014/main" id="{71D5AF68-B501-4B4D-9CC3-4D1060D87497}"/>
              </a:ext>
            </a:extLst>
          </p:cNvPr>
          <p:cNvSpPr>
            <a:spLocks noGrp="1"/>
          </p:cNvSpPr>
          <p:nvPr/>
        </p:nvSpPr>
        <p:spPr>
          <a:xfrm>
            <a:off x="5905500" y="1771650"/>
            <a:ext cx="9525" cy="3067050"/>
          </a:xfrm>
          <a:prstGeom prst="line">
            <a:avLst/>
          </a:prstGeom>
          <a:noFill/>
          <a:ln w="19050">
            <a:solidFill>
              <a:srgbClr val="3A4357"/>
            </a:solidFill>
          </a:ln>
        </p:spPr>
        <p:txBody>
          <a:bodyPr/>
          <a:lstStyle/>
          <a:p>
            <a:endParaRPr lang="en-US"/>
          </a:p>
        </p:txBody>
      </p:sp>
      <p:sp>
        <p:nvSpPr>
          <p:cNvPr id="7" name="Rectangle 6">
            <a:extLst>
              <a:ext uri="{FF2B5EF4-FFF2-40B4-BE49-F238E27FC236}">
                <a16:creationId xmlns:a16="http://schemas.microsoft.com/office/drawing/2014/main" id="{7C8FE300-CF23-46A5-9A06-BE291D0C1CD6}"/>
              </a:ext>
            </a:extLst>
          </p:cNvPr>
          <p:cNvSpPr>
            <a:spLocks noGrp="1"/>
          </p:cNvSpPr>
          <p:nvPr/>
        </p:nvSpPr>
        <p:spPr>
          <a:xfrm>
            <a:off x="6534150" y="1809750"/>
            <a:ext cx="4762500" cy="238125"/>
          </a:xfrm>
          <a:prstGeom prst="rect">
            <a:avLst/>
          </a:prstGeom>
          <a:noFill/>
          <a:ln w="0">
            <a:noFill/>
          </a:ln>
        </p:spPr>
        <p:txBody>
          <a:bodyPr wrap="square" lIns="0" tIns="0" rIns="0" bIns="0" anchor="t">
            <a:noAutofit/>
          </a:bodyPr>
          <a:lstStyle/>
          <a:p>
            <a:pPr algn="l">
              <a:defRPr sz="1200" b="1" i="0">
                <a:solidFill>
                  <a:srgbClr val="06B6D4"/>
                </a:solidFill>
                <a:latin typeface="Helvetica Neue"/>
                <a:ea typeface="Helvetica Neue"/>
                <a:cs typeface="Helvetica Neue"/>
              </a:defRPr>
            </a:pPr>
            <a:r>
              <a:rPr sz="1200" b="1" i="0">
                <a:solidFill>
                  <a:srgbClr val="06B6D4"/>
                </a:solidFill>
                <a:latin typeface="Helvetica Neue"/>
                <a:ea typeface="Helvetica Neue"/>
                <a:cs typeface="Helvetica Neue"/>
              </a:rPr>
              <a:t>REVIEW THROUGHOUT THE PROJECT</a:t>
            </a:r>
          </a:p>
        </p:txBody>
      </p:sp>
      <p:sp>
        <p:nvSpPr>
          <p:cNvPr id="8" name="Rectangle 7">
            <a:extLst>
              <a:ext uri="{FF2B5EF4-FFF2-40B4-BE49-F238E27FC236}">
                <a16:creationId xmlns:a16="http://schemas.microsoft.com/office/drawing/2014/main" id="{E21C53CB-8E7F-46C0-95A5-F4E0C255A205}"/>
              </a:ext>
            </a:extLst>
          </p:cNvPr>
          <p:cNvSpPr>
            <a:spLocks noGrp="1"/>
          </p:cNvSpPr>
          <p:nvPr/>
        </p:nvSpPr>
        <p:spPr>
          <a:xfrm>
            <a:off x="6534150" y="2190750"/>
            <a:ext cx="4762500" cy="2286000"/>
          </a:xfrm>
          <a:prstGeom prst="rect">
            <a:avLst/>
          </a:prstGeom>
          <a:noFill/>
          <a:ln w="0">
            <a:noFill/>
          </a:ln>
        </p:spPr>
        <p:txBody>
          <a:bodyPr wrap="square" lIns="0" tIns="0" rIns="0" bIns="0" anchor="t">
            <a:noAutofit/>
          </a:bodyPr>
          <a:lstStyle/>
          <a:p>
            <a:pPr algn="l">
              <a:defRPr sz="1650" b="0" i="0">
                <a:solidFill>
                  <a:srgbClr val="FFFFFF"/>
                </a:solidFill>
                <a:latin typeface="Helvetica Neue"/>
                <a:ea typeface="Helvetica Neue"/>
                <a:cs typeface="Helvetica Neue"/>
              </a:defRPr>
            </a:pPr>
            <a:r>
              <a:rPr sz="1650" b="0" i="0">
                <a:solidFill>
                  <a:srgbClr val="FFFFFF"/>
                </a:solidFill>
                <a:latin typeface="Helvetica Neue"/>
                <a:ea typeface="Helvetica Neue"/>
                <a:cs typeface="Helvetica Neue"/>
              </a:rPr>
              <a:t>Research methodology and threat model</a:t>
            </a:r>
          </a:p>
          <a:p>
            <a:pPr algn="l">
              <a:defRPr sz="1650" b="0" i="0">
                <a:solidFill>
                  <a:srgbClr val="FFFFFF"/>
                </a:solidFill>
                <a:latin typeface="Helvetica Neue"/>
                <a:ea typeface="Helvetica Neue"/>
                <a:cs typeface="Helvetica Neue"/>
              </a:defRPr>
            </a:pPr>
            <a:r>
              <a:rPr sz="1650" b="0" i="0">
                <a:solidFill>
                  <a:srgbClr val="FFFFFF"/>
                </a:solidFill>
                <a:latin typeface="Helvetica Neue"/>
                <a:ea typeface="Helvetica Neue"/>
                <a:cs typeface="Helvetica Neue"/>
              </a:rPr>
              <a:t>Alternative technical approaches</a:t>
            </a:r>
          </a:p>
          <a:p>
            <a:pPr algn="l">
              <a:defRPr sz="1650" b="0" i="0">
                <a:solidFill>
                  <a:srgbClr val="FFFFFF"/>
                </a:solidFill>
                <a:latin typeface="Helvetica Neue"/>
                <a:ea typeface="Helvetica Neue"/>
                <a:cs typeface="Helvetica Neue"/>
              </a:defRPr>
            </a:pPr>
            <a:r>
              <a:rPr sz="1650" b="0" i="0">
                <a:solidFill>
                  <a:srgbClr val="FFFFFF"/>
                </a:solidFill>
                <a:latin typeface="Helvetica Neue"/>
                <a:ea typeface="Helvetica Neue"/>
                <a:cs typeface="Helvetica Neue"/>
              </a:rPr>
              <a:t>Assumptions and ideas that need challenge</a:t>
            </a:r>
          </a:p>
          <a:p>
            <a:pPr algn="l">
              <a:defRPr sz="1650" b="0" i="0">
                <a:solidFill>
                  <a:srgbClr val="FFFFFF"/>
                </a:solidFill>
                <a:latin typeface="Helvetica Neue"/>
                <a:ea typeface="Helvetica Neue"/>
                <a:cs typeface="Helvetica Neue"/>
              </a:defRPr>
            </a:pPr>
            <a:r>
              <a:rPr sz="1650" b="0" i="0">
                <a:solidFill>
                  <a:srgbClr val="FFFFFF"/>
                </a:solidFill>
                <a:latin typeface="Helvetica Neue"/>
                <a:ea typeface="Helvetica Neue"/>
                <a:cs typeface="Helvetica Neue"/>
              </a:rPr>
              <a:t>Core architecture decisions</a:t>
            </a:r>
          </a:p>
          <a:p>
            <a:pPr algn="l">
              <a:defRPr sz="1650" b="0" i="0">
                <a:solidFill>
                  <a:srgbClr val="FFFFFF"/>
                </a:solidFill>
                <a:latin typeface="Helvetica Neue"/>
                <a:ea typeface="Helvetica Neue"/>
                <a:cs typeface="Helvetica Neue"/>
              </a:defRPr>
            </a:pPr>
            <a:r>
              <a:rPr sz="1650" b="0" i="0">
                <a:solidFill>
                  <a:srgbClr val="FFFFFF"/>
                </a:solidFill>
                <a:latin typeface="Helvetica Neue"/>
                <a:ea typeface="Helvetica Neue"/>
                <a:cs typeface="Helvetica Neue"/>
              </a:rPr>
              <a:t>Results and business relevance</a:t>
            </a:r>
          </a:p>
        </p:txBody>
      </p:sp>
      <p:sp>
        <p:nvSpPr>
          <p:cNvPr id="9" name="Rounded Rectangle 8">
            <a:extLst>
              <a:ext uri="{FF2B5EF4-FFF2-40B4-BE49-F238E27FC236}">
                <a16:creationId xmlns:a16="http://schemas.microsoft.com/office/drawing/2014/main" id="{6C835EC8-E72B-4F0B-B5BA-33191249819E}"/>
              </a:ext>
            </a:extLst>
          </p:cNvPr>
          <p:cNvSpPr>
            <a:spLocks noGrp="1"/>
          </p:cNvSpPr>
          <p:nvPr/>
        </p:nvSpPr>
        <p:spPr>
          <a:xfrm>
            <a:off x="781050" y="5000625"/>
            <a:ext cx="10515600" cy="1133475"/>
          </a:xfrm>
          <a:prstGeom prst="roundRect">
            <a:avLst>
              <a:gd name="adj" fmla="val 6723"/>
            </a:avLst>
          </a:prstGeom>
          <a:solidFill>
            <a:srgbClr val="1D2638"/>
          </a:solidFill>
          <a:ln w="9525">
            <a:solidFill>
              <a:srgbClr val="3A4357"/>
            </a:solidFill>
          </a:ln>
        </p:spPr>
        <p:txBody>
          <a:bodyPr/>
          <a:lstStyle/>
          <a:p>
            <a:endParaRPr lang="en-US"/>
          </a:p>
        </p:txBody>
      </p:sp>
      <p:sp>
        <p:nvSpPr>
          <p:cNvPr id="10" name="Rectangle 9">
            <a:extLst>
              <a:ext uri="{FF2B5EF4-FFF2-40B4-BE49-F238E27FC236}">
                <a16:creationId xmlns:a16="http://schemas.microsoft.com/office/drawing/2014/main" id="{DC7078F1-1E26-4155-BBB7-2C5BAC6FE788}"/>
              </a:ext>
            </a:extLst>
          </p:cNvPr>
          <p:cNvSpPr>
            <a:spLocks noGrp="1"/>
          </p:cNvSpPr>
          <p:nvPr/>
        </p:nvSpPr>
        <p:spPr>
          <a:xfrm>
            <a:off x="1028700" y="5200650"/>
            <a:ext cx="1809750" cy="228600"/>
          </a:xfrm>
          <a:prstGeom prst="rect">
            <a:avLst/>
          </a:prstGeom>
          <a:noFill/>
          <a:ln w="0">
            <a:noFill/>
          </a:ln>
        </p:spPr>
        <p:txBody>
          <a:bodyPr wrap="square" lIns="0" tIns="0" rIns="0" bIns="0" anchor="t">
            <a:noAutofit/>
          </a:bodyPr>
          <a:lstStyle/>
          <a:p>
            <a:pPr algn="l">
              <a:defRPr sz="1350" b="1" i="0">
                <a:solidFill>
                  <a:srgbClr val="F4B860"/>
                </a:solidFill>
                <a:latin typeface="Helvetica Neue"/>
                <a:ea typeface="Helvetica Neue"/>
                <a:cs typeface="Helvetica Neue"/>
              </a:defRPr>
            </a:pPr>
            <a:r>
              <a:rPr sz="1350" b="1" i="0">
                <a:solidFill>
                  <a:srgbClr val="F4B860"/>
                </a:solidFill>
                <a:latin typeface="Helvetica Neue"/>
                <a:ea typeface="Helvetica Neue"/>
                <a:cs typeface="Helvetica Neue"/>
              </a:rPr>
              <a:t>Proposed cadence</a:t>
            </a:r>
          </a:p>
        </p:txBody>
      </p:sp>
      <p:sp>
        <p:nvSpPr>
          <p:cNvPr id="11" name="Rectangle 10">
            <a:extLst>
              <a:ext uri="{FF2B5EF4-FFF2-40B4-BE49-F238E27FC236}">
                <a16:creationId xmlns:a16="http://schemas.microsoft.com/office/drawing/2014/main" id="{E566144B-58AD-4074-8438-AB1D4BD8C95B}"/>
              </a:ext>
            </a:extLst>
          </p:cNvPr>
          <p:cNvSpPr>
            <a:spLocks noGrp="1"/>
          </p:cNvSpPr>
          <p:nvPr/>
        </p:nvSpPr>
        <p:spPr>
          <a:xfrm>
            <a:off x="2952750" y="5191125"/>
            <a:ext cx="7934325" cy="285750"/>
          </a:xfrm>
          <a:prstGeom prst="rect">
            <a:avLst/>
          </a:prstGeom>
          <a:noFill/>
          <a:ln w="0">
            <a:noFill/>
          </a:ln>
        </p:spPr>
        <p:txBody>
          <a:bodyPr wrap="square" lIns="0" tIns="0" rIns="0" bIns="0" anchor="t">
            <a:noAutofit/>
          </a:bodyPr>
          <a:lstStyle/>
          <a:p>
            <a:pPr algn="l">
              <a:defRPr sz="1500" b="0" i="0">
                <a:solidFill>
                  <a:srgbClr val="FFFFFF"/>
                </a:solidFill>
                <a:latin typeface="Helvetica Neue"/>
                <a:ea typeface="Helvetica Neue"/>
                <a:cs typeface="Helvetica Neue"/>
              </a:defRPr>
            </a:pPr>
            <a:r>
              <a:rPr lang="en-US" sz="1500" b="0" i="0" dirty="0">
                <a:solidFill>
                  <a:srgbClr val="FFFFFF"/>
                </a:solidFill>
                <a:latin typeface="Helvetica Neue"/>
                <a:ea typeface="Helvetica Neue"/>
                <a:cs typeface="Helvetica Neue"/>
              </a:rPr>
              <a:t>Check-ins every 1–2 weeks, with extra scoping meetings early on</a:t>
            </a:r>
          </a:p>
        </p:txBody>
      </p:sp>
      <p:sp>
        <p:nvSpPr>
          <p:cNvPr id="12" name="Rectangle 11">
            <a:extLst>
              <a:ext uri="{FF2B5EF4-FFF2-40B4-BE49-F238E27FC236}">
                <a16:creationId xmlns:a16="http://schemas.microsoft.com/office/drawing/2014/main" id="{C477A90A-8A65-42C4-B3BD-3D5461051EED}"/>
              </a:ext>
            </a:extLst>
          </p:cNvPr>
          <p:cNvSpPr>
            <a:spLocks noGrp="1"/>
          </p:cNvSpPr>
          <p:nvPr/>
        </p:nvSpPr>
        <p:spPr>
          <a:xfrm>
            <a:off x="1028700" y="5629275"/>
            <a:ext cx="1809750" cy="228600"/>
          </a:xfrm>
          <a:prstGeom prst="rect">
            <a:avLst/>
          </a:prstGeom>
          <a:noFill/>
          <a:ln w="0">
            <a:noFill/>
          </a:ln>
        </p:spPr>
        <p:txBody>
          <a:bodyPr wrap="square" lIns="0" tIns="0" rIns="0" bIns="0" anchor="t">
            <a:noAutofit/>
          </a:bodyPr>
          <a:lstStyle/>
          <a:p>
            <a:pPr algn="l">
              <a:defRPr sz="1350" b="1" i="0">
                <a:solidFill>
                  <a:srgbClr val="F4B860"/>
                </a:solidFill>
                <a:latin typeface="Helvetica Neue"/>
                <a:ea typeface="Helvetica Neue"/>
                <a:cs typeface="Helvetica Neue"/>
              </a:defRPr>
            </a:pPr>
            <a:r>
              <a:rPr sz="1350" b="1" i="0">
                <a:solidFill>
                  <a:srgbClr val="F4B860"/>
                </a:solidFill>
                <a:latin typeface="Helvetica Neue"/>
                <a:ea typeface="Helvetica Neue"/>
                <a:cs typeface="Helvetica Neue"/>
              </a:rPr>
              <a:t>Student constraints</a:t>
            </a:r>
          </a:p>
        </p:txBody>
      </p:sp>
      <p:sp>
        <p:nvSpPr>
          <p:cNvPr id="13" name="Rectangle 12">
            <a:extLst>
              <a:ext uri="{FF2B5EF4-FFF2-40B4-BE49-F238E27FC236}">
                <a16:creationId xmlns:a16="http://schemas.microsoft.com/office/drawing/2014/main" id="{73DC0E23-C00C-4A6C-83AE-D80DD26A0BDE}"/>
              </a:ext>
            </a:extLst>
          </p:cNvPr>
          <p:cNvSpPr>
            <a:spLocks noGrp="1"/>
          </p:cNvSpPr>
          <p:nvPr/>
        </p:nvSpPr>
        <p:spPr>
          <a:xfrm>
            <a:off x="2952750" y="5619750"/>
            <a:ext cx="7934325" cy="428625"/>
          </a:xfrm>
          <a:prstGeom prst="rect">
            <a:avLst/>
          </a:prstGeom>
          <a:noFill/>
          <a:ln w="0">
            <a:noFill/>
          </a:ln>
        </p:spPr>
        <p:txBody>
          <a:bodyPr wrap="square" lIns="0" tIns="0" rIns="0" bIns="0" anchor="t">
            <a:noAutofit/>
          </a:bodyPr>
          <a:lstStyle/>
          <a:p>
            <a:pPr algn="l">
              <a:defRPr sz="1425" b="0" i="0">
                <a:solidFill>
                  <a:srgbClr val="FFFFFF"/>
                </a:solidFill>
                <a:latin typeface="Helvetica Neue"/>
                <a:ea typeface="Helvetica Neue"/>
                <a:cs typeface="Helvetica Neue"/>
              </a:defRPr>
            </a:pPr>
            <a:r>
              <a:rPr sz="1425" b="0" i="0" dirty="0">
                <a:solidFill>
                  <a:srgbClr val="FFFFFF"/>
                </a:solidFill>
                <a:latin typeface="Helvetica Neue"/>
                <a:ea typeface="Helvetica Neue"/>
                <a:cs typeface="Helvetica Neue"/>
              </a:rPr>
              <a:t>We will balance the GP with lectures, coursework, and other university projects</a:t>
            </a:r>
          </a:p>
        </p:txBody>
      </p:sp>
      <p:sp>
        <p:nvSpPr>
          <p:cNvPr id="14" name="Rectangle 13">
            <a:extLst>
              <a:ext uri="{FF2B5EF4-FFF2-40B4-BE49-F238E27FC236}">
                <a16:creationId xmlns:a16="http://schemas.microsoft.com/office/drawing/2014/main" id="{BCF1C96D-7AD3-414B-9A3A-FC03C4A7ABBD}"/>
              </a:ext>
            </a:extLst>
          </p:cNvPr>
          <p:cNvSpPr>
            <a:spLocks noGrp="1"/>
          </p:cNvSpPr>
          <p:nvPr/>
        </p:nvSpPr>
        <p:spPr>
          <a:xfrm>
            <a:off x="781050" y="6391275"/>
            <a:ext cx="1524000" cy="209550"/>
          </a:xfrm>
          <a:prstGeom prst="rect">
            <a:avLst/>
          </a:prstGeom>
          <a:noFill/>
          <a:ln w="0">
            <a:noFill/>
          </a:ln>
        </p:spPr>
        <p:txBody>
          <a:bodyPr wrap="square" lIns="0" tIns="0" rIns="0" bIns="0" anchor="t">
            <a:noAutofit/>
          </a:bodyPr>
          <a:lstStyle/>
          <a:p>
            <a:pPr algn="l">
              <a:defRPr sz="1275" b="1" i="0">
                <a:solidFill>
                  <a:srgbClr val="06B6D4"/>
                </a:solidFill>
                <a:latin typeface="Helvetica Neue"/>
                <a:ea typeface="Helvetica Neue"/>
                <a:cs typeface="Helvetica Neue"/>
              </a:defRPr>
            </a:pPr>
            <a:r>
              <a:rPr sz="1275" b="1" i="0" dirty="0">
                <a:solidFill>
                  <a:srgbClr val="06B6D4"/>
                </a:solidFill>
                <a:latin typeface="Helvetica Neue"/>
                <a:ea typeface="Helvetica Neue"/>
                <a:cs typeface="Helvetica Neue"/>
              </a:rPr>
              <a:t>Thank you</a:t>
            </a:r>
          </a:p>
        </p:txBody>
      </p:sp>
    </p:spTree>
    <p:extLst>
      <p:ext uri="{BB962C8B-B14F-4D97-AF65-F5344CB8AC3E}">
        <p14:creationId xmlns:p14="http://schemas.microsoft.com/office/powerpoint/2010/main" val="197748809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TotalTime>
  <Words>1559</Words>
  <Application>Microsoft Office PowerPoint</Application>
  <DocSecurity>0</DocSecurity>
  <PresentationFormat>Widescreen</PresentationFormat>
  <Paragraphs>222</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Belal Anas Mohamed Ali Askoura 23P0193</cp:lastModifiedBy>
  <cp:revision>5</cp:revision>
  <dcterms:created xsi:type="dcterms:W3CDTF">2026-09-22T20:21:38Z</dcterms:created>
  <dcterms:modified xsi:type="dcterms:W3CDTF">2026-09-23T22:10:39Z</dcterms:modified>
</cp:coreProperties>
</file>